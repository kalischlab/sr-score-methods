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8" r:id="rId2"/>
  </p:sldMasterIdLst>
  <p:notesMasterIdLst>
    <p:notesMasterId r:id="rId61"/>
  </p:notesMasterIdLst>
  <p:sldIdLst>
    <p:sldId id="369" r:id="rId3"/>
    <p:sldId id="361" r:id="rId4"/>
    <p:sldId id="585" r:id="rId5"/>
    <p:sldId id="606" r:id="rId6"/>
    <p:sldId id="920" r:id="rId7"/>
    <p:sldId id="951" r:id="rId8"/>
    <p:sldId id="952" r:id="rId9"/>
    <p:sldId id="686" r:id="rId10"/>
    <p:sldId id="531" r:id="rId11"/>
    <p:sldId id="707" r:id="rId12"/>
    <p:sldId id="921" r:id="rId13"/>
    <p:sldId id="924" r:id="rId14"/>
    <p:sldId id="922" r:id="rId15"/>
    <p:sldId id="923" r:id="rId16"/>
    <p:sldId id="925" r:id="rId17"/>
    <p:sldId id="375" r:id="rId18"/>
    <p:sldId id="738" r:id="rId19"/>
    <p:sldId id="739" r:id="rId20"/>
    <p:sldId id="740" r:id="rId21"/>
    <p:sldId id="743" r:id="rId22"/>
    <p:sldId id="744" r:id="rId23"/>
    <p:sldId id="745" r:id="rId24"/>
    <p:sldId id="746" r:id="rId25"/>
    <p:sldId id="747" r:id="rId26"/>
    <p:sldId id="748" r:id="rId27"/>
    <p:sldId id="749" r:id="rId28"/>
    <p:sldId id="537" r:id="rId29"/>
    <p:sldId id="755" r:id="rId30"/>
    <p:sldId id="754" r:id="rId31"/>
    <p:sldId id="753" r:id="rId32"/>
    <p:sldId id="552" r:id="rId33"/>
    <p:sldId id="756" r:id="rId34"/>
    <p:sldId id="757" r:id="rId35"/>
    <p:sldId id="698" r:id="rId36"/>
    <p:sldId id="699" r:id="rId37"/>
    <p:sldId id="785" r:id="rId38"/>
    <p:sldId id="784" r:id="rId39"/>
    <p:sldId id="799" r:id="rId40"/>
    <p:sldId id="955" r:id="rId41"/>
    <p:sldId id="956" r:id="rId42"/>
    <p:sldId id="958" r:id="rId43"/>
    <p:sldId id="957" r:id="rId44"/>
    <p:sldId id="959" r:id="rId45"/>
    <p:sldId id="889" r:id="rId46"/>
    <p:sldId id="929" r:id="rId47"/>
    <p:sldId id="930" r:id="rId48"/>
    <p:sldId id="926" r:id="rId49"/>
    <p:sldId id="938" r:id="rId50"/>
    <p:sldId id="928" r:id="rId51"/>
    <p:sldId id="712" r:id="rId52"/>
    <p:sldId id="769" r:id="rId53"/>
    <p:sldId id="953" r:id="rId54"/>
    <p:sldId id="939" r:id="rId55"/>
    <p:sldId id="954" r:id="rId56"/>
    <p:sldId id="777" r:id="rId57"/>
    <p:sldId id="778" r:id="rId58"/>
    <p:sldId id="779" r:id="rId59"/>
    <p:sldId id="284" r:id="rId60"/>
  </p:sldIdLst>
  <p:sldSz cx="9144000" cy="6858000" type="screen4x3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fael Kalisch" initials="RK" lastIdx="2" clrIdx="0">
    <p:extLst>
      <p:ext uri="{19B8F6BF-5375-455C-9EA6-DF929625EA0E}">
        <p15:presenceInfo xmlns:p15="http://schemas.microsoft.com/office/powerpoint/2012/main" userId="be5d8a86df48dcf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980" autoAdjust="0"/>
  </p:normalViewPr>
  <p:slideViewPr>
    <p:cSldViewPr snapToGrid="0" snapToObjects="1">
      <p:cViewPr>
        <p:scale>
          <a:sx n="97" d="100"/>
          <a:sy n="97" d="100"/>
        </p:scale>
        <p:origin x="97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F4C82-E3A4-F041-91D1-56D019330A21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7C186-F865-B24D-AA51-BC3416E2D2F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423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All </a:t>
            </a:r>
            <a:r>
              <a:rPr lang="de-DE" dirty="0" err="1"/>
              <a:t>good</a:t>
            </a:r>
            <a:r>
              <a:rPr lang="de-DE" dirty="0"/>
              <a:t>, </a:t>
            </a:r>
            <a:r>
              <a:rPr lang="de-DE" dirty="0" err="1"/>
              <a:t>isn‘t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?</a:t>
            </a:r>
          </a:p>
          <a:p>
            <a:r>
              <a:rPr lang="de-DE" dirty="0" err="1"/>
              <a:t>One</a:t>
            </a:r>
            <a:r>
              <a:rPr lang="de-DE" baseline="0" dirty="0"/>
              <a:t> </a:t>
            </a:r>
            <a:r>
              <a:rPr lang="de-DE" baseline="0" dirty="0" err="1"/>
              <a:t>new</a:t>
            </a:r>
            <a:r>
              <a:rPr lang="de-DE" baseline="0" dirty="0"/>
              <a:t> </a:t>
            </a:r>
            <a:r>
              <a:rPr lang="de-DE" baseline="0" dirty="0" err="1"/>
              <a:t>thing</a:t>
            </a:r>
            <a:r>
              <a:rPr lang="de-DE" baseline="0" dirty="0"/>
              <a:t>: </a:t>
            </a:r>
            <a:r>
              <a:rPr lang="de-DE" baseline="0" dirty="0" err="1"/>
              <a:t>we</a:t>
            </a:r>
            <a:r>
              <a:rPr lang="de-DE" baseline="0" dirty="0"/>
              <a:t> </a:t>
            </a:r>
            <a:r>
              <a:rPr lang="de-DE" baseline="0" dirty="0" err="1"/>
              <a:t>have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do </a:t>
            </a:r>
            <a:r>
              <a:rPr lang="de-DE" baseline="0" dirty="0" err="1"/>
              <a:t>neurobio</a:t>
            </a:r>
            <a:r>
              <a:rPr lang="de-DE" baseline="0" dirty="0"/>
              <a:t> </a:t>
            </a:r>
            <a:r>
              <a:rPr lang="de-DE" baseline="0" dirty="0" err="1"/>
              <a:t>now</a:t>
            </a:r>
            <a:endParaRPr lang="de-DE" baseline="0" dirty="0"/>
          </a:p>
          <a:p>
            <a:r>
              <a:rPr lang="de-DE" baseline="0" dirty="0"/>
              <a:t>Second: </a:t>
            </a:r>
            <a:r>
              <a:rPr lang="de-DE" baseline="0" dirty="0" err="1"/>
              <a:t>there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a </a:t>
            </a:r>
            <a:r>
              <a:rPr lang="de-DE" baseline="0" dirty="0" err="1"/>
              <a:t>more</a:t>
            </a:r>
            <a:r>
              <a:rPr lang="de-DE" baseline="0" dirty="0"/>
              <a:t> </a:t>
            </a:r>
            <a:r>
              <a:rPr lang="de-DE" baseline="0" dirty="0" err="1"/>
              <a:t>profound</a:t>
            </a:r>
            <a:r>
              <a:rPr lang="de-DE" baseline="0" dirty="0"/>
              <a:t> </a:t>
            </a:r>
            <a:r>
              <a:rPr lang="de-DE" baseline="0" dirty="0" err="1"/>
              <a:t>problem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lists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8792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Purely</a:t>
            </a:r>
            <a:r>
              <a:rPr lang="de-DE" dirty="0"/>
              <a:t> operational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pragmatic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processes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resileince</a:t>
            </a:r>
            <a:r>
              <a:rPr lang="de-DE" baseline="0" dirty="0"/>
              <a:t> </a:t>
            </a:r>
            <a:r>
              <a:rPr lang="de-DE" baseline="0" dirty="0" err="1"/>
              <a:t>mechanisms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baseline</a:t>
            </a:r>
            <a:r>
              <a:rPr lang="de-DE" baseline="0" dirty="0"/>
              <a:t> </a:t>
            </a:r>
            <a:r>
              <a:rPr lang="de-DE" baseline="0" dirty="0" err="1"/>
              <a:t>predictors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endParaRPr lang="de-DE" baseline="0" dirty="0"/>
          </a:p>
          <a:p>
            <a:r>
              <a:rPr lang="de-DE" baseline="0" dirty="0"/>
              <a:t>i.e., </a:t>
            </a:r>
            <a:r>
              <a:rPr lang="de-DE" baseline="0" dirty="0" err="1"/>
              <a:t>atheoretical</a:t>
            </a:r>
            <a:r>
              <a:rPr lang="de-DE" baseline="0" dirty="0"/>
              <a:t> </a:t>
            </a:r>
            <a:r>
              <a:rPr lang="de-DE" baseline="0" dirty="0">
                <a:sym typeface="Wingdings"/>
              </a:rPr>
              <a:t> </a:t>
            </a:r>
            <a:r>
              <a:rPr lang="de-DE" baseline="0" dirty="0" err="1">
                <a:sym typeface="Wingdings"/>
              </a:rPr>
              <a:t>does</a:t>
            </a:r>
            <a:r>
              <a:rPr lang="de-DE" baseline="0" dirty="0">
                <a:sym typeface="Wingdings"/>
              </a:rPr>
              <a:t> not </a:t>
            </a:r>
            <a:r>
              <a:rPr lang="de-DE" baseline="0" dirty="0" err="1">
                <a:sym typeface="Wingdings"/>
              </a:rPr>
              <a:t>exclude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any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theoretical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school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Great </a:t>
            </a:r>
            <a:r>
              <a:rPr lang="de-DE" baseline="0" dirty="0" err="1">
                <a:sym typeface="Wingdings"/>
              </a:rPr>
              <a:t>possibilty</a:t>
            </a:r>
            <a:r>
              <a:rPr lang="de-DE" baseline="0" dirty="0">
                <a:sym typeface="Wingdings"/>
              </a:rPr>
              <a:t>:</a:t>
            </a:r>
          </a:p>
          <a:p>
            <a:r>
              <a:rPr lang="de-DE" baseline="0" dirty="0" err="1">
                <a:sym typeface="Wingdings"/>
              </a:rPr>
              <a:t>Now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we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can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focus</a:t>
            </a:r>
            <a:r>
              <a:rPr lang="de-DE" baseline="0" dirty="0">
                <a:sym typeface="Wingdings"/>
              </a:rPr>
              <a:t> on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processes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that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lead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to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outcome</a:t>
            </a:r>
            <a:endParaRPr lang="de-DE" baseline="0" dirty="0">
              <a:sym typeface="Wingdings"/>
            </a:endParaRPr>
          </a:p>
          <a:p>
            <a:r>
              <a:rPr lang="de-DE" baseline="0" dirty="0" err="1">
                <a:sym typeface="Wingdings"/>
              </a:rPr>
              <a:t>And</a:t>
            </a:r>
            <a:r>
              <a:rPr lang="de-DE" baseline="0" dirty="0">
                <a:sym typeface="Wingdings"/>
              </a:rPr>
              <a:t> also on </a:t>
            </a:r>
            <a:r>
              <a:rPr lang="de-DE" baseline="0" dirty="0" err="1">
                <a:sym typeface="Wingdings"/>
              </a:rPr>
              <a:t>possible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baseline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predictors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Ex: </a:t>
            </a:r>
            <a:r>
              <a:rPr lang="de-DE" baseline="0" dirty="0" err="1">
                <a:sym typeface="Wingdings"/>
              </a:rPr>
              <a:t>emotion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regulation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skill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factor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process</a:t>
            </a:r>
            <a:r>
              <a:rPr lang="de-DE" baseline="0" dirty="0">
                <a:sym typeface="Wingdings"/>
              </a:rPr>
              <a:t>: </a:t>
            </a:r>
            <a:r>
              <a:rPr lang="de-DE" baseline="0" dirty="0" err="1">
                <a:sym typeface="Wingdings"/>
              </a:rPr>
              <a:t>use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of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it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perhaps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inspired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training</a:t>
            </a:r>
            <a:r>
              <a:rPr lang="de-DE" baseline="0" dirty="0">
                <a:sym typeface="Wingdings"/>
              </a:rPr>
              <a:t>/</a:t>
            </a:r>
            <a:r>
              <a:rPr lang="de-DE" baseline="0" dirty="0" err="1">
                <a:sym typeface="Wingdings"/>
              </a:rPr>
              <a:t>improvement</a:t>
            </a:r>
            <a:r>
              <a:rPr lang="de-DE" baseline="0" dirty="0">
                <a:sym typeface="Wingdings"/>
              </a:rPr>
              <a:t>  not </a:t>
            </a:r>
            <a:r>
              <a:rPr lang="de-DE" baseline="0" dirty="0" err="1">
                <a:sym typeface="Wingdings"/>
              </a:rPr>
              <a:t>stable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0331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Purely</a:t>
            </a:r>
            <a:r>
              <a:rPr lang="de-DE" dirty="0"/>
              <a:t> operational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pragmatic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processes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resileince</a:t>
            </a:r>
            <a:r>
              <a:rPr lang="de-DE" baseline="0" dirty="0"/>
              <a:t> </a:t>
            </a:r>
            <a:r>
              <a:rPr lang="de-DE" baseline="0" dirty="0" err="1"/>
              <a:t>mechanisms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baseline</a:t>
            </a:r>
            <a:r>
              <a:rPr lang="de-DE" baseline="0" dirty="0"/>
              <a:t> </a:t>
            </a:r>
            <a:r>
              <a:rPr lang="de-DE" baseline="0" dirty="0" err="1"/>
              <a:t>predictors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endParaRPr lang="de-DE" baseline="0" dirty="0"/>
          </a:p>
          <a:p>
            <a:r>
              <a:rPr lang="de-DE" baseline="0" dirty="0"/>
              <a:t>i.e., </a:t>
            </a:r>
            <a:r>
              <a:rPr lang="de-DE" baseline="0" dirty="0" err="1"/>
              <a:t>atheoretical</a:t>
            </a:r>
            <a:r>
              <a:rPr lang="de-DE" baseline="0" dirty="0"/>
              <a:t> </a:t>
            </a:r>
            <a:r>
              <a:rPr lang="de-DE" baseline="0" dirty="0">
                <a:sym typeface="Wingdings"/>
              </a:rPr>
              <a:t> </a:t>
            </a:r>
            <a:r>
              <a:rPr lang="de-DE" baseline="0" dirty="0" err="1">
                <a:sym typeface="Wingdings"/>
              </a:rPr>
              <a:t>does</a:t>
            </a:r>
            <a:r>
              <a:rPr lang="de-DE" baseline="0" dirty="0">
                <a:sym typeface="Wingdings"/>
              </a:rPr>
              <a:t> not </a:t>
            </a:r>
            <a:r>
              <a:rPr lang="de-DE" baseline="0" dirty="0" err="1">
                <a:sym typeface="Wingdings"/>
              </a:rPr>
              <a:t>exclude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any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theoretical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school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Great </a:t>
            </a:r>
            <a:r>
              <a:rPr lang="de-DE" baseline="0" dirty="0" err="1">
                <a:sym typeface="Wingdings"/>
              </a:rPr>
              <a:t>possibilty</a:t>
            </a:r>
            <a:r>
              <a:rPr lang="de-DE" baseline="0" dirty="0">
                <a:sym typeface="Wingdings"/>
              </a:rPr>
              <a:t>:</a:t>
            </a:r>
          </a:p>
          <a:p>
            <a:r>
              <a:rPr lang="de-DE" baseline="0" dirty="0" err="1">
                <a:sym typeface="Wingdings"/>
              </a:rPr>
              <a:t>Now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we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can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focus</a:t>
            </a:r>
            <a:r>
              <a:rPr lang="de-DE" baseline="0" dirty="0">
                <a:sym typeface="Wingdings"/>
              </a:rPr>
              <a:t> on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processes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that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lead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to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outcome</a:t>
            </a:r>
            <a:endParaRPr lang="de-DE" baseline="0" dirty="0">
              <a:sym typeface="Wingdings"/>
            </a:endParaRPr>
          </a:p>
          <a:p>
            <a:r>
              <a:rPr lang="de-DE" baseline="0" dirty="0" err="1">
                <a:sym typeface="Wingdings"/>
              </a:rPr>
              <a:t>And</a:t>
            </a:r>
            <a:r>
              <a:rPr lang="de-DE" baseline="0" dirty="0">
                <a:sym typeface="Wingdings"/>
              </a:rPr>
              <a:t> also on </a:t>
            </a:r>
            <a:r>
              <a:rPr lang="de-DE" baseline="0" dirty="0" err="1">
                <a:sym typeface="Wingdings"/>
              </a:rPr>
              <a:t>possible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baseline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predictors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Ex: </a:t>
            </a:r>
            <a:r>
              <a:rPr lang="de-DE" baseline="0" dirty="0" err="1">
                <a:sym typeface="Wingdings"/>
              </a:rPr>
              <a:t>emotion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regulation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skill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factor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process</a:t>
            </a:r>
            <a:r>
              <a:rPr lang="de-DE" baseline="0" dirty="0">
                <a:sym typeface="Wingdings"/>
              </a:rPr>
              <a:t>: </a:t>
            </a:r>
            <a:r>
              <a:rPr lang="de-DE" baseline="0" dirty="0" err="1">
                <a:sym typeface="Wingdings"/>
              </a:rPr>
              <a:t>use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of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it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perhaps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inspired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training</a:t>
            </a:r>
            <a:r>
              <a:rPr lang="de-DE" baseline="0" dirty="0">
                <a:sym typeface="Wingdings"/>
              </a:rPr>
              <a:t>/</a:t>
            </a:r>
            <a:r>
              <a:rPr lang="de-DE" baseline="0" dirty="0" err="1">
                <a:sym typeface="Wingdings"/>
              </a:rPr>
              <a:t>improvement</a:t>
            </a:r>
            <a:r>
              <a:rPr lang="de-DE" baseline="0" dirty="0">
                <a:sym typeface="Wingdings"/>
              </a:rPr>
              <a:t>  not </a:t>
            </a:r>
            <a:r>
              <a:rPr lang="de-DE" baseline="0" dirty="0" err="1">
                <a:sym typeface="Wingdings"/>
              </a:rPr>
              <a:t>stable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7822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Purely</a:t>
            </a:r>
            <a:r>
              <a:rPr lang="de-DE" dirty="0"/>
              <a:t> operational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pragmatic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processes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resileince</a:t>
            </a:r>
            <a:r>
              <a:rPr lang="de-DE" baseline="0" dirty="0"/>
              <a:t> </a:t>
            </a:r>
            <a:r>
              <a:rPr lang="de-DE" baseline="0" dirty="0" err="1"/>
              <a:t>mechanisms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baseline</a:t>
            </a:r>
            <a:r>
              <a:rPr lang="de-DE" baseline="0" dirty="0"/>
              <a:t> </a:t>
            </a:r>
            <a:r>
              <a:rPr lang="de-DE" baseline="0" dirty="0" err="1"/>
              <a:t>predictors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endParaRPr lang="de-DE" baseline="0" dirty="0"/>
          </a:p>
          <a:p>
            <a:r>
              <a:rPr lang="de-DE" baseline="0" dirty="0"/>
              <a:t>i.e., </a:t>
            </a:r>
            <a:r>
              <a:rPr lang="de-DE" baseline="0" dirty="0" err="1"/>
              <a:t>atheoretical</a:t>
            </a:r>
            <a:r>
              <a:rPr lang="de-DE" baseline="0" dirty="0"/>
              <a:t> </a:t>
            </a:r>
            <a:r>
              <a:rPr lang="de-DE" baseline="0" dirty="0">
                <a:sym typeface="Wingdings"/>
              </a:rPr>
              <a:t> </a:t>
            </a:r>
            <a:r>
              <a:rPr lang="de-DE" baseline="0" dirty="0" err="1">
                <a:sym typeface="Wingdings"/>
              </a:rPr>
              <a:t>does</a:t>
            </a:r>
            <a:r>
              <a:rPr lang="de-DE" baseline="0" dirty="0">
                <a:sym typeface="Wingdings"/>
              </a:rPr>
              <a:t> not </a:t>
            </a:r>
            <a:r>
              <a:rPr lang="de-DE" baseline="0" dirty="0" err="1">
                <a:sym typeface="Wingdings"/>
              </a:rPr>
              <a:t>exclude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any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theoretical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school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Great </a:t>
            </a:r>
            <a:r>
              <a:rPr lang="de-DE" baseline="0" dirty="0" err="1">
                <a:sym typeface="Wingdings"/>
              </a:rPr>
              <a:t>possibilty</a:t>
            </a:r>
            <a:r>
              <a:rPr lang="de-DE" baseline="0" dirty="0">
                <a:sym typeface="Wingdings"/>
              </a:rPr>
              <a:t>:</a:t>
            </a:r>
          </a:p>
          <a:p>
            <a:r>
              <a:rPr lang="de-DE" baseline="0" dirty="0" err="1">
                <a:sym typeface="Wingdings"/>
              </a:rPr>
              <a:t>Now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we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can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focus</a:t>
            </a:r>
            <a:r>
              <a:rPr lang="de-DE" baseline="0" dirty="0">
                <a:sym typeface="Wingdings"/>
              </a:rPr>
              <a:t> on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processes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that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lead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to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outcome</a:t>
            </a:r>
            <a:endParaRPr lang="de-DE" baseline="0" dirty="0">
              <a:sym typeface="Wingdings"/>
            </a:endParaRPr>
          </a:p>
          <a:p>
            <a:r>
              <a:rPr lang="de-DE" baseline="0" dirty="0" err="1">
                <a:sym typeface="Wingdings"/>
              </a:rPr>
              <a:t>And</a:t>
            </a:r>
            <a:r>
              <a:rPr lang="de-DE" baseline="0" dirty="0">
                <a:sym typeface="Wingdings"/>
              </a:rPr>
              <a:t> also on </a:t>
            </a:r>
            <a:r>
              <a:rPr lang="de-DE" baseline="0" dirty="0" err="1">
                <a:sym typeface="Wingdings"/>
              </a:rPr>
              <a:t>possible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baseline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predictors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Ex: </a:t>
            </a:r>
            <a:r>
              <a:rPr lang="de-DE" baseline="0" dirty="0" err="1">
                <a:sym typeface="Wingdings"/>
              </a:rPr>
              <a:t>emotion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regulation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skill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factor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process</a:t>
            </a:r>
            <a:r>
              <a:rPr lang="de-DE" baseline="0" dirty="0">
                <a:sym typeface="Wingdings"/>
              </a:rPr>
              <a:t>: </a:t>
            </a:r>
            <a:r>
              <a:rPr lang="de-DE" baseline="0" dirty="0" err="1">
                <a:sym typeface="Wingdings"/>
              </a:rPr>
              <a:t>use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of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it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perhaps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inspired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training</a:t>
            </a:r>
            <a:r>
              <a:rPr lang="de-DE" baseline="0" dirty="0">
                <a:sym typeface="Wingdings"/>
              </a:rPr>
              <a:t>/</a:t>
            </a:r>
            <a:r>
              <a:rPr lang="de-DE" baseline="0" dirty="0" err="1">
                <a:sym typeface="Wingdings"/>
              </a:rPr>
              <a:t>improvement</a:t>
            </a:r>
            <a:r>
              <a:rPr lang="de-DE" baseline="0" dirty="0">
                <a:sym typeface="Wingdings"/>
              </a:rPr>
              <a:t>  not </a:t>
            </a:r>
            <a:r>
              <a:rPr lang="de-DE" baseline="0" dirty="0" err="1">
                <a:sym typeface="Wingdings"/>
              </a:rPr>
              <a:t>stable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1691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9C8B9-3EC1-05C4-2BB8-C6B659B05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7F283D1-7C39-0FB9-0B0E-F239CC169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D5799A3-578C-6A2C-838B-81E3A054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Purely</a:t>
            </a:r>
            <a:r>
              <a:rPr lang="de-DE" dirty="0"/>
              <a:t> operational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pragmatic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processes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resileince</a:t>
            </a:r>
            <a:r>
              <a:rPr lang="de-DE" baseline="0" dirty="0"/>
              <a:t> </a:t>
            </a:r>
            <a:r>
              <a:rPr lang="de-DE" baseline="0" dirty="0" err="1"/>
              <a:t>mechanisms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baseline</a:t>
            </a:r>
            <a:r>
              <a:rPr lang="de-DE" baseline="0" dirty="0"/>
              <a:t> </a:t>
            </a:r>
            <a:r>
              <a:rPr lang="de-DE" baseline="0" dirty="0" err="1"/>
              <a:t>predictors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endParaRPr lang="de-DE" baseline="0" dirty="0"/>
          </a:p>
          <a:p>
            <a:r>
              <a:rPr lang="de-DE" baseline="0" dirty="0"/>
              <a:t>i.e., </a:t>
            </a:r>
            <a:r>
              <a:rPr lang="de-DE" baseline="0" dirty="0" err="1"/>
              <a:t>atheoretical</a:t>
            </a:r>
            <a:r>
              <a:rPr lang="de-DE" baseline="0" dirty="0"/>
              <a:t> </a:t>
            </a:r>
            <a:r>
              <a:rPr lang="de-DE" baseline="0" dirty="0">
                <a:sym typeface="Wingdings"/>
              </a:rPr>
              <a:t> </a:t>
            </a:r>
            <a:r>
              <a:rPr lang="de-DE" baseline="0" dirty="0" err="1">
                <a:sym typeface="Wingdings"/>
              </a:rPr>
              <a:t>does</a:t>
            </a:r>
            <a:r>
              <a:rPr lang="de-DE" baseline="0" dirty="0">
                <a:sym typeface="Wingdings"/>
              </a:rPr>
              <a:t> not </a:t>
            </a:r>
            <a:r>
              <a:rPr lang="de-DE" baseline="0" dirty="0" err="1">
                <a:sym typeface="Wingdings"/>
              </a:rPr>
              <a:t>exclude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any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theoretical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school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Great </a:t>
            </a:r>
            <a:r>
              <a:rPr lang="de-DE" baseline="0" dirty="0" err="1">
                <a:sym typeface="Wingdings"/>
              </a:rPr>
              <a:t>possibilty</a:t>
            </a:r>
            <a:r>
              <a:rPr lang="de-DE" baseline="0" dirty="0">
                <a:sym typeface="Wingdings"/>
              </a:rPr>
              <a:t>:</a:t>
            </a:r>
          </a:p>
          <a:p>
            <a:r>
              <a:rPr lang="de-DE" baseline="0" dirty="0" err="1">
                <a:sym typeface="Wingdings"/>
              </a:rPr>
              <a:t>Now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we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can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focus</a:t>
            </a:r>
            <a:r>
              <a:rPr lang="de-DE" baseline="0" dirty="0">
                <a:sym typeface="Wingdings"/>
              </a:rPr>
              <a:t> on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processes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that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lead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to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outcome</a:t>
            </a:r>
            <a:endParaRPr lang="de-DE" baseline="0" dirty="0">
              <a:sym typeface="Wingdings"/>
            </a:endParaRPr>
          </a:p>
          <a:p>
            <a:r>
              <a:rPr lang="de-DE" baseline="0" dirty="0" err="1">
                <a:sym typeface="Wingdings"/>
              </a:rPr>
              <a:t>And</a:t>
            </a:r>
            <a:r>
              <a:rPr lang="de-DE" baseline="0" dirty="0">
                <a:sym typeface="Wingdings"/>
              </a:rPr>
              <a:t> also on </a:t>
            </a:r>
            <a:r>
              <a:rPr lang="de-DE" baseline="0" dirty="0" err="1">
                <a:sym typeface="Wingdings"/>
              </a:rPr>
              <a:t>possible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baseline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predictors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Ex: </a:t>
            </a:r>
            <a:r>
              <a:rPr lang="de-DE" baseline="0" dirty="0" err="1">
                <a:sym typeface="Wingdings"/>
              </a:rPr>
              <a:t>emotion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regulation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skill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factor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process</a:t>
            </a:r>
            <a:r>
              <a:rPr lang="de-DE" baseline="0" dirty="0">
                <a:sym typeface="Wingdings"/>
              </a:rPr>
              <a:t>: </a:t>
            </a:r>
            <a:r>
              <a:rPr lang="de-DE" baseline="0" dirty="0" err="1">
                <a:sym typeface="Wingdings"/>
              </a:rPr>
              <a:t>use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of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it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perhaps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inspired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training</a:t>
            </a:r>
            <a:r>
              <a:rPr lang="de-DE" baseline="0" dirty="0">
                <a:sym typeface="Wingdings"/>
              </a:rPr>
              <a:t>/</a:t>
            </a:r>
            <a:r>
              <a:rPr lang="de-DE" baseline="0" dirty="0" err="1">
                <a:sym typeface="Wingdings"/>
              </a:rPr>
              <a:t>improvement</a:t>
            </a:r>
            <a:r>
              <a:rPr lang="de-DE" baseline="0" dirty="0">
                <a:sym typeface="Wingdings"/>
              </a:rPr>
              <a:t>  not </a:t>
            </a:r>
            <a:r>
              <a:rPr lang="de-DE" baseline="0" dirty="0" err="1">
                <a:sym typeface="Wingdings"/>
              </a:rPr>
              <a:t>stable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BF36FF-31DF-CB1B-2F2E-CC9B2A8FFA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6063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Purely</a:t>
            </a:r>
            <a:r>
              <a:rPr lang="de-DE" dirty="0"/>
              <a:t> operational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pragmatic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processes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resileince</a:t>
            </a:r>
            <a:r>
              <a:rPr lang="de-DE" baseline="0" dirty="0"/>
              <a:t> </a:t>
            </a:r>
            <a:r>
              <a:rPr lang="de-DE" baseline="0" dirty="0" err="1"/>
              <a:t>mechanisms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baseline</a:t>
            </a:r>
            <a:r>
              <a:rPr lang="de-DE" baseline="0" dirty="0"/>
              <a:t> </a:t>
            </a:r>
            <a:r>
              <a:rPr lang="de-DE" baseline="0" dirty="0" err="1"/>
              <a:t>predictors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endParaRPr lang="de-DE" baseline="0" dirty="0"/>
          </a:p>
          <a:p>
            <a:r>
              <a:rPr lang="de-DE" baseline="0" dirty="0"/>
              <a:t>i.e., </a:t>
            </a:r>
            <a:r>
              <a:rPr lang="de-DE" baseline="0" dirty="0" err="1"/>
              <a:t>atheoretical</a:t>
            </a:r>
            <a:r>
              <a:rPr lang="de-DE" baseline="0" dirty="0"/>
              <a:t> </a:t>
            </a:r>
            <a:r>
              <a:rPr lang="de-DE" baseline="0" dirty="0">
                <a:sym typeface="Wingdings"/>
              </a:rPr>
              <a:t> </a:t>
            </a:r>
            <a:r>
              <a:rPr lang="de-DE" baseline="0" dirty="0" err="1">
                <a:sym typeface="Wingdings"/>
              </a:rPr>
              <a:t>does</a:t>
            </a:r>
            <a:r>
              <a:rPr lang="de-DE" baseline="0" dirty="0">
                <a:sym typeface="Wingdings"/>
              </a:rPr>
              <a:t> not </a:t>
            </a:r>
            <a:r>
              <a:rPr lang="de-DE" baseline="0" dirty="0" err="1">
                <a:sym typeface="Wingdings"/>
              </a:rPr>
              <a:t>exclude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any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theoretical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school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Great </a:t>
            </a:r>
            <a:r>
              <a:rPr lang="de-DE" baseline="0" dirty="0" err="1">
                <a:sym typeface="Wingdings"/>
              </a:rPr>
              <a:t>possibilty</a:t>
            </a:r>
            <a:r>
              <a:rPr lang="de-DE" baseline="0" dirty="0">
                <a:sym typeface="Wingdings"/>
              </a:rPr>
              <a:t>:</a:t>
            </a:r>
          </a:p>
          <a:p>
            <a:r>
              <a:rPr lang="de-DE" baseline="0" dirty="0" err="1">
                <a:sym typeface="Wingdings"/>
              </a:rPr>
              <a:t>Now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we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can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focus</a:t>
            </a:r>
            <a:r>
              <a:rPr lang="de-DE" baseline="0" dirty="0">
                <a:sym typeface="Wingdings"/>
              </a:rPr>
              <a:t> on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processes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that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lead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to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outcome</a:t>
            </a:r>
            <a:endParaRPr lang="de-DE" baseline="0" dirty="0">
              <a:sym typeface="Wingdings"/>
            </a:endParaRPr>
          </a:p>
          <a:p>
            <a:r>
              <a:rPr lang="de-DE" baseline="0" dirty="0" err="1">
                <a:sym typeface="Wingdings"/>
              </a:rPr>
              <a:t>And</a:t>
            </a:r>
            <a:r>
              <a:rPr lang="de-DE" baseline="0" dirty="0">
                <a:sym typeface="Wingdings"/>
              </a:rPr>
              <a:t> also on </a:t>
            </a:r>
            <a:r>
              <a:rPr lang="de-DE" baseline="0" dirty="0" err="1">
                <a:sym typeface="Wingdings"/>
              </a:rPr>
              <a:t>possible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baseline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predictors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Ex: </a:t>
            </a:r>
            <a:r>
              <a:rPr lang="de-DE" baseline="0" dirty="0" err="1">
                <a:sym typeface="Wingdings"/>
              </a:rPr>
              <a:t>emotion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regulation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skill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factor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process</a:t>
            </a:r>
            <a:r>
              <a:rPr lang="de-DE" baseline="0" dirty="0">
                <a:sym typeface="Wingdings"/>
              </a:rPr>
              <a:t>: </a:t>
            </a:r>
            <a:r>
              <a:rPr lang="de-DE" baseline="0" dirty="0" err="1">
                <a:sym typeface="Wingdings"/>
              </a:rPr>
              <a:t>use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of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it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perhaps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inspired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training</a:t>
            </a:r>
            <a:r>
              <a:rPr lang="de-DE" baseline="0" dirty="0">
                <a:sym typeface="Wingdings"/>
              </a:rPr>
              <a:t>/</a:t>
            </a:r>
            <a:r>
              <a:rPr lang="de-DE" baseline="0" dirty="0" err="1">
                <a:sym typeface="Wingdings"/>
              </a:rPr>
              <a:t>improvement</a:t>
            </a:r>
            <a:r>
              <a:rPr lang="de-DE" baseline="0" dirty="0">
                <a:sym typeface="Wingdings"/>
              </a:rPr>
              <a:t>  not </a:t>
            </a:r>
            <a:r>
              <a:rPr lang="de-DE" baseline="0" dirty="0" err="1">
                <a:sym typeface="Wingdings"/>
              </a:rPr>
              <a:t>stable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4937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Purely</a:t>
            </a:r>
            <a:r>
              <a:rPr lang="de-DE" dirty="0"/>
              <a:t> operational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pragmatic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processes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resileince</a:t>
            </a:r>
            <a:r>
              <a:rPr lang="de-DE" baseline="0" dirty="0"/>
              <a:t> </a:t>
            </a:r>
            <a:r>
              <a:rPr lang="de-DE" baseline="0" dirty="0" err="1"/>
              <a:t>mechanisms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baseline</a:t>
            </a:r>
            <a:r>
              <a:rPr lang="de-DE" baseline="0" dirty="0"/>
              <a:t> </a:t>
            </a:r>
            <a:r>
              <a:rPr lang="de-DE" baseline="0" dirty="0" err="1"/>
              <a:t>predictors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endParaRPr lang="de-DE" baseline="0" dirty="0"/>
          </a:p>
          <a:p>
            <a:r>
              <a:rPr lang="de-DE" baseline="0" dirty="0"/>
              <a:t>i.e., </a:t>
            </a:r>
            <a:r>
              <a:rPr lang="de-DE" baseline="0" dirty="0" err="1"/>
              <a:t>atheoretical</a:t>
            </a:r>
            <a:r>
              <a:rPr lang="de-DE" baseline="0" dirty="0"/>
              <a:t> </a:t>
            </a:r>
            <a:r>
              <a:rPr lang="de-DE" baseline="0" dirty="0">
                <a:sym typeface="Wingdings"/>
              </a:rPr>
              <a:t> </a:t>
            </a:r>
            <a:r>
              <a:rPr lang="de-DE" baseline="0" dirty="0" err="1">
                <a:sym typeface="Wingdings"/>
              </a:rPr>
              <a:t>does</a:t>
            </a:r>
            <a:r>
              <a:rPr lang="de-DE" baseline="0" dirty="0">
                <a:sym typeface="Wingdings"/>
              </a:rPr>
              <a:t> not </a:t>
            </a:r>
            <a:r>
              <a:rPr lang="de-DE" baseline="0" dirty="0" err="1">
                <a:sym typeface="Wingdings"/>
              </a:rPr>
              <a:t>exclude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any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theoretical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school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Great </a:t>
            </a:r>
            <a:r>
              <a:rPr lang="de-DE" baseline="0" dirty="0" err="1">
                <a:sym typeface="Wingdings"/>
              </a:rPr>
              <a:t>possibilty</a:t>
            </a:r>
            <a:r>
              <a:rPr lang="de-DE" baseline="0" dirty="0">
                <a:sym typeface="Wingdings"/>
              </a:rPr>
              <a:t>:</a:t>
            </a:r>
          </a:p>
          <a:p>
            <a:r>
              <a:rPr lang="de-DE" baseline="0" dirty="0" err="1">
                <a:sym typeface="Wingdings"/>
              </a:rPr>
              <a:t>Now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we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can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focus</a:t>
            </a:r>
            <a:r>
              <a:rPr lang="de-DE" baseline="0" dirty="0">
                <a:sym typeface="Wingdings"/>
              </a:rPr>
              <a:t> on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processes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that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lead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to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outcome</a:t>
            </a:r>
            <a:endParaRPr lang="de-DE" baseline="0" dirty="0">
              <a:sym typeface="Wingdings"/>
            </a:endParaRPr>
          </a:p>
          <a:p>
            <a:r>
              <a:rPr lang="de-DE" baseline="0" dirty="0" err="1">
                <a:sym typeface="Wingdings"/>
              </a:rPr>
              <a:t>And</a:t>
            </a:r>
            <a:r>
              <a:rPr lang="de-DE" baseline="0" dirty="0">
                <a:sym typeface="Wingdings"/>
              </a:rPr>
              <a:t> also on </a:t>
            </a:r>
            <a:r>
              <a:rPr lang="de-DE" baseline="0" dirty="0" err="1">
                <a:sym typeface="Wingdings"/>
              </a:rPr>
              <a:t>possible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baseline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predictors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Ex: </a:t>
            </a:r>
            <a:r>
              <a:rPr lang="de-DE" baseline="0" dirty="0" err="1">
                <a:sym typeface="Wingdings"/>
              </a:rPr>
              <a:t>emotion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regulation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skill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factor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process</a:t>
            </a:r>
            <a:r>
              <a:rPr lang="de-DE" baseline="0" dirty="0">
                <a:sym typeface="Wingdings"/>
              </a:rPr>
              <a:t>: </a:t>
            </a:r>
            <a:r>
              <a:rPr lang="de-DE" baseline="0" dirty="0" err="1">
                <a:sym typeface="Wingdings"/>
              </a:rPr>
              <a:t>use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of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it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perhaps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inspired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training</a:t>
            </a:r>
            <a:r>
              <a:rPr lang="de-DE" baseline="0" dirty="0">
                <a:sym typeface="Wingdings"/>
              </a:rPr>
              <a:t>/</a:t>
            </a:r>
            <a:r>
              <a:rPr lang="de-DE" baseline="0" dirty="0" err="1">
                <a:sym typeface="Wingdings"/>
              </a:rPr>
              <a:t>improvement</a:t>
            </a:r>
            <a:r>
              <a:rPr lang="de-DE" baseline="0" dirty="0">
                <a:sym typeface="Wingdings"/>
              </a:rPr>
              <a:t>  not </a:t>
            </a:r>
            <a:r>
              <a:rPr lang="de-DE" baseline="0" dirty="0" err="1">
                <a:sym typeface="Wingdings"/>
              </a:rPr>
              <a:t>stable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14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B5501-FBD9-5B50-3381-5E25D678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A64A4F8-FE00-AEDB-70F8-1A5C5B7AC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52654A1-BE93-0681-D30B-045197DA5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Purely</a:t>
            </a:r>
            <a:r>
              <a:rPr lang="de-DE" dirty="0"/>
              <a:t> operational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pragmatic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processes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resileince</a:t>
            </a:r>
            <a:r>
              <a:rPr lang="de-DE" baseline="0" dirty="0"/>
              <a:t> </a:t>
            </a:r>
            <a:r>
              <a:rPr lang="de-DE" baseline="0" dirty="0" err="1"/>
              <a:t>mechanisms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baseline</a:t>
            </a:r>
            <a:r>
              <a:rPr lang="de-DE" baseline="0" dirty="0"/>
              <a:t> </a:t>
            </a:r>
            <a:r>
              <a:rPr lang="de-DE" baseline="0" dirty="0" err="1"/>
              <a:t>predictors</a:t>
            </a:r>
            <a:r>
              <a:rPr lang="de-DE" baseline="0" dirty="0"/>
              <a:t> </a:t>
            </a:r>
            <a:r>
              <a:rPr lang="de-DE" baseline="0" dirty="0" err="1"/>
              <a:t>are</a:t>
            </a:r>
            <a:endParaRPr lang="de-DE" baseline="0" dirty="0"/>
          </a:p>
          <a:p>
            <a:r>
              <a:rPr lang="de-DE" baseline="0" dirty="0"/>
              <a:t>i.e., </a:t>
            </a:r>
            <a:r>
              <a:rPr lang="de-DE" baseline="0" dirty="0" err="1"/>
              <a:t>atheoretical</a:t>
            </a:r>
            <a:r>
              <a:rPr lang="de-DE" baseline="0" dirty="0"/>
              <a:t> </a:t>
            </a:r>
            <a:r>
              <a:rPr lang="de-DE" baseline="0" dirty="0">
                <a:sym typeface="Wingdings"/>
              </a:rPr>
              <a:t> </a:t>
            </a:r>
            <a:r>
              <a:rPr lang="de-DE" baseline="0" dirty="0" err="1">
                <a:sym typeface="Wingdings"/>
              </a:rPr>
              <a:t>does</a:t>
            </a:r>
            <a:r>
              <a:rPr lang="de-DE" baseline="0" dirty="0">
                <a:sym typeface="Wingdings"/>
              </a:rPr>
              <a:t> not </a:t>
            </a:r>
            <a:r>
              <a:rPr lang="de-DE" baseline="0" dirty="0" err="1">
                <a:sym typeface="Wingdings"/>
              </a:rPr>
              <a:t>exclude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any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theoretical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school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Great </a:t>
            </a:r>
            <a:r>
              <a:rPr lang="de-DE" baseline="0" dirty="0" err="1">
                <a:sym typeface="Wingdings"/>
              </a:rPr>
              <a:t>possibilty</a:t>
            </a:r>
            <a:r>
              <a:rPr lang="de-DE" baseline="0" dirty="0">
                <a:sym typeface="Wingdings"/>
              </a:rPr>
              <a:t>:</a:t>
            </a:r>
          </a:p>
          <a:p>
            <a:r>
              <a:rPr lang="de-DE" baseline="0" dirty="0" err="1">
                <a:sym typeface="Wingdings"/>
              </a:rPr>
              <a:t>Now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we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can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focus</a:t>
            </a:r>
            <a:r>
              <a:rPr lang="de-DE" baseline="0" dirty="0">
                <a:sym typeface="Wingdings"/>
              </a:rPr>
              <a:t> on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processes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that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lead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to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the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outcome</a:t>
            </a:r>
            <a:endParaRPr lang="de-DE" baseline="0" dirty="0">
              <a:sym typeface="Wingdings"/>
            </a:endParaRPr>
          </a:p>
          <a:p>
            <a:r>
              <a:rPr lang="de-DE" baseline="0" dirty="0" err="1">
                <a:sym typeface="Wingdings"/>
              </a:rPr>
              <a:t>And</a:t>
            </a:r>
            <a:r>
              <a:rPr lang="de-DE" baseline="0" dirty="0">
                <a:sym typeface="Wingdings"/>
              </a:rPr>
              <a:t> also on </a:t>
            </a:r>
            <a:r>
              <a:rPr lang="de-DE" baseline="0" dirty="0" err="1">
                <a:sym typeface="Wingdings"/>
              </a:rPr>
              <a:t>possible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baseline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predictors</a:t>
            </a:r>
            <a:endParaRPr lang="de-DE" baseline="0" dirty="0">
              <a:sym typeface="Wingdings"/>
            </a:endParaRPr>
          </a:p>
          <a:p>
            <a:endParaRPr lang="de-DE" baseline="0" dirty="0">
              <a:sym typeface="Wingdings"/>
            </a:endParaRPr>
          </a:p>
          <a:p>
            <a:r>
              <a:rPr lang="de-DE" baseline="0" dirty="0">
                <a:sym typeface="Wingdings"/>
              </a:rPr>
              <a:t>Ex: </a:t>
            </a:r>
            <a:r>
              <a:rPr lang="de-DE" baseline="0" dirty="0" err="1">
                <a:sym typeface="Wingdings"/>
              </a:rPr>
              <a:t>emotion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regulation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skill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as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factor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process</a:t>
            </a:r>
            <a:r>
              <a:rPr lang="de-DE" baseline="0" dirty="0">
                <a:sym typeface="Wingdings"/>
              </a:rPr>
              <a:t>: </a:t>
            </a:r>
            <a:r>
              <a:rPr lang="de-DE" baseline="0" dirty="0" err="1">
                <a:sym typeface="Wingdings"/>
              </a:rPr>
              <a:t>use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of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it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perhaps</a:t>
            </a:r>
            <a:r>
              <a:rPr lang="de-DE" baseline="0" dirty="0">
                <a:sym typeface="Wingdings"/>
              </a:rPr>
              <a:t> </a:t>
            </a:r>
            <a:r>
              <a:rPr lang="de-DE" baseline="0" dirty="0" err="1">
                <a:sym typeface="Wingdings"/>
              </a:rPr>
              <a:t>inspired</a:t>
            </a:r>
            <a:r>
              <a:rPr lang="de-DE" baseline="0" dirty="0">
                <a:sym typeface="Wingdings"/>
              </a:rPr>
              <a:t>, </a:t>
            </a:r>
            <a:r>
              <a:rPr lang="de-DE" baseline="0" dirty="0" err="1">
                <a:sym typeface="Wingdings"/>
              </a:rPr>
              <a:t>training</a:t>
            </a:r>
            <a:r>
              <a:rPr lang="de-DE" baseline="0" dirty="0">
                <a:sym typeface="Wingdings"/>
              </a:rPr>
              <a:t>/</a:t>
            </a:r>
            <a:r>
              <a:rPr lang="de-DE" baseline="0" dirty="0" err="1">
                <a:sym typeface="Wingdings"/>
              </a:rPr>
              <a:t>improvement</a:t>
            </a:r>
            <a:r>
              <a:rPr lang="de-DE" baseline="0" dirty="0">
                <a:sym typeface="Wingdings"/>
              </a:rPr>
              <a:t>  not </a:t>
            </a:r>
            <a:r>
              <a:rPr lang="de-DE" baseline="0" dirty="0" err="1">
                <a:sym typeface="Wingdings"/>
              </a:rPr>
              <a:t>stable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2E0CA0-E4F0-DFFF-37DF-B43C3855A3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5934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6498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109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7808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241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962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2994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31624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3724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856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980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87206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594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96472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7039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9728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7182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5989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9671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2121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09096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27C186-F865-B24D-AA51-BC3416E2D2F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0629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27C186-F865-B24D-AA51-BC3416E2D2F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9423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28C3F-38C2-377F-1CB2-3CB880DE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6393BFF-C97C-F9E1-FB69-64B417FA5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D3F42C5-2652-B6E8-1B58-7C9740E5C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E7145E-28C3-4095-EEBC-C44A7FD19F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27C186-F865-B24D-AA51-BC3416E2D2F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91999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9B53D-B3BF-58D4-58BD-3D62D57AC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95F7124-DA78-78CA-BA6E-0E279CA04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22D090A-3B03-1BEC-7429-78915107A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B21D6F-F117-DCE4-44E6-69982653F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27C186-F865-B24D-AA51-BC3416E2D2F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09357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6AE3-7F57-06FA-DA58-17338A25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4A1B52-8F6F-9053-5D12-4C542F8276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DE99F74-7A20-AB7E-8D74-D5115A7BE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Extension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several</a:t>
            </a:r>
            <a:r>
              <a:rPr lang="de-DE" baseline="0" dirty="0"/>
              <a:t> time </a:t>
            </a:r>
            <a:r>
              <a:rPr lang="de-DE" baseline="0" dirty="0" err="1"/>
              <a:t>points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451F43-0FED-A4EE-8BA5-A785BE345E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27C186-F865-B24D-AA51-BC3416E2D2F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8833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87687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754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Simplified</a:t>
            </a:r>
            <a:r>
              <a:rPr lang="de-DE" dirty="0"/>
              <a:t> </a:t>
            </a:r>
            <a:r>
              <a:rPr lang="de-DE" dirty="0" err="1"/>
              <a:t>way</a:t>
            </a:r>
            <a:r>
              <a:rPr lang="de-DE" dirty="0"/>
              <a:t>, simple</a:t>
            </a:r>
            <a:r>
              <a:rPr lang="de-DE" baseline="0" dirty="0"/>
              <a:t> ideal </a:t>
            </a:r>
            <a:r>
              <a:rPr lang="de-DE" baseline="0" dirty="0" err="1"/>
              <a:t>situation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Hidden:</a:t>
            </a:r>
          </a:p>
          <a:p>
            <a:r>
              <a:rPr lang="de-DE" baseline="0" dirty="0" err="1"/>
              <a:t>No</a:t>
            </a:r>
            <a:r>
              <a:rPr lang="de-DE" baseline="0" dirty="0"/>
              <a:t> </a:t>
            </a:r>
            <a:r>
              <a:rPr lang="de-DE" baseline="0" dirty="0" err="1"/>
              <a:t>cut</a:t>
            </a:r>
            <a:r>
              <a:rPr lang="de-DE" baseline="0" dirty="0"/>
              <a:t>-off </a:t>
            </a:r>
            <a:r>
              <a:rPr lang="de-DE" baseline="0" dirty="0" err="1"/>
              <a:t>between</a:t>
            </a:r>
            <a:r>
              <a:rPr lang="de-DE" baseline="0" dirty="0"/>
              <a:t> </a:t>
            </a:r>
            <a:r>
              <a:rPr lang="de-DE" baseline="0" dirty="0" err="1"/>
              <a:t>health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disease</a:t>
            </a:r>
            <a:r>
              <a:rPr lang="de-DE" baseline="0" dirty="0"/>
              <a:t>: </a:t>
            </a:r>
            <a:r>
              <a:rPr lang="de-DE" baseline="0" dirty="0" err="1"/>
              <a:t>dimensionality</a:t>
            </a:r>
            <a:r>
              <a:rPr lang="de-DE" baseline="0" dirty="0"/>
              <a:t>/</a:t>
            </a:r>
            <a:r>
              <a:rPr lang="de-DE" baseline="0" dirty="0" err="1"/>
              <a:t>continuous</a:t>
            </a:r>
            <a:endParaRPr lang="de-DE" baseline="0" dirty="0"/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D (all </a:t>
            </a:r>
            <a:r>
              <a:rPr lang="de-DE" baseline="0" dirty="0" err="1"/>
              <a:t>as</a:t>
            </a:r>
            <a:r>
              <a:rPr lang="de-DE" baseline="0" dirty="0"/>
              <a:t> in GHQ,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only</a:t>
            </a:r>
            <a:r>
              <a:rPr lang="de-DE" baseline="0" dirty="0"/>
              <a:t> </a:t>
            </a:r>
            <a:r>
              <a:rPr lang="de-DE" baseline="0" dirty="0" err="1"/>
              <a:t>specific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, such </a:t>
            </a:r>
            <a:r>
              <a:rPr lang="de-DE" baseline="0" dirty="0" err="1"/>
              <a:t>as</a:t>
            </a:r>
            <a:r>
              <a:rPr lang="de-DE" baseline="0" dirty="0"/>
              <a:t> </a:t>
            </a:r>
            <a:r>
              <a:rPr lang="de-DE" baseline="0" dirty="0" err="1"/>
              <a:t>anxiety</a:t>
            </a:r>
            <a:r>
              <a:rPr lang="de-DE" baseline="0" dirty="0"/>
              <a:t>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impulsivity</a:t>
            </a:r>
            <a:r>
              <a:rPr lang="de-DE" baseline="0" dirty="0"/>
              <a:t>, </a:t>
            </a:r>
            <a:r>
              <a:rPr lang="de-DE" baseline="0" dirty="0" err="1"/>
              <a:t>or</a:t>
            </a:r>
            <a:r>
              <a:rPr lang="de-DE" baseline="0" dirty="0"/>
              <a:t> </a:t>
            </a:r>
            <a:r>
              <a:rPr lang="de-DE" baseline="0" dirty="0" err="1"/>
              <a:t>symptom</a:t>
            </a:r>
            <a:r>
              <a:rPr lang="de-DE" baseline="0" dirty="0"/>
              <a:t> </a:t>
            </a:r>
            <a:r>
              <a:rPr lang="de-DE" baseline="0" dirty="0" err="1"/>
              <a:t>dimension</a:t>
            </a:r>
            <a:r>
              <a:rPr lang="de-DE" baseline="0" dirty="0"/>
              <a:t> such </a:t>
            </a:r>
            <a:r>
              <a:rPr lang="de-DE" baseline="0" dirty="0" err="1"/>
              <a:t>as</a:t>
            </a:r>
            <a:r>
              <a:rPr lang="de-DE" baseline="0" dirty="0"/>
              <a:t> PTS </a:t>
            </a:r>
            <a:r>
              <a:rPr lang="de-DE" baseline="0" dirty="0" err="1"/>
              <a:t>symptoms</a:t>
            </a:r>
            <a:r>
              <a:rPr lang="de-DE" baseline="0" dirty="0"/>
              <a:t>)</a:t>
            </a:r>
          </a:p>
          <a:p>
            <a:r>
              <a:rPr lang="de-DE" baseline="0" dirty="0"/>
              <a:t>Open: </a:t>
            </a:r>
            <a:r>
              <a:rPr lang="de-DE" baseline="0" dirty="0" err="1"/>
              <a:t>what</a:t>
            </a:r>
            <a:r>
              <a:rPr lang="de-DE" baseline="0" dirty="0"/>
              <a:t> type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stressors</a:t>
            </a:r>
            <a:r>
              <a:rPr lang="de-DE" baseline="0" dirty="0"/>
              <a:t> (</a:t>
            </a:r>
            <a:r>
              <a:rPr lang="de-DE" baseline="0" dirty="0" err="1"/>
              <a:t>numbering</a:t>
            </a:r>
            <a:r>
              <a:rPr lang="de-DE" baseline="0" dirty="0"/>
              <a:t> LEs, </a:t>
            </a:r>
            <a:r>
              <a:rPr lang="de-DE" baseline="0" dirty="0" err="1"/>
              <a:t>or</a:t>
            </a:r>
            <a:r>
              <a:rPr lang="de-DE" baseline="0" dirty="0"/>
              <a:t> also </a:t>
            </a:r>
            <a:r>
              <a:rPr lang="de-DE" baseline="0" dirty="0" err="1"/>
              <a:t>looking</a:t>
            </a:r>
            <a:r>
              <a:rPr lang="de-DE" baseline="0" dirty="0"/>
              <a:t> </a:t>
            </a:r>
            <a:r>
              <a:rPr lang="de-DE" baseline="0" dirty="0" err="1"/>
              <a:t>at</a:t>
            </a:r>
            <a:r>
              <a:rPr lang="de-DE" baseline="0" dirty="0"/>
              <a:t> </a:t>
            </a:r>
            <a:r>
              <a:rPr lang="de-DE" baseline="0" dirty="0" err="1"/>
              <a:t>microstressors</a:t>
            </a:r>
            <a:r>
              <a:rPr lang="de-DE" baseline="0" dirty="0"/>
              <a:t>, </a:t>
            </a:r>
            <a:r>
              <a:rPr lang="de-DE" baseline="0" dirty="0" err="1"/>
              <a:t>daily</a:t>
            </a:r>
            <a:r>
              <a:rPr lang="de-DE" baseline="0" dirty="0"/>
              <a:t> </a:t>
            </a:r>
            <a:r>
              <a:rPr lang="de-DE" baseline="0" dirty="0" err="1"/>
              <a:t>hassles</a:t>
            </a:r>
            <a:r>
              <a:rPr lang="de-DE" baseline="0" dirty="0"/>
              <a:t>)</a:t>
            </a:r>
          </a:p>
          <a:p>
            <a:r>
              <a:rPr lang="de-DE" baseline="0" dirty="0"/>
              <a:t>But not open: </a:t>
            </a:r>
            <a:r>
              <a:rPr lang="de-DE" baseline="0" dirty="0" err="1"/>
              <a:t>continuous</a:t>
            </a:r>
            <a:r>
              <a:rPr lang="de-DE" baseline="0" dirty="0"/>
              <a:t> </a:t>
            </a:r>
            <a:r>
              <a:rPr lang="de-DE" baseline="0" dirty="0" err="1"/>
              <a:t>measure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C186-F865-B24D-AA51-BC3416E2D2F5}" type="slidenum">
              <a:rPr lang="de-DE" smtClean="0"/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48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463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860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203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029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359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722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88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881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157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85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3201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7"/>
          <p:cNvSpPr>
            <a:spLocks noGrp="1"/>
          </p:cNvSpPr>
          <p:nvPr>
            <p:ph type="ctrTitle"/>
          </p:nvPr>
        </p:nvSpPr>
        <p:spPr>
          <a:xfrm>
            <a:off x="540000" y="1620000"/>
            <a:ext cx="8100000" cy="1769065"/>
          </a:xfrm>
        </p:spPr>
        <p:txBody>
          <a:bodyPr rIns="0" anchor="b"/>
          <a:lstStyle>
            <a:lvl1pPr>
              <a:defRPr sz="3000" cap="none" baseline="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Untertitel 8"/>
          <p:cNvSpPr>
            <a:spLocks noGrp="1"/>
          </p:cNvSpPr>
          <p:nvPr>
            <p:ph type="subTitle" idx="1"/>
          </p:nvPr>
        </p:nvSpPr>
        <p:spPr>
          <a:xfrm>
            <a:off x="540000" y="3960000"/>
            <a:ext cx="8100000" cy="1792005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52000" y="6176700"/>
            <a:ext cx="7351319" cy="3587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ts val="1400"/>
              </a:lnSpc>
              <a:defRPr sz="10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>
                <a:solidFill>
                  <a:srgbClr val="1B2867"/>
                </a:solidFill>
              </a:rPr>
              <a:t>This </a:t>
            </a:r>
            <a:r>
              <a:rPr lang="de-DE" err="1">
                <a:solidFill>
                  <a:srgbClr val="1B2867"/>
                </a:solidFill>
              </a:rPr>
              <a:t>project</a:t>
            </a:r>
            <a:r>
              <a:rPr lang="de-DE">
                <a:solidFill>
                  <a:srgbClr val="1B2867"/>
                </a:solidFill>
              </a:rPr>
              <a:t> hast </a:t>
            </a:r>
            <a:r>
              <a:rPr lang="de-DE" err="1">
                <a:solidFill>
                  <a:srgbClr val="1B2867"/>
                </a:solidFill>
              </a:rPr>
              <a:t>received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funding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from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the</a:t>
            </a:r>
            <a:r>
              <a:rPr lang="de-DE">
                <a:solidFill>
                  <a:srgbClr val="1B2867"/>
                </a:solidFill>
              </a:rPr>
              <a:t> European </a:t>
            </a:r>
            <a:r>
              <a:rPr lang="de-DE" err="1">
                <a:solidFill>
                  <a:srgbClr val="1B2867"/>
                </a:solidFill>
              </a:rPr>
              <a:t>Union’s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Horizon</a:t>
            </a:r>
            <a:r>
              <a:rPr lang="de-DE">
                <a:solidFill>
                  <a:srgbClr val="1B2867"/>
                </a:solidFill>
              </a:rPr>
              <a:t> 2020 </a:t>
            </a:r>
            <a:r>
              <a:rPr lang="de-DE" err="1">
                <a:solidFill>
                  <a:srgbClr val="1B2867"/>
                </a:solidFill>
              </a:rPr>
              <a:t>research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and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innovation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programme</a:t>
            </a:r>
            <a:r>
              <a:rPr lang="de-DE">
                <a:solidFill>
                  <a:srgbClr val="1B2867"/>
                </a:solidFill>
              </a:rPr>
              <a:t> </a:t>
            </a:r>
            <a:br>
              <a:rPr lang="de-DE">
                <a:solidFill>
                  <a:srgbClr val="1B2867"/>
                </a:solidFill>
              </a:rPr>
            </a:br>
            <a:r>
              <a:rPr lang="de-DE" err="1">
                <a:solidFill>
                  <a:srgbClr val="1B2867"/>
                </a:solidFill>
              </a:rPr>
              <a:t>under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grant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agreement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No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is-IS">
                <a:solidFill>
                  <a:srgbClr val="1B2867"/>
                </a:solidFill>
              </a:rPr>
              <a:t>777084.</a:t>
            </a:r>
            <a:endParaRPr lang="de-DE">
              <a:solidFill>
                <a:srgbClr val="1B28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85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1426" y="540000"/>
            <a:ext cx="6905988" cy="904226"/>
          </a:xfrm>
        </p:spPr>
        <p:txBody>
          <a:bodyPr rIns="0"/>
          <a:lstStyle>
            <a:lvl1pPr>
              <a:defRPr u="none" strike="noStrike" cap="none" normalizeH="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 hasCustomPrompt="1"/>
          </p:nvPr>
        </p:nvSpPr>
        <p:spPr>
          <a:xfrm>
            <a:off x="481426" y="1620000"/>
            <a:ext cx="8101255" cy="4140000"/>
          </a:xfrm>
        </p:spPr>
        <p:txBody>
          <a:bodyPr/>
          <a:lstStyle>
            <a:lvl1pPr marL="179388" indent="-179388">
              <a:buClr>
                <a:schemeClr val="tx2"/>
              </a:buClr>
              <a:buSzPct val="100000"/>
              <a:buFont typeface="Arial"/>
              <a:buChar char="•"/>
              <a:defRPr baseline="0">
                <a:solidFill>
                  <a:schemeClr val="tx1"/>
                </a:solidFill>
              </a:defRPr>
            </a:lvl1pPr>
            <a:lvl2pPr marL="358775" indent="-179388">
              <a:buClr>
                <a:schemeClr val="tx2"/>
              </a:buClr>
              <a:buFont typeface="Lucida Grande"/>
              <a:buChar char="–"/>
              <a:defRPr>
                <a:solidFill>
                  <a:schemeClr val="tx1"/>
                </a:solidFill>
              </a:defRPr>
            </a:lvl2pPr>
            <a:lvl3pPr marL="536575" indent="-177800">
              <a:buClr>
                <a:schemeClr val="tx2"/>
              </a:buClr>
              <a:buFont typeface="Arial"/>
              <a:buChar char="•"/>
              <a:defRPr>
                <a:solidFill>
                  <a:schemeClr val="tx1"/>
                </a:solidFill>
              </a:defRPr>
            </a:lvl3pPr>
            <a:lvl4pPr marL="720000" indent="-179388">
              <a:buClr>
                <a:schemeClr val="tx2"/>
              </a:buClr>
              <a:buFont typeface="Lucida Grande"/>
              <a:buChar char="–"/>
              <a:defRPr>
                <a:solidFill>
                  <a:schemeClr val="tx1"/>
                </a:solidFill>
              </a:defRPr>
            </a:lvl4pPr>
            <a:lvl5pPr marL="936000" indent="-179388">
              <a:buClr>
                <a:schemeClr val="tx2"/>
              </a:buClr>
              <a:buFont typeface="Courier New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52000" y="6176700"/>
            <a:ext cx="7351319" cy="3587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ts val="1400"/>
              </a:lnSpc>
              <a:defRPr sz="10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>
                <a:solidFill>
                  <a:srgbClr val="1B2867"/>
                </a:solidFill>
              </a:rPr>
              <a:t>This </a:t>
            </a:r>
            <a:r>
              <a:rPr lang="de-DE" err="1">
                <a:solidFill>
                  <a:srgbClr val="1B2867"/>
                </a:solidFill>
              </a:rPr>
              <a:t>project</a:t>
            </a:r>
            <a:r>
              <a:rPr lang="de-DE">
                <a:solidFill>
                  <a:srgbClr val="1B2867"/>
                </a:solidFill>
              </a:rPr>
              <a:t> hast </a:t>
            </a:r>
            <a:r>
              <a:rPr lang="de-DE" err="1">
                <a:solidFill>
                  <a:srgbClr val="1B2867"/>
                </a:solidFill>
              </a:rPr>
              <a:t>received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funding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from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the</a:t>
            </a:r>
            <a:r>
              <a:rPr lang="de-DE">
                <a:solidFill>
                  <a:srgbClr val="1B2867"/>
                </a:solidFill>
              </a:rPr>
              <a:t> European </a:t>
            </a:r>
            <a:r>
              <a:rPr lang="de-DE" err="1">
                <a:solidFill>
                  <a:srgbClr val="1B2867"/>
                </a:solidFill>
              </a:rPr>
              <a:t>Union’s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Horizon</a:t>
            </a:r>
            <a:r>
              <a:rPr lang="de-DE">
                <a:solidFill>
                  <a:srgbClr val="1B2867"/>
                </a:solidFill>
              </a:rPr>
              <a:t> 2020 </a:t>
            </a:r>
            <a:r>
              <a:rPr lang="de-DE" err="1">
                <a:solidFill>
                  <a:srgbClr val="1B2867"/>
                </a:solidFill>
              </a:rPr>
              <a:t>research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and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innovation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programme</a:t>
            </a:r>
            <a:r>
              <a:rPr lang="de-DE">
                <a:solidFill>
                  <a:srgbClr val="1B2867"/>
                </a:solidFill>
              </a:rPr>
              <a:t> </a:t>
            </a:r>
            <a:br>
              <a:rPr lang="de-DE">
                <a:solidFill>
                  <a:srgbClr val="1B2867"/>
                </a:solidFill>
              </a:rPr>
            </a:br>
            <a:r>
              <a:rPr lang="de-DE" err="1">
                <a:solidFill>
                  <a:srgbClr val="1B2867"/>
                </a:solidFill>
              </a:rPr>
              <a:t>under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grant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agreement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No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is-IS">
                <a:solidFill>
                  <a:srgbClr val="1B2867"/>
                </a:solidFill>
              </a:rPr>
              <a:t>777084.</a:t>
            </a:r>
            <a:endParaRPr lang="de-DE">
              <a:solidFill>
                <a:srgbClr val="1B28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886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1426" y="540000"/>
            <a:ext cx="6905988" cy="904226"/>
          </a:xfrm>
        </p:spPr>
        <p:txBody>
          <a:bodyPr rIns="0"/>
          <a:lstStyle>
            <a:lvl1pPr>
              <a:defRPr u="none" strike="noStrike" cap="none" normalizeH="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 userDrawn="1"/>
        </p:nvGraphicFramePr>
        <p:xfrm>
          <a:off x="481426" y="1989932"/>
          <a:ext cx="80218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3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Arial" charset="0"/>
                          <a:ea typeface="Arial" charset="0"/>
                          <a:cs typeface="Arial" charset="0"/>
                        </a:rPr>
                        <a:t>Table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>
                          <a:latin typeface="Arial" charset="0"/>
                          <a:ea typeface="Arial" charset="0"/>
                          <a:cs typeface="Arial" charset="0"/>
                        </a:rPr>
                        <a:t>Body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52000" y="6176700"/>
            <a:ext cx="7351319" cy="3587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ts val="1400"/>
              </a:lnSpc>
              <a:defRPr sz="10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>
                <a:solidFill>
                  <a:srgbClr val="1B2867"/>
                </a:solidFill>
              </a:rPr>
              <a:t>This </a:t>
            </a:r>
            <a:r>
              <a:rPr lang="de-DE" err="1">
                <a:solidFill>
                  <a:srgbClr val="1B2867"/>
                </a:solidFill>
              </a:rPr>
              <a:t>project</a:t>
            </a:r>
            <a:r>
              <a:rPr lang="de-DE">
                <a:solidFill>
                  <a:srgbClr val="1B2867"/>
                </a:solidFill>
              </a:rPr>
              <a:t> hast </a:t>
            </a:r>
            <a:r>
              <a:rPr lang="de-DE" err="1">
                <a:solidFill>
                  <a:srgbClr val="1B2867"/>
                </a:solidFill>
              </a:rPr>
              <a:t>received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funding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from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the</a:t>
            </a:r>
            <a:r>
              <a:rPr lang="de-DE">
                <a:solidFill>
                  <a:srgbClr val="1B2867"/>
                </a:solidFill>
              </a:rPr>
              <a:t> European </a:t>
            </a:r>
            <a:r>
              <a:rPr lang="de-DE" err="1">
                <a:solidFill>
                  <a:srgbClr val="1B2867"/>
                </a:solidFill>
              </a:rPr>
              <a:t>Union’s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Horizon</a:t>
            </a:r>
            <a:r>
              <a:rPr lang="de-DE">
                <a:solidFill>
                  <a:srgbClr val="1B2867"/>
                </a:solidFill>
              </a:rPr>
              <a:t> 2020 </a:t>
            </a:r>
            <a:r>
              <a:rPr lang="de-DE" err="1">
                <a:solidFill>
                  <a:srgbClr val="1B2867"/>
                </a:solidFill>
              </a:rPr>
              <a:t>research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and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innovation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programme</a:t>
            </a:r>
            <a:r>
              <a:rPr lang="de-DE">
                <a:solidFill>
                  <a:srgbClr val="1B2867"/>
                </a:solidFill>
              </a:rPr>
              <a:t> </a:t>
            </a:r>
            <a:br>
              <a:rPr lang="de-DE">
                <a:solidFill>
                  <a:srgbClr val="1B2867"/>
                </a:solidFill>
              </a:rPr>
            </a:br>
            <a:r>
              <a:rPr lang="de-DE" err="1">
                <a:solidFill>
                  <a:srgbClr val="1B2867"/>
                </a:solidFill>
              </a:rPr>
              <a:t>under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grant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agreement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No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is-IS">
                <a:solidFill>
                  <a:srgbClr val="1B2867"/>
                </a:solidFill>
              </a:rPr>
              <a:t>777084.</a:t>
            </a:r>
            <a:endParaRPr lang="de-DE">
              <a:solidFill>
                <a:srgbClr val="1B28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836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52000" y="6176700"/>
            <a:ext cx="7351319" cy="3587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ts val="1400"/>
              </a:lnSpc>
              <a:defRPr sz="10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>
                <a:solidFill>
                  <a:srgbClr val="1B2867"/>
                </a:solidFill>
              </a:rPr>
              <a:t>This </a:t>
            </a:r>
            <a:r>
              <a:rPr lang="de-DE" err="1">
                <a:solidFill>
                  <a:srgbClr val="1B2867"/>
                </a:solidFill>
              </a:rPr>
              <a:t>project</a:t>
            </a:r>
            <a:r>
              <a:rPr lang="de-DE">
                <a:solidFill>
                  <a:srgbClr val="1B2867"/>
                </a:solidFill>
              </a:rPr>
              <a:t> hast </a:t>
            </a:r>
            <a:r>
              <a:rPr lang="de-DE" err="1">
                <a:solidFill>
                  <a:srgbClr val="1B2867"/>
                </a:solidFill>
              </a:rPr>
              <a:t>received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funding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from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the</a:t>
            </a:r>
            <a:r>
              <a:rPr lang="de-DE">
                <a:solidFill>
                  <a:srgbClr val="1B2867"/>
                </a:solidFill>
              </a:rPr>
              <a:t> European </a:t>
            </a:r>
            <a:r>
              <a:rPr lang="de-DE" err="1">
                <a:solidFill>
                  <a:srgbClr val="1B2867"/>
                </a:solidFill>
              </a:rPr>
              <a:t>Union’s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Horizon</a:t>
            </a:r>
            <a:r>
              <a:rPr lang="de-DE">
                <a:solidFill>
                  <a:srgbClr val="1B2867"/>
                </a:solidFill>
              </a:rPr>
              <a:t> 2020 </a:t>
            </a:r>
            <a:r>
              <a:rPr lang="de-DE" err="1">
                <a:solidFill>
                  <a:srgbClr val="1B2867"/>
                </a:solidFill>
              </a:rPr>
              <a:t>research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and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innovation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programme</a:t>
            </a:r>
            <a:r>
              <a:rPr lang="de-DE">
                <a:solidFill>
                  <a:srgbClr val="1B2867"/>
                </a:solidFill>
              </a:rPr>
              <a:t> </a:t>
            </a:r>
            <a:br>
              <a:rPr lang="de-DE">
                <a:solidFill>
                  <a:srgbClr val="1B2867"/>
                </a:solidFill>
              </a:rPr>
            </a:br>
            <a:r>
              <a:rPr lang="de-DE" err="1">
                <a:solidFill>
                  <a:srgbClr val="1B2867"/>
                </a:solidFill>
              </a:rPr>
              <a:t>under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grant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agreement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de-DE" err="1">
                <a:solidFill>
                  <a:srgbClr val="1B2867"/>
                </a:solidFill>
              </a:rPr>
              <a:t>No</a:t>
            </a:r>
            <a:r>
              <a:rPr lang="de-DE">
                <a:solidFill>
                  <a:srgbClr val="1B2867"/>
                </a:solidFill>
              </a:rPr>
              <a:t> </a:t>
            </a:r>
            <a:r>
              <a:rPr lang="is-IS">
                <a:solidFill>
                  <a:srgbClr val="1B2867"/>
                </a:solidFill>
              </a:rPr>
              <a:t>777084.</a:t>
            </a:r>
            <a:endParaRPr lang="de-DE">
              <a:solidFill>
                <a:srgbClr val="1B28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1315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7"/>
          <p:cNvSpPr>
            <a:spLocks noGrp="1"/>
          </p:cNvSpPr>
          <p:nvPr>
            <p:ph type="ctrTitle" hasCustomPrompt="1"/>
          </p:nvPr>
        </p:nvSpPr>
        <p:spPr>
          <a:xfrm>
            <a:off x="540000" y="1620000"/>
            <a:ext cx="8100000" cy="1769065"/>
          </a:xfrm>
        </p:spPr>
        <p:txBody>
          <a:bodyPr rIns="0" anchor="b"/>
          <a:lstStyle>
            <a:lvl1pPr>
              <a:defRPr sz="3000" cap="none" baseline="0">
                <a:ln>
                  <a:noFill/>
                </a:ln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Edit Master title</a:t>
            </a:r>
            <a:endParaRPr lang="en-US" dirty="0"/>
          </a:p>
        </p:txBody>
      </p:sp>
      <p:sp>
        <p:nvSpPr>
          <p:cNvPr id="7" name="Untertitel 8"/>
          <p:cNvSpPr>
            <a:spLocks noGrp="1"/>
          </p:cNvSpPr>
          <p:nvPr>
            <p:ph type="subTitle" idx="1" hasCustomPrompt="1"/>
          </p:nvPr>
        </p:nvSpPr>
        <p:spPr>
          <a:xfrm>
            <a:off x="540000" y="3960000"/>
            <a:ext cx="8100000" cy="179200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 dirty="0"/>
              <a:t>Edit Master </a:t>
            </a:r>
            <a:r>
              <a:rPr lang="de-DE" dirty="0" err="1"/>
              <a:t>subtitle</a:t>
            </a:r>
            <a:endParaRPr lang="en-US" dirty="0"/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52000" y="6176700"/>
            <a:ext cx="7351319" cy="3587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ts val="1400"/>
              </a:lnSpc>
              <a:defRPr sz="10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dirty="0">
                <a:solidFill>
                  <a:srgbClr val="1B2867"/>
                </a:solidFill>
              </a:rPr>
              <a:t>This </a:t>
            </a:r>
            <a:r>
              <a:rPr lang="de-DE" dirty="0" err="1">
                <a:solidFill>
                  <a:srgbClr val="1B2867"/>
                </a:solidFill>
              </a:rPr>
              <a:t>project</a:t>
            </a:r>
            <a:r>
              <a:rPr lang="de-DE" dirty="0">
                <a:solidFill>
                  <a:srgbClr val="1B2867"/>
                </a:solidFill>
              </a:rPr>
              <a:t> hast </a:t>
            </a:r>
            <a:r>
              <a:rPr lang="de-DE" dirty="0" err="1">
                <a:solidFill>
                  <a:srgbClr val="1B2867"/>
                </a:solidFill>
              </a:rPr>
              <a:t>received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funding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from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the</a:t>
            </a:r>
            <a:r>
              <a:rPr lang="de-DE" dirty="0">
                <a:solidFill>
                  <a:srgbClr val="1B2867"/>
                </a:solidFill>
              </a:rPr>
              <a:t> European </a:t>
            </a:r>
            <a:r>
              <a:rPr lang="de-DE" dirty="0" err="1">
                <a:solidFill>
                  <a:srgbClr val="1B2867"/>
                </a:solidFill>
              </a:rPr>
              <a:t>Union’s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Horizon</a:t>
            </a:r>
            <a:r>
              <a:rPr lang="de-DE" dirty="0">
                <a:solidFill>
                  <a:srgbClr val="1B2867"/>
                </a:solidFill>
              </a:rPr>
              <a:t> 2020 </a:t>
            </a:r>
            <a:r>
              <a:rPr lang="de-DE" dirty="0" err="1">
                <a:solidFill>
                  <a:srgbClr val="1B2867"/>
                </a:solidFill>
              </a:rPr>
              <a:t>research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and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innovation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programme</a:t>
            </a:r>
            <a:r>
              <a:rPr lang="de-DE" dirty="0">
                <a:solidFill>
                  <a:srgbClr val="1B2867"/>
                </a:solidFill>
              </a:rPr>
              <a:t> </a:t>
            </a:r>
            <a:br>
              <a:rPr lang="de-DE" dirty="0">
                <a:solidFill>
                  <a:srgbClr val="1B2867"/>
                </a:solidFill>
              </a:rPr>
            </a:br>
            <a:r>
              <a:rPr lang="de-DE" dirty="0" err="1">
                <a:solidFill>
                  <a:srgbClr val="1B2867"/>
                </a:solidFill>
              </a:rPr>
              <a:t>under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grant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agreement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No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is-IS" dirty="0">
                <a:solidFill>
                  <a:srgbClr val="1B2867"/>
                </a:solidFill>
              </a:rPr>
              <a:t>777084.</a:t>
            </a:r>
            <a:endParaRPr lang="de-DE" dirty="0">
              <a:solidFill>
                <a:srgbClr val="1B28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341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50" y="539750"/>
            <a:ext cx="6737497" cy="900250"/>
          </a:xfrm>
        </p:spPr>
        <p:txBody>
          <a:bodyPr/>
          <a:lstStyle/>
          <a:p>
            <a:r>
              <a:rPr lang="de-DE" dirty="0"/>
              <a:t>Edit Master title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0" hasCustomPrompt="1"/>
          </p:nvPr>
        </p:nvSpPr>
        <p:spPr>
          <a:xfrm>
            <a:off x="539750" y="1692000"/>
            <a:ext cx="7992000" cy="3960000"/>
          </a:xfrm>
        </p:spPr>
        <p:txBody>
          <a:bodyPr lIns="0" tIns="0" rIns="0" bIns="0"/>
          <a:lstStyle>
            <a:lvl2pPr>
              <a:defRPr baseline="0"/>
            </a:lvl2pPr>
            <a:lvl5pPr>
              <a:defRPr baseline="0"/>
            </a:lvl5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52000" y="6176700"/>
            <a:ext cx="7351319" cy="3587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ts val="1400"/>
              </a:lnSpc>
              <a:defRPr sz="10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dirty="0">
                <a:solidFill>
                  <a:srgbClr val="1B2867"/>
                </a:solidFill>
              </a:rPr>
              <a:t>This </a:t>
            </a:r>
            <a:r>
              <a:rPr lang="de-DE" dirty="0" err="1">
                <a:solidFill>
                  <a:srgbClr val="1B2867"/>
                </a:solidFill>
              </a:rPr>
              <a:t>project</a:t>
            </a:r>
            <a:r>
              <a:rPr lang="de-DE" dirty="0">
                <a:solidFill>
                  <a:srgbClr val="1B2867"/>
                </a:solidFill>
              </a:rPr>
              <a:t> hast </a:t>
            </a:r>
            <a:r>
              <a:rPr lang="de-DE" dirty="0" err="1">
                <a:solidFill>
                  <a:srgbClr val="1B2867"/>
                </a:solidFill>
              </a:rPr>
              <a:t>received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funding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from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the</a:t>
            </a:r>
            <a:r>
              <a:rPr lang="de-DE" dirty="0">
                <a:solidFill>
                  <a:srgbClr val="1B2867"/>
                </a:solidFill>
              </a:rPr>
              <a:t> European </a:t>
            </a:r>
            <a:r>
              <a:rPr lang="de-DE" dirty="0" err="1">
                <a:solidFill>
                  <a:srgbClr val="1B2867"/>
                </a:solidFill>
              </a:rPr>
              <a:t>Union’s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Horizon</a:t>
            </a:r>
            <a:r>
              <a:rPr lang="de-DE" dirty="0">
                <a:solidFill>
                  <a:srgbClr val="1B2867"/>
                </a:solidFill>
              </a:rPr>
              <a:t> 2020 </a:t>
            </a:r>
            <a:r>
              <a:rPr lang="de-DE" dirty="0" err="1">
                <a:solidFill>
                  <a:srgbClr val="1B2867"/>
                </a:solidFill>
              </a:rPr>
              <a:t>research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and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innovation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programme</a:t>
            </a:r>
            <a:r>
              <a:rPr lang="de-DE" dirty="0">
                <a:solidFill>
                  <a:srgbClr val="1B2867"/>
                </a:solidFill>
              </a:rPr>
              <a:t> </a:t>
            </a:r>
            <a:br>
              <a:rPr lang="de-DE" dirty="0">
                <a:solidFill>
                  <a:srgbClr val="1B2867"/>
                </a:solidFill>
              </a:rPr>
            </a:br>
            <a:r>
              <a:rPr lang="de-DE" dirty="0" err="1">
                <a:solidFill>
                  <a:srgbClr val="1B2867"/>
                </a:solidFill>
              </a:rPr>
              <a:t>under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grant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agreement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No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is-IS" dirty="0">
                <a:solidFill>
                  <a:srgbClr val="1B2867"/>
                </a:solidFill>
              </a:rPr>
              <a:t>777084.</a:t>
            </a:r>
            <a:endParaRPr lang="de-DE" dirty="0">
              <a:solidFill>
                <a:srgbClr val="1B28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18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223EB-8EE2-3241-A298-794B508FFDAC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E21DA-8F0B-B94A-B08C-72B0818BAF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891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0" y="5922168"/>
            <a:ext cx="9144000" cy="935831"/>
          </a:xfrm>
          <a:prstGeom prst="rect">
            <a:avLst/>
          </a:prstGeom>
          <a:gradFill>
            <a:gsLst>
              <a:gs pos="100000">
                <a:schemeClr val="accent3">
                  <a:alpha val="0"/>
                </a:schemeClr>
              </a:gs>
              <a:gs pos="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</a:endParaRPr>
          </a:p>
        </p:txBody>
      </p:sp>
      <p:sp>
        <p:nvSpPr>
          <p:cNvPr id="1027" name="Titelplatzhalter 21"/>
          <p:cNvSpPr>
            <a:spLocks noGrp="1"/>
          </p:cNvSpPr>
          <p:nvPr>
            <p:ph type="title"/>
          </p:nvPr>
        </p:nvSpPr>
        <p:spPr bwMode="auto">
          <a:xfrm>
            <a:off x="463036" y="539750"/>
            <a:ext cx="6584122" cy="9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9144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028" name="Textplatzhalter 12"/>
          <p:cNvSpPr>
            <a:spLocks noGrp="1"/>
          </p:cNvSpPr>
          <p:nvPr>
            <p:ph type="body" idx="1"/>
          </p:nvPr>
        </p:nvSpPr>
        <p:spPr bwMode="auto">
          <a:xfrm>
            <a:off x="463036" y="1800000"/>
            <a:ext cx="8086444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33" name="Textfeld 2"/>
          <p:cNvSpPr txBox="1">
            <a:spLocks noChangeArrowheads="1"/>
          </p:cNvSpPr>
          <p:nvPr/>
        </p:nvSpPr>
        <p:spPr bwMode="auto">
          <a:xfrm>
            <a:off x="9596438" y="2214563"/>
            <a:ext cx="18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endParaRPr lang="de-DE">
              <a:solidFill>
                <a:srgbClr val="1B2867"/>
              </a:solidFill>
            </a:endParaRPr>
          </a:p>
        </p:txBody>
      </p:sp>
      <p:pic>
        <p:nvPicPr>
          <p:cNvPr id="9" name="Bild 8" descr="EU_flag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6" y="6181601"/>
            <a:ext cx="552239" cy="372762"/>
          </a:xfrm>
          <a:prstGeom prst="rect">
            <a:avLst/>
          </a:prstGeom>
        </p:spPr>
      </p:pic>
      <p:sp>
        <p:nvSpPr>
          <p:cNvPr id="11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52000" y="6176700"/>
            <a:ext cx="7351319" cy="3587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ts val="1400"/>
              </a:lnSpc>
              <a:defRPr sz="100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 dirty="0">
                <a:solidFill>
                  <a:srgbClr val="1B2867"/>
                </a:solidFill>
              </a:rPr>
              <a:t>This </a:t>
            </a:r>
            <a:r>
              <a:rPr lang="de-DE" dirty="0" err="1">
                <a:solidFill>
                  <a:srgbClr val="1B2867"/>
                </a:solidFill>
              </a:rPr>
              <a:t>project</a:t>
            </a:r>
            <a:r>
              <a:rPr lang="de-DE" dirty="0">
                <a:solidFill>
                  <a:srgbClr val="1B2867"/>
                </a:solidFill>
              </a:rPr>
              <a:t> hast </a:t>
            </a:r>
            <a:r>
              <a:rPr lang="de-DE" dirty="0" err="1">
                <a:solidFill>
                  <a:srgbClr val="1B2867"/>
                </a:solidFill>
              </a:rPr>
              <a:t>received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funding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from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the</a:t>
            </a:r>
            <a:r>
              <a:rPr lang="de-DE" dirty="0">
                <a:solidFill>
                  <a:srgbClr val="1B2867"/>
                </a:solidFill>
              </a:rPr>
              <a:t> European </a:t>
            </a:r>
            <a:r>
              <a:rPr lang="de-DE" dirty="0" err="1">
                <a:solidFill>
                  <a:srgbClr val="1B2867"/>
                </a:solidFill>
              </a:rPr>
              <a:t>Union’s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Horizon</a:t>
            </a:r>
            <a:r>
              <a:rPr lang="de-DE" dirty="0">
                <a:solidFill>
                  <a:srgbClr val="1B2867"/>
                </a:solidFill>
              </a:rPr>
              <a:t> 2020 </a:t>
            </a:r>
            <a:r>
              <a:rPr lang="de-DE" dirty="0" err="1">
                <a:solidFill>
                  <a:srgbClr val="1B2867"/>
                </a:solidFill>
              </a:rPr>
              <a:t>research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and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innovation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programme</a:t>
            </a:r>
            <a:r>
              <a:rPr lang="de-DE" dirty="0">
                <a:solidFill>
                  <a:srgbClr val="1B2867"/>
                </a:solidFill>
              </a:rPr>
              <a:t> </a:t>
            </a:r>
            <a:br>
              <a:rPr lang="de-DE" dirty="0">
                <a:solidFill>
                  <a:srgbClr val="1B2867"/>
                </a:solidFill>
              </a:rPr>
            </a:br>
            <a:r>
              <a:rPr lang="de-DE" dirty="0" err="1">
                <a:solidFill>
                  <a:srgbClr val="1B2867"/>
                </a:solidFill>
              </a:rPr>
              <a:t>under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grant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agreement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de-DE" dirty="0" err="1">
                <a:solidFill>
                  <a:srgbClr val="1B2867"/>
                </a:solidFill>
              </a:rPr>
              <a:t>No</a:t>
            </a:r>
            <a:r>
              <a:rPr lang="de-DE" dirty="0">
                <a:solidFill>
                  <a:srgbClr val="1B2867"/>
                </a:solidFill>
              </a:rPr>
              <a:t> </a:t>
            </a:r>
            <a:r>
              <a:rPr lang="is-IS" dirty="0">
                <a:solidFill>
                  <a:srgbClr val="1B2867"/>
                </a:solidFill>
              </a:rPr>
              <a:t>777084.</a:t>
            </a:r>
            <a:endParaRPr lang="de-DE" dirty="0">
              <a:solidFill>
                <a:srgbClr val="1B2867"/>
              </a:solidFill>
            </a:endParaRPr>
          </a:p>
        </p:txBody>
      </p:sp>
      <p:pic>
        <p:nvPicPr>
          <p:cNvPr id="2" name="Bild 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158" y="239284"/>
            <a:ext cx="1502322" cy="6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20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</p:sldLayoutIdLst>
  <p:hf sldNum="0" hdr="0" dt="0"/>
  <p:txStyles>
    <p:titleStyle>
      <a:lvl1pPr marL="0" indent="0" algn="l" rtl="0" eaLnBrk="1" fontAlgn="base" hangingPunct="1">
        <a:spcBef>
          <a:spcPct val="0"/>
        </a:spcBef>
        <a:spcAft>
          <a:spcPct val="0"/>
        </a:spcAft>
        <a:buFontTx/>
        <a:buNone/>
        <a:defRPr sz="2400" b="1" kern="1200">
          <a:solidFill>
            <a:schemeClr val="tx2"/>
          </a:solidFill>
          <a:latin typeface="Arial"/>
          <a:ea typeface="ＭＳ Ｐゴシック" charset="-128"/>
          <a:cs typeface="Arial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144696"/>
          </a:solidFill>
          <a:latin typeface="Arial" charset="0"/>
          <a:ea typeface="ＭＳ Ｐゴシック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144696"/>
          </a:solidFill>
          <a:latin typeface="Arial" charset="0"/>
          <a:ea typeface="ＭＳ Ｐゴシック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144696"/>
          </a:solidFill>
          <a:latin typeface="Arial" charset="0"/>
          <a:ea typeface="ＭＳ Ｐゴシック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144696"/>
          </a:solidFill>
          <a:latin typeface="Arial" charset="0"/>
          <a:ea typeface="ＭＳ Ｐゴシック" charset="-128"/>
        </a:defRPr>
      </a:lvl9pPr>
    </p:titleStyle>
    <p:bodyStyle>
      <a:lvl1pPr marL="179388" indent="-179388" algn="l" rtl="0" eaLnBrk="1" fontAlgn="base" hangingPunct="1">
        <a:lnSpc>
          <a:spcPts val="2200"/>
        </a:lnSpc>
        <a:spcBef>
          <a:spcPts val="0"/>
        </a:spcBef>
        <a:spcAft>
          <a:spcPts val="1000"/>
        </a:spcAft>
        <a:buClr>
          <a:schemeClr val="tx2"/>
        </a:buClr>
        <a:buSzPct val="100000"/>
        <a:buFont typeface="Arial" charset="0"/>
        <a:buChar char="•"/>
        <a:defRPr sz="1800" kern="12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536400" indent="-285750" algn="l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2"/>
        </a:buClr>
        <a:buSzPct val="100000"/>
        <a:buFont typeface="Lucida Grande"/>
        <a:buChar char="–"/>
        <a:defRPr kern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684000" indent="-179388" algn="l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2"/>
        </a:buClr>
        <a:buSzPct val="100000"/>
        <a:buFont typeface="Arial" charset="0"/>
        <a:buChar char="•"/>
        <a:defRPr sz="1600" kern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864000" indent="-179388" algn="l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2"/>
        </a:buClr>
        <a:buSzPct val="100000"/>
        <a:buFont typeface="Lucida Grande"/>
        <a:buChar char="–"/>
        <a:defRPr sz="1400" kern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044000" indent="-179388" algn="l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2"/>
        </a:buClr>
        <a:buSzPct val="100000"/>
        <a:buFont typeface="Arial" charset="0"/>
        <a:buChar char="•"/>
        <a:defRPr sz="1400" kern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emf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g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Document.docx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feld 16"/>
          <p:cNvSpPr txBox="1">
            <a:spLocks noChangeArrowheads="1"/>
          </p:cNvSpPr>
          <p:nvPr/>
        </p:nvSpPr>
        <p:spPr bwMode="auto">
          <a:xfrm>
            <a:off x="323527" y="2156870"/>
            <a:ext cx="8679361" cy="377006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bIns="0">
            <a:noAutofit/>
          </a:bodyPr>
          <a:lstStyle/>
          <a:p>
            <a:pPr lvl="0" fontAlgn="base">
              <a:spcBef>
                <a:spcPct val="0"/>
              </a:spcBef>
              <a:spcAft>
                <a:spcPct val="40000"/>
              </a:spcAft>
            </a:pPr>
            <a:endParaRPr lang="en-US" sz="2000" dirty="0">
              <a:solidFill>
                <a:srgbClr val="000000"/>
              </a:solidFill>
              <a:latin typeface="Arial"/>
              <a:ea typeface="Arial Unicode MS"/>
              <a:cs typeface="Arial"/>
            </a:endParaRPr>
          </a:p>
          <a:p>
            <a:pPr lvl="0" fontAlgn="base">
              <a:spcBef>
                <a:spcPct val="0"/>
              </a:spcBef>
            </a:pPr>
            <a:endParaRPr lang="en-US" dirty="0">
              <a:solidFill>
                <a:srgbClr val="000000"/>
              </a:solidFill>
              <a:latin typeface="Arial"/>
              <a:ea typeface="Arial Unicode MS"/>
              <a:cs typeface="Arial"/>
            </a:endParaRPr>
          </a:p>
          <a:p>
            <a:pPr fontAlgn="base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endParaRPr lang="de-DE" sz="1400" dirty="0">
              <a:solidFill>
                <a:srgbClr val="000000"/>
              </a:solidFill>
              <a:latin typeface="Arial" charset="0"/>
              <a:ea typeface="ＭＳ Ｐゴシック" charset="0"/>
              <a:cs typeface="Arial Unicode MS" charset="0"/>
            </a:endParaRPr>
          </a:p>
          <a:p>
            <a:pPr fontAlgn="base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400" b="1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rPr>
              <a:t>Raffael Kalisch</a:t>
            </a:r>
          </a:p>
          <a:p>
            <a:pPr fontAlgn="base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endParaRPr lang="de-DE" sz="1400" dirty="0">
              <a:solidFill>
                <a:srgbClr val="000000"/>
              </a:solidFill>
              <a:latin typeface="Arial" charset="0"/>
              <a:ea typeface="ＭＳ Ｐゴシック" charset="0"/>
              <a:cs typeface="Arial Unicode MS" charset="0"/>
            </a:endParaRPr>
          </a:p>
          <a:p>
            <a:pPr fontAlgn="base">
              <a:lnSpc>
                <a:spcPts val="1200"/>
              </a:lnSpc>
              <a:spcBef>
                <a:spcPct val="0"/>
              </a:spcBef>
              <a:spcAft>
                <a:spcPct val="0"/>
              </a:spcAft>
            </a:pPr>
            <a:r>
              <a:rPr lang="de-DE" sz="14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rPr>
              <a:t>Leibniz Institute </a:t>
            </a:r>
            <a:r>
              <a:rPr lang="de-DE" sz="1400" dirty="0" err="1"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rPr>
              <a:t>for</a:t>
            </a:r>
            <a:r>
              <a:rPr lang="de-DE" sz="1400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 Unicode MS" charset="0"/>
              </a:rPr>
              <a:t> Resilience Research (LIR), Mainz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sz="1400" dirty="0">
              <a:solidFill>
                <a:srgbClr val="000000"/>
              </a:solidFill>
              <a:latin typeface="Arial" charset="0"/>
              <a:ea typeface="ＭＳ Ｐゴシック" charset="0"/>
              <a:cs typeface="Arial Unicode MS" charset="0"/>
            </a:endParaRPr>
          </a:p>
          <a:p>
            <a:r>
              <a:rPr lang="de-DE" sz="1400" dirty="0">
                <a:latin typeface="Arial"/>
                <a:cs typeface="Arial"/>
              </a:rPr>
              <a:t>Neuroimaging Center (NIC), Focus </a:t>
            </a:r>
            <a:r>
              <a:rPr lang="de-DE" sz="1400" dirty="0" err="1">
                <a:latin typeface="Arial"/>
                <a:cs typeface="Arial"/>
              </a:rPr>
              <a:t>Program</a:t>
            </a:r>
            <a:r>
              <a:rPr lang="de-DE" sz="1400" dirty="0">
                <a:latin typeface="Arial"/>
                <a:cs typeface="Arial"/>
              </a:rPr>
              <a:t> Translational Neuroscience (FTN), Johannes Gutenberg University Medical Center Mainz</a:t>
            </a:r>
          </a:p>
          <a:p>
            <a:endParaRPr lang="de-DE" sz="1400" dirty="0">
              <a:latin typeface="Arial"/>
              <a:cs typeface="Arial"/>
            </a:endParaRPr>
          </a:p>
          <a:p>
            <a:r>
              <a:rPr lang="de-DE" sz="1400" dirty="0">
                <a:latin typeface="Arial"/>
                <a:cs typeface="Arial"/>
              </a:rPr>
              <a:t>International Resilience Alliance (intresa.org)</a:t>
            </a:r>
          </a:p>
          <a:p>
            <a:pPr fontAlgn="base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endParaRPr lang="de-DE" sz="1400" dirty="0">
              <a:solidFill>
                <a:srgbClr val="000000"/>
              </a:solidFill>
              <a:latin typeface="Arial" charset="0"/>
              <a:ea typeface="ＭＳ Ｐゴシック" charset="0"/>
              <a:cs typeface="Arial Unicode MS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sz="1600" dirty="0">
              <a:solidFill>
                <a:srgbClr val="000000"/>
              </a:solidFill>
              <a:latin typeface="Arial" charset="0"/>
              <a:ea typeface="ＭＳ Ｐゴシック" charset="0"/>
              <a:cs typeface="Arial Unicode MS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sz="2000" dirty="0">
              <a:solidFill>
                <a:srgbClr val="000000"/>
              </a:solidFill>
              <a:latin typeface="Arial" charset="0"/>
              <a:ea typeface="ＭＳ Ｐゴシック" charset="0"/>
              <a:cs typeface="Arial Unicode MS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sz="1600" dirty="0">
              <a:latin typeface="Arial"/>
              <a:ea typeface="Times New Roman"/>
              <a:cs typeface="Arial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sz="1600" dirty="0">
              <a:latin typeface="Arial"/>
              <a:ea typeface="Times New Roman"/>
              <a:cs typeface="Arial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sz="1600" dirty="0">
              <a:latin typeface="Arial"/>
              <a:ea typeface="Times New Roman"/>
              <a:cs typeface="Arial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sz="1600" dirty="0">
              <a:latin typeface="Arial"/>
              <a:ea typeface="Times New Roman"/>
              <a:cs typeface="Arial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de-DE" b="1" dirty="0">
              <a:latin typeface="Arial"/>
              <a:ea typeface="Times New Roman"/>
              <a:cs typeface="Arial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US" sz="1400" dirty="0">
              <a:solidFill>
                <a:srgbClr val="000000"/>
              </a:solidFill>
              <a:latin typeface="Arial" charset="0"/>
              <a:ea typeface="Arial Unicode MS" charset="0"/>
              <a:cs typeface="ＭＳ Ｐゴシック" charset="0"/>
            </a:endParaRPr>
          </a:p>
          <a:p>
            <a:endParaRPr lang="de-DE" sz="2200" b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Tx/>
              <a:buChar char="-"/>
            </a:pPr>
            <a:endParaRPr lang="de-DE" sz="2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 Box 13"/>
          <p:cNvSpPr txBox="1">
            <a:spLocks noChangeArrowheads="1"/>
          </p:cNvSpPr>
          <p:nvPr/>
        </p:nvSpPr>
        <p:spPr bwMode="auto">
          <a:xfrm>
            <a:off x="323527" y="1483121"/>
            <a:ext cx="10300686" cy="1723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dirty="0">
                <a:latin typeface="Arial" pitchFamily="34" charset="0"/>
                <a:cs typeface="Times New Roman" pitchFamily="18" charset="0"/>
              </a:rPr>
              <a:t>Introduction and rationale: </a:t>
            </a:r>
          </a:p>
          <a:p>
            <a:r>
              <a:rPr lang="en-US" sz="2400" b="1" dirty="0">
                <a:latin typeface="Arial" pitchFamily="34" charset="0"/>
                <a:cs typeface="Times New Roman" pitchFamily="18" charset="0"/>
              </a:rPr>
              <a:t>Resilience quantification approaches in general </a:t>
            </a:r>
          </a:p>
          <a:p>
            <a:r>
              <a:rPr lang="en-US" sz="2400" b="1" dirty="0">
                <a:latin typeface="Arial" pitchFamily="34" charset="0"/>
                <a:cs typeface="Times New Roman" pitchFamily="18" charset="0"/>
              </a:rPr>
              <a:t>and residual-based methods in particular </a:t>
            </a:r>
            <a:endParaRPr lang="de-DE" sz="2400" b="1" dirty="0">
              <a:latin typeface="Arial" pitchFamily="34" charset="0"/>
              <a:cs typeface="Times New Roman" pitchFamily="18" charset="0"/>
            </a:endParaRPr>
          </a:p>
          <a:p>
            <a:endParaRPr lang="de-DE" sz="2600" b="1" dirty="0">
              <a:latin typeface="Arial" pitchFamily="34" charset="0"/>
              <a:cs typeface="Times New Roman" pitchFamily="18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BD01415-D8D3-44EB-A695-DF60C6B42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63" y="5957417"/>
            <a:ext cx="2129121" cy="802679"/>
          </a:xfrm>
          <a:prstGeom prst="rect">
            <a:avLst/>
          </a:prstGeom>
        </p:spPr>
      </p:pic>
      <p:pic>
        <p:nvPicPr>
          <p:cNvPr id="10" name="Bild 14" descr="Logo_NIC.jpg">
            <a:extLst>
              <a:ext uri="{FF2B5EF4-FFF2-40B4-BE49-F238E27FC236}">
                <a16:creationId xmlns:a16="http://schemas.microsoft.com/office/drawing/2014/main" id="{8B6030DC-7B3C-4211-B9ED-739C9E8F3B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09" r="1"/>
          <a:stretch/>
        </p:blipFill>
        <p:spPr>
          <a:xfrm>
            <a:off x="2494895" y="6179425"/>
            <a:ext cx="2006698" cy="384601"/>
          </a:xfrm>
          <a:prstGeom prst="rect">
            <a:avLst/>
          </a:prstGeom>
        </p:spPr>
      </p:pic>
      <p:pic>
        <p:nvPicPr>
          <p:cNvPr id="11" name="Bild 16" descr="JGU_Uni_medizin_Logo_4c.ps">
            <a:extLst>
              <a:ext uri="{FF2B5EF4-FFF2-40B4-BE49-F238E27FC236}">
                <a16:creationId xmlns:a16="http://schemas.microsoft.com/office/drawing/2014/main" id="{3A0E6533-D11B-450E-AF2F-CF2E796FE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769" y="6233042"/>
            <a:ext cx="2215693" cy="33529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D45AD35-3A88-3F0F-1380-B295544C8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954" y="6116330"/>
            <a:ext cx="1618291" cy="55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6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Funding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pic>
        <p:nvPicPr>
          <p:cNvPr id="25" name="Bild 9" descr="RLP.png">
            <a:extLst>
              <a:ext uri="{FF2B5EF4-FFF2-40B4-BE49-F238E27FC236}">
                <a16:creationId xmlns:a16="http://schemas.microsoft.com/office/drawing/2014/main" id="{512B0B3F-9FFB-2EEE-DB49-913DAEB28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243" y="2703256"/>
            <a:ext cx="566728" cy="695149"/>
          </a:xfrm>
          <a:prstGeom prst="rect">
            <a:avLst/>
          </a:prstGeom>
        </p:spPr>
      </p:pic>
      <p:pic>
        <p:nvPicPr>
          <p:cNvPr id="26" name="Bild 16" descr="JGU_Uni_medizin_Logo_4c.ps">
            <a:extLst>
              <a:ext uri="{FF2B5EF4-FFF2-40B4-BE49-F238E27FC236}">
                <a16:creationId xmlns:a16="http://schemas.microsoft.com/office/drawing/2014/main" id="{179A7041-EFF6-4BD3-0E4D-A8241E2669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001" y="3781520"/>
            <a:ext cx="3892391" cy="58903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EE900DA-E6C8-3A1D-36A7-FA26B87F6A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813" y="3638973"/>
            <a:ext cx="1959320" cy="738664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09982913-1596-969A-7F54-92C0F81E4635}"/>
              </a:ext>
            </a:extLst>
          </p:cNvPr>
          <p:cNvSpPr txBox="1"/>
          <p:nvPr/>
        </p:nvSpPr>
        <p:spPr>
          <a:xfrm>
            <a:off x="5882091" y="2703256"/>
            <a:ext cx="2019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State of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Rhineland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-Palatinate</a:t>
            </a:r>
          </a:p>
        </p:txBody>
      </p:sp>
      <p:pic>
        <p:nvPicPr>
          <p:cNvPr id="29" name="Bild 4" descr="Unknown.png">
            <a:extLst>
              <a:ext uri="{FF2B5EF4-FFF2-40B4-BE49-F238E27FC236}">
                <a16:creationId xmlns:a16="http://schemas.microsoft.com/office/drawing/2014/main" id="{701C1177-6C6C-E2DF-C5B6-823B139201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239" y="1669496"/>
            <a:ext cx="1931260" cy="677724"/>
          </a:xfrm>
          <a:prstGeom prst="rect">
            <a:avLst/>
          </a:prstGeom>
        </p:spPr>
      </p:pic>
      <p:pic>
        <p:nvPicPr>
          <p:cNvPr id="30" name="Bild 8" descr="BI Stiftung Logo, blau, RGB 300 dpi WEBSITES.jpg">
            <a:extLst>
              <a:ext uri="{FF2B5EF4-FFF2-40B4-BE49-F238E27FC236}">
                <a16:creationId xmlns:a16="http://schemas.microsoft.com/office/drawing/2014/main" id="{34668326-C1ED-8521-6973-6B45EBFC58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372" y="2773952"/>
            <a:ext cx="3016274" cy="624453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E465EBA4-DE2E-127B-1918-B9F64E6369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6723" y="1707496"/>
            <a:ext cx="900477" cy="600318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AEFAE873-934F-620C-AEB2-81C265A6393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9110" b="37954"/>
          <a:stretch/>
        </p:blipFill>
        <p:spPr>
          <a:xfrm>
            <a:off x="4631505" y="1541191"/>
            <a:ext cx="3809524" cy="87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19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Thanks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826918" y="972717"/>
            <a:ext cx="1741182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u="sng" dirty="0">
                <a:latin typeface="Arial"/>
                <a:cs typeface="Arial"/>
              </a:rPr>
              <a:t>Group </a:t>
            </a:r>
            <a:r>
              <a:rPr lang="de-DE" sz="1200" u="sng" dirty="0" err="1">
                <a:latin typeface="Arial"/>
                <a:cs typeface="Arial"/>
              </a:rPr>
              <a:t>members</a:t>
            </a:r>
            <a:r>
              <a:rPr lang="de-DE" sz="1200" u="sng" dirty="0">
                <a:latin typeface="Arial"/>
                <a:cs typeface="Arial"/>
              </a:rPr>
              <a:t>:</a:t>
            </a:r>
          </a:p>
          <a:p>
            <a:endParaRPr lang="de-DE" sz="1200" dirty="0">
              <a:latin typeface="Arial"/>
              <a:cs typeface="Arial"/>
            </a:endParaRPr>
          </a:p>
          <a:p>
            <a:r>
              <a:rPr lang="de-DE" sz="1200" b="1" dirty="0">
                <a:latin typeface="Arial"/>
                <a:cs typeface="Arial"/>
              </a:rPr>
              <a:t>Kenneth SL Yuen</a:t>
            </a:r>
          </a:p>
          <a:p>
            <a:r>
              <a:rPr lang="de-DE" sz="1200" dirty="0">
                <a:latin typeface="Arial"/>
                <a:cs typeface="Arial"/>
              </a:rPr>
              <a:t>Benjamin Meyer</a:t>
            </a:r>
          </a:p>
          <a:p>
            <a:r>
              <a:rPr lang="de-DE" sz="1200" dirty="0">
                <a:latin typeface="Arial"/>
                <a:cs typeface="Arial"/>
              </a:rPr>
              <a:t>Elena Andres</a:t>
            </a:r>
          </a:p>
          <a:p>
            <a:r>
              <a:rPr lang="de-DE" sz="1200" dirty="0">
                <a:latin typeface="Arial"/>
                <a:cs typeface="Arial"/>
              </a:rPr>
              <a:t>Maximilian Lückel</a:t>
            </a:r>
          </a:p>
          <a:p>
            <a:r>
              <a:rPr lang="de-DE" sz="1200" b="1" dirty="0">
                <a:latin typeface="Arial"/>
                <a:cs typeface="Arial"/>
              </a:rPr>
              <a:t>Papoula Petri-Romão</a:t>
            </a:r>
          </a:p>
          <a:p>
            <a:r>
              <a:rPr lang="en-GB" sz="1200" b="1" dirty="0">
                <a:latin typeface="Arial"/>
                <a:cs typeface="Arial"/>
              </a:rPr>
              <a:t>Matthias Zerban</a:t>
            </a:r>
            <a:endParaRPr lang="de-DE" sz="1200" b="1" dirty="0">
              <a:latin typeface="Arial"/>
              <a:cs typeface="Arial"/>
            </a:endParaRPr>
          </a:p>
          <a:p>
            <a:r>
              <a:rPr lang="en-GB" sz="1200" b="1" dirty="0">
                <a:latin typeface="Arial"/>
                <a:cs typeface="Arial"/>
              </a:rPr>
              <a:t>Lara Puhlmann</a:t>
            </a:r>
          </a:p>
          <a:p>
            <a:r>
              <a:rPr lang="en-GB" sz="1200" dirty="0" err="1">
                <a:latin typeface="Arial"/>
                <a:cs typeface="Arial"/>
              </a:rPr>
              <a:t>Frédérique</a:t>
            </a:r>
            <a:r>
              <a:rPr lang="en-GB" sz="1200" dirty="0">
                <a:latin typeface="Arial"/>
                <a:cs typeface="Arial"/>
              </a:rPr>
              <a:t> Maas</a:t>
            </a:r>
          </a:p>
          <a:p>
            <a:endParaRPr lang="en-GB" sz="1200" b="1" dirty="0">
              <a:latin typeface="Arial"/>
              <a:cs typeface="Arial"/>
            </a:endParaRPr>
          </a:p>
          <a:p>
            <a:r>
              <a:rPr lang="de-DE" sz="1200" u="sng" dirty="0" err="1">
                <a:latin typeface="Arial"/>
                <a:cs typeface="Arial"/>
              </a:rPr>
              <a:t>Collaborators</a:t>
            </a:r>
            <a:r>
              <a:rPr lang="de-DE" sz="1200" u="sng" dirty="0">
                <a:latin typeface="Arial"/>
                <a:cs typeface="Arial"/>
              </a:rPr>
              <a:t>:</a:t>
            </a:r>
          </a:p>
          <a:p>
            <a:endParaRPr lang="de-DE" sz="1200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Mainz:</a:t>
            </a:r>
            <a:br>
              <a:rPr lang="de-DE" sz="1200" b="1" dirty="0">
                <a:latin typeface="Arial"/>
                <a:cs typeface="Arial"/>
              </a:rPr>
            </a:br>
            <a:r>
              <a:rPr lang="de-DE" sz="1200" dirty="0">
                <a:latin typeface="Arial"/>
                <a:cs typeface="Arial"/>
              </a:rPr>
              <a:t>Marianne Müller</a:t>
            </a:r>
          </a:p>
          <a:p>
            <a:r>
              <a:rPr lang="de-DE" sz="1200" dirty="0">
                <a:latin typeface="Arial"/>
                <a:cs typeface="Arial"/>
              </a:rPr>
              <a:t>Sarah Ayash</a:t>
            </a:r>
          </a:p>
          <a:p>
            <a:r>
              <a:rPr lang="de-DE" sz="1200" b="1" dirty="0">
                <a:latin typeface="Arial"/>
                <a:cs typeface="Arial"/>
              </a:rPr>
              <a:t>Oliver Tüscher</a:t>
            </a:r>
          </a:p>
          <a:p>
            <a:r>
              <a:rPr lang="de-DE" sz="1200" dirty="0">
                <a:latin typeface="Arial"/>
                <a:cs typeface="Arial"/>
              </a:rPr>
              <a:t>Til Ole Bergmann</a:t>
            </a:r>
          </a:p>
          <a:p>
            <a:r>
              <a:rPr lang="de-DE" sz="1200" b="1" dirty="0">
                <a:latin typeface="Arial"/>
                <a:cs typeface="Arial"/>
              </a:rPr>
              <a:t>Alexandra Sebastian</a:t>
            </a:r>
          </a:p>
          <a:p>
            <a:r>
              <a:rPr lang="de-DE" sz="1200" b="1" dirty="0">
                <a:latin typeface="Arial"/>
                <a:cs typeface="Arial"/>
              </a:rPr>
              <a:t>Bianca Kollmann</a:t>
            </a:r>
          </a:p>
          <a:p>
            <a:r>
              <a:rPr lang="en-GB" sz="1200" dirty="0">
                <a:latin typeface="Arial"/>
                <a:cs typeface="Arial"/>
              </a:rPr>
              <a:t>Albrecht Stroh</a:t>
            </a:r>
          </a:p>
          <a:p>
            <a:r>
              <a:rPr lang="de-DE" sz="1200" b="1" dirty="0">
                <a:latin typeface="Arial"/>
                <a:cs typeface="Arial"/>
              </a:rPr>
              <a:t>Michèle Wessa</a:t>
            </a:r>
          </a:p>
          <a:p>
            <a:r>
              <a:rPr lang="de-DE" sz="1200" b="1" dirty="0">
                <a:latin typeface="Arial"/>
                <a:cs typeface="Arial"/>
              </a:rPr>
              <a:t>Klaus Lieb</a:t>
            </a:r>
          </a:p>
          <a:p>
            <a:r>
              <a:rPr lang="en-GB" sz="1200" dirty="0">
                <a:latin typeface="Arial"/>
                <a:cs typeface="Arial"/>
              </a:rPr>
              <a:t>Beat Lutz</a:t>
            </a:r>
          </a:p>
          <a:p>
            <a:r>
              <a:rPr lang="en-GB" sz="1200" dirty="0">
                <a:latin typeface="Arial"/>
                <a:cs typeface="Arial"/>
              </a:rPr>
              <a:t>Susann Schweiger</a:t>
            </a:r>
          </a:p>
          <a:p>
            <a:endParaRPr lang="de-DE" sz="1200" b="1" dirty="0">
              <a:latin typeface="Arial"/>
              <a:cs typeface="Arial"/>
            </a:endParaRPr>
          </a:p>
          <a:p>
            <a:r>
              <a:rPr lang="en-GB" sz="1200" i="1" dirty="0">
                <a:latin typeface="Arial"/>
                <a:cs typeface="Arial"/>
              </a:rPr>
              <a:t>Amsterdam:</a:t>
            </a:r>
          </a:p>
          <a:p>
            <a:r>
              <a:rPr lang="en-GB" sz="1200" b="1" dirty="0">
                <a:latin typeface="Arial"/>
                <a:cs typeface="Arial"/>
              </a:rPr>
              <a:t>Marit Sijbrandij</a:t>
            </a:r>
          </a:p>
          <a:p>
            <a:r>
              <a:rPr lang="en-GB" sz="1200" b="1" dirty="0">
                <a:latin typeface="Arial"/>
                <a:cs typeface="Arial"/>
              </a:rPr>
              <a:t>Ilya Veer</a:t>
            </a:r>
          </a:p>
          <a:p>
            <a:endParaRPr lang="de-DE" sz="1200" b="1" dirty="0">
              <a:latin typeface="Arial"/>
              <a:cs typeface="Arial"/>
            </a:endParaRPr>
          </a:p>
          <a:p>
            <a:endParaRPr lang="de-DE" sz="1200" dirty="0">
              <a:latin typeface="Arial"/>
              <a:cs typeface="Arial"/>
            </a:endParaRPr>
          </a:p>
          <a:p>
            <a:endParaRPr lang="de-DE" sz="1200" dirty="0">
              <a:latin typeface="Arial"/>
              <a:cs typeface="Arial"/>
            </a:endParaRPr>
          </a:p>
          <a:p>
            <a:endParaRPr lang="de-DE" sz="1200" b="1" dirty="0">
              <a:latin typeface="Arial"/>
              <a:cs typeface="Arial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2762757" y="984621"/>
            <a:ext cx="1836465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latin typeface="Arial"/>
                <a:cs typeface="Arial"/>
              </a:rPr>
              <a:t>Barcelona:</a:t>
            </a:r>
          </a:p>
          <a:p>
            <a:r>
              <a:rPr lang="en-GB" sz="1200" b="1" dirty="0">
                <a:latin typeface="Arial"/>
                <a:cs typeface="Arial"/>
              </a:rPr>
              <a:t>Josep Maria Haro</a:t>
            </a:r>
          </a:p>
          <a:p>
            <a:r>
              <a:rPr lang="pt-BR" sz="1200" b="1" dirty="0">
                <a:latin typeface="Arial"/>
                <a:cs typeface="Arial"/>
              </a:rPr>
              <a:t>Mireia Félez Nóbrega</a:t>
            </a:r>
            <a:endParaRPr lang="en-GB" sz="1200" b="1" dirty="0">
              <a:latin typeface="Arial"/>
              <a:cs typeface="Arial"/>
            </a:endParaRPr>
          </a:p>
          <a:p>
            <a:endParaRPr lang="en-GB" sz="1200" i="1" dirty="0">
              <a:latin typeface="Arial"/>
              <a:cs typeface="Arial"/>
            </a:endParaRPr>
          </a:p>
          <a:p>
            <a:r>
              <a:rPr lang="en-GB" sz="1200" i="1" dirty="0">
                <a:latin typeface="Arial"/>
                <a:cs typeface="Arial"/>
              </a:rPr>
              <a:t>Berlin:</a:t>
            </a:r>
          </a:p>
          <a:p>
            <a:r>
              <a:rPr lang="en-GB" sz="1200" dirty="0">
                <a:latin typeface="Arial"/>
                <a:cs typeface="Arial"/>
              </a:rPr>
              <a:t>Zala Reppmann</a:t>
            </a:r>
          </a:p>
          <a:p>
            <a:r>
              <a:rPr lang="en-GB" sz="1200" dirty="0">
                <a:latin typeface="Arial"/>
                <a:cs typeface="Arial"/>
              </a:rPr>
              <a:t>Antje Riepenhausen</a:t>
            </a:r>
            <a:endParaRPr lang="de-DE" sz="1200" dirty="0">
              <a:latin typeface="Arial"/>
              <a:cs typeface="Arial"/>
            </a:endParaRPr>
          </a:p>
          <a:p>
            <a:r>
              <a:rPr lang="en-GB" sz="1200" b="1" dirty="0">
                <a:latin typeface="Arial"/>
                <a:cs typeface="Arial"/>
              </a:rPr>
              <a:t>Caroline Wackerhagen</a:t>
            </a:r>
          </a:p>
          <a:p>
            <a:r>
              <a:rPr lang="en-GB" sz="1200" b="1" dirty="0">
                <a:latin typeface="Arial"/>
                <a:cs typeface="Arial"/>
              </a:rPr>
              <a:t>Henrik Walter</a:t>
            </a:r>
          </a:p>
          <a:p>
            <a:endParaRPr lang="de-DE" sz="1200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Esslingen:</a:t>
            </a:r>
          </a:p>
          <a:p>
            <a:r>
              <a:rPr lang="de-DE" sz="1200" dirty="0">
                <a:latin typeface="Arial"/>
                <a:cs typeface="Arial"/>
              </a:rPr>
              <a:t>Andrea </a:t>
            </a:r>
            <a:r>
              <a:rPr lang="de-DE" sz="1200" dirty="0" err="1">
                <a:latin typeface="Arial"/>
                <a:cs typeface="Arial"/>
              </a:rPr>
              <a:t>Chmitorz</a:t>
            </a:r>
            <a:endParaRPr lang="de-DE" sz="1200" dirty="0">
              <a:latin typeface="Arial"/>
              <a:cs typeface="Arial"/>
            </a:endParaRPr>
          </a:p>
          <a:p>
            <a:endParaRPr lang="de-DE" sz="1200" i="1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Frankfurt:</a:t>
            </a:r>
          </a:p>
          <a:p>
            <a:r>
              <a:rPr lang="de-DE" sz="1200" dirty="0">
                <a:solidFill>
                  <a:prstClr val="black"/>
                </a:solidFill>
                <a:latin typeface="Arial"/>
                <a:cs typeface="Arial"/>
              </a:rPr>
              <a:t>Ximena Salinas-Her-</a:t>
            </a:r>
          </a:p>
          <a:p>
            <a:r>
              <a:rPr lang="de-DE" sz="120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lang="de-DE" sz="1200" dirty="0" err="1">
                <a:solidFill>
                  <a:prstClr val="black"/>
                </a:solidFill>
                <a:latin typeface="Arial"/>
                <a:cs typeface="Arial"/>
              </a:rPr>
              <a:t>nández</a:t>
            </a:r>
            <a:endParaRPr lang="de-DE" sz="1200" dirty="0">
              <a:latin typeface="Arial"/>
              <a:cs typeface="Arial"/>
            </a:endParaRPr>
          </a:p>
          <a:p>
            <a:r>
              <a:rPr lang="de-DE" sz="1200" dirty="0">
                <a:latin typeface="Arial"/>
                <a:cs typeface="Arial"/>
              </a:rPr>
              <a:t>Sevil Duvarci</a:t>
            </a:r>
          </a:p>
          <a:p>
            <a:r>
              <a:rPr lang="de-DE" sz="1200" b="1" dirty="0">
                <a:latin typeface="Arial"/>
                <a:cs typeface="Arial"/>
              </a:rPr>
              <a:t>Kira Ahrens</a:t>
            </a:r>
          </a:p>
          <a:p>
            <a:r>
              <a:rPr lang="de-DE" sz="1200" b="1" dirty="0">
                <a:latin typeface="Arial"/>
                <a:cs typeface="Arial"/>
              </a:rPr>
              <a:t>Charlotte Schenk</a:t>
            </a:r>
          </a:p>
          <a:p>
            <a:pPr lvl="0"/>
            <a:r>
              <a:rPr lang="de-DE" sz="1200" b="1" dirty="0">
                <a:solidFill>
                  <a:prstClr val="black"/>
                </a:solidFill>
                <a:latin typeface="Arial"/>
                <a:cs typeface="Arial"/>
              </a:rPr>
              <a:t>Michael Plichta</a:t>
            </a:r>
          </a:p>
          <a:p>
            <a:pPr lvl="0"/>
            <a:r>
              <a:rPr lang="de-DE" sz="1200" b="1" dirty="0">
                <a:solidFill>
                  <a:prstClr val="black"/>
                </a:solidFill>
                <a:latin typeface="Arial"/>
                <a:cs typeface="Arial"/>
              </a:rPr>
              <a:t>Andreas Reif</a:t>
            </a:r>
          </a:p>
          <a:p>
            <a:r>
              <a:rPr lang="de-DE" sz="1200" dirty="0">
                <a:solidFill>
                  <a:prstClr val="black"/>
                </a:solidFill>
                <a:latin typeface="Arial"/>
                <a:cs typeface="Arial"/>
              </a:rPr>
              <a:t>Christian Fiebach</a:t>
            </a:r>
            <a:endParaRPr lang="de-DE" sz="1200" b="1" dirty="0">
              <a:latin typeface="Arial"/>
              <a:cs typeface="Arial"/>
            </a:endParaRPr>
          </a:p>
          <a:p>
            <a:pPr lvl="0"/>
            <a:r>
              <a:rPr lang="de-DE" sz="1200" dirty="0">
                <a:solidFill>
                  <a:prstClr val="black"/>
                </a:solidFill>
                <a:latin typeface="Arial"/>
                <a:cs typeface="Arial"/>
              </a:rPr>
              <a:t>Rebecca Neumann</a:t>
            </a:r>
          </a:p>
          <a:p>
            <a:endParaRPr lang="de-DE" sz="1200" i="1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Freiburg:</a:t>
            </a:r>
          </a:p>
          <a:p>
            <a:r>
              <a:rPr lang="de-DE" sz="1200" dirty="0">
                <a:latin typeface="Arial"/>
                <a:cs typeface="Arial"/>
              </a:rPr>
              <a:t>Harald Binder</a:t>
            </a:r>
          </a:p>
          <a:p>
            <a:r>
              <a:rPr lang="de-DE" sz="1200" dirty="0">
                <a:latin typeface="Arial"/>
                <a:cs typeface="Arial"/>
              </a:rPr>
              <a:t>Göran Köber</a:t>
            </a:r>
          </a:p>
          <a:p>
            <a:r>
              <a:rPr lang="de-DE" sz="1200" dirty="0">
                <a:latin typeface="Arial"/>
                <a:cs typeface="Arial"/>
              </a:rPr>
              <a:t>Shakoor Pooseh</a:t>
            </a:r>
          </a:p>
          <a:p>
            <a:r>
              <a:rPr lang="de-DE" sz="1200" dirty="0">
                <a:latin typeface="Arial"/>
                <a:cs typeface="Arial"/>
              </a:rPr>
              <a:t>Jens Timmer</a:t>
            </a:r>
          </a:p>
          <a:p>
            <a:endParaRPr lang="de-DE" sz="1200" i="1" dirty="0">
              <a:latin typeface="Arial"/>
              <a:cs typeface="Arial"/>
            </a:endParaRPr>
          </a:p>
          <a:p>
            <a:endParaRPr lang="de-DE" sz="1200" b="1" dirty="0">
              <a:latin typeface="Arial"/>
              <a:cs typeface="Arial"/>
            </a:endParaRPr>
          </a:p>
          <a:p>
            <a:pPr lvl="0"/>
            <a:endParaRPr lang="de-DE" sz="1200" b="1" dirty="0">
              <a:solidFill>
                <a:prstClr val="black"/>
              </a:solidFill>
              <a:latin typeface="Arial"/>
              <a:cs typeface="Arial"/>
            </a:endParaRPr>
          </a:p>
          <a:p>
            <a:endParaRPr lang="de-DE" sz="1200" i="1" dirty="0">
              <a:latin typeface="Arial"/>
              <a:cs typeface="Arial"/>
            </a:endParaRPr>
          </a:p>
          <a:p>
            <a:pPr lvl="0"/>
            <a:endParaRPr lang="de-DE" sz="1200" b="1" dirty="0">
              <a:solidFill>
                <a:prstClr val="black"/>
              </a:solidFill>
              <a:latin typeface="Arial"/>
              <a:cs typeface="Arial"/>
            </a:endParaRPr>
          </a:p>
          <a:p>
            <a:pPr lvl="0"/>
            <a:endParaRPr lang="de-DE" sz="1200" b="1" dirty="0">
              <a:solidFill>
                <a:prstClr val="black"/>
              </a:solidFill>
              <a:latin typeface="Arial"/>
              <a:cs typeface="Arial"/>
            </a:endParaRPr>
          </a:p>
          <a:p>
            <a:endParaRPr lang="de-DE" sz="1200" dirty="0">
              <a:latin typeface="Arial"/>
              <a:cs typeface="Arial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4791931" y="972717"/>
            <a:ext cx="2089033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>
                <a:latin typeface="Arial"/>
                <a:cs typeface="Arial"/>
              </a:rPr>
              <a:t>Landau:</a:t>
            </a:r>
          </a:p>
          <a:p>
            <a:r>
              <a:rPr lang="de-DE" sz="1200" dirty="0">
                <a:latin typeface="Arial"/>
                <a:cs typeface="Arial"/>
              </a:rPr>
              <a:t>Ulrike Basten</a:t>
            </a:r>
          </a:p>
          <a:p>
            <a:endParaRPr lang="de-DE" sz="1200" i="1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Leiden:</a:t>
            </a:r>
          </a:p>
          <a:p>
            <a:r>
              <a:rPr lang="de-DE" sz="1200" b="1" dirty="0">
                <a:latin typeface="Arial"/>
                <a:cs typeface="Arial"/>
              </a:rPr>
              <a:t>Anne-Laura van Harmelen</a:t>
            </a:r>
          </a:p>
          <a:p>
            <a:endParaRPr lang="de-DE" sz="1200" i="1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Leuven:</a:t>
            </a:r>
          </a:p>
          <a:p>
            <a:r>
              <a:rPr lang="de-DE" sz="1200" b="1" dirty="0">
                <a:latin typeface="Arial"/>
                <a:cs typeface="Arial"/>
              </a:rPr>
              <a:t>Inez </a:t>
            </a:r>
            <a:r>
              <a:rPr lang="de-DE" sz="1200" b="1" dirty="0" err="1">
                <a:latin typeface="Arial"/>
                <a:cs typeface="Arial"/>
              </a:rPr>
              <a:t>Myin</a:t>
            </a:r>
            <a:r>
              <a:rPr lang="de-DE" sz="1200" b="1" dirty="0">
                <a:latin typeface="Arial"/>
                <a:cs typeface="Arial"/>
              </a:rPr>
              <a:t>-Germeys</a:t>
            </a:r>
          </a:p>
          <a:p>
            <a:r>
              <a:rPr lang="de-DE" sz="1200" dirty="0">
                <a:latin typeface="Arial"/>
                <a:cs typeface="Arial"/>
              </a:rPr>
              <a:t>Jeroen </a:t>
            </a:r>
            <a:r>
              <a:rPr lang="de-DE" sz="1200" dirty="0" err="1">
                <a:latin typeface="Arial"/>
                <a:cs typeface="Arial"/>
              </a:rPr>
              <a:t>Weermeijer</a:t>
            </a:r>
            <a:endParaRPr lang="de-DE" sz="1200" dirty="0">
              <a:latin typeface="Arial"/>
              <a:cs typeface="Arial"/>
            </a:endParaRPr>
          </a:p>
          <a:p>
            <a:endParaRPr lang="en-GB" sz="1200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Mannheim:</a:t>
            </a:r>
          </a:p>
          <a:p>
            <a:r>
              <a:rPr lang="de-DE" sz="1200" dirty="0">
                <a:latin typeface="Arial"/>
                <a:cs typeface="Arial"/>
              </a:rPr>
              <a:t>Anita Schick</a:t>
            </a:r>
          </a:p>
          <a:p>
            <a:endParaRPr lang="de-DE" sz="1200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Madrid:</a:t>
            </a:r>
          </a:p>
          <a:p>
            <a:r>
              <a:rPr lang="de-DE" sz="1200" b="1" dirty="0">
                <a:latin typeface="Arial"/>
                <a:cs typeface="Arial"/>
              </a:rPr>
              <a:t>Roberto Mediavilla</a:t>
            </a:r>
          </a:p>
          <a:p>
            <a:r>
              <a:rPr lang="de-DE" sz="1200" b="1" dirty="0" err="1">
                <a:latin typeface="Arial"/>
                <a:cs typeface="Arial"/>
              </a:rPr>
              <a:t>Joseluis</a:t>
            </a:r>
            <a:r>
              <a:rPr lang="de-DE" sz="1200" b="1" dirty="0">
                <a:latin typeface="Arial"/>
                <a:cs typeface="Arial"/>
              </a:rPr>
              <a:t> Ayuso</a:t>
            </a:r>
          </a:p>
          <a:p>
            <a:endParaRPr lang="de-DE" sz="1200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Nanjing:</a:t>
            </a:r>
          </a:p>
          <a:p>
            <a:r>
              <a:rPr lang="de-DE" sz="1200" dirty="0">
                <a:latin typeface="Arial"/>
                <a:cs typeface="Arial"/>
              </a:rPr>
              <a:t>Chuan-Peng Hu</a:t>
            </a:r>
          </a:p>
          <a:p>
            <a:endParaRPr lang="de-DE" sz="1200" i="1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New York:</a:t>
            </a:r>
          </a:p>
          <a:p>
            <a:r>
              <a:rPr lang="de-DE" sz="1200" dirty="0">
                <a:latin typeface="Arial"/>
                <a:cs typeface="Arial"/>
              </a:rPr>
              <a:t>Katharina Schultebraucks</a:t>
            </a:r>
          </a:p>
          <a:p>
            <a:endParaRPr lang="de-DE" sz="1200" i="1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Nijmegen:</a:t>
            </a:r>
          </a:p>
          <a:p>
            <a:r>
              <a:rPr lang="de-DE" sz="1200" b="1" dirty="0">
                <a:latin typeface="Arial"/>
                <a:cs typeface="Arial"/>
              </a:rPr>
              <a:t>Sophie Bögemann </a:t>
            </a:r>
          </a:p>
          <a:p>
            <a:r>
              <a:rPr lang="de-DE" sz="1200" b="1" dirty="0">
                <a:latin typeface="Arial"/>
                <a:cs typeface="Arial"/>
              </a:rPr>
              <a:t>Erno Hermans</a:t>
            </a:r>
          </a:p>
          <a:p>
            <a:r>
              <a:rPr lang="de-DE" sz="1200" dirty="0" err="1">
                <a:latin typeface="Arial"/>
                <a:cs typeface="Arial"/>
              </a:rPr>
              <a:t>Guillén</a:t>
            </a:r>
            <a:r>
              <a:rPr lang="de-DE" sz="1200" dirty="0">
                <a:latin typeface="Arial"/>
                <a:cs typeface="Arial"/>
              </a:rPr>
              <a:t> Fernández</a:t>
            </a:r>
          </a:p>
          <a:p>
            <a:r>
              <a:rPr lang="de-DE" sz="1200" dirty="0">
                <a:latin typeface="Arial"/>
                <a:cs typeface="Arial"/>
              </a:rPr>
              <a:t>Karin Roelofs</a:t>
            </a:r>
          </a:p>
          <a:p>
            <a:r>
              <a:rPr lang="de-DE" sz="1200" dirty="0">
                <a:latin typeface="Arial"/>
                <a:cs typeface="Arial"/>
              </a:rPr>
              <a:t>Christian Beckmann</a:t>
            </a:r>
          </a:p>
          <a:p>
            <a:r>
              <a:rPr lang="de-DE" sz="1200" dirty="0">
                <a:latin typeface="Arial"/>
                <a:cs typeface="Arial"/>
              </a:rPr>
              <a:t>Emma Sprooten</a:t>
            </a:r>
          </a:p>
          <a:p>
            <a:endParaRPr lang="de-DE" sz="1200" i="1" dirty="0">
              <a:latin typeface="Arial"/>
              <a:cs typeface="Arial"/>
            </a:endParaRPr>
          </a:p>
          <a:p>
            <a:endParaRPr lang="de-DE" sz="1200" dirty="0">
              <a:latin typeface="Arial"/>
              <a:cs typeface="Arial"/>
            </a:endParaRPr>
          </a:p>
          <a:p>
            <a:endParaRPr lang="de-DE" sz="1200" i="1" dirty="0">
              <a:latin typeface="Arial"/>
              <a:cs typeface="Arial"/>
            </a:endParaRPr>
          </a:p>
          <a:p>
            <a:endParaRPr lang="de-DE" sz="1200" i="1" dirty="0">
              <a:latin typeface="Arial"/>
              <a:cs typeface="Arial"/>
            </a:endParaRPr>
          </a:p>
          <a:p>
            <a:endParaRPr lang="de-DE" sz="1200" i="1" dirty="0">
              <a:latin typeface="Arial"/>
              <a:cs typeface="Arial"/>
            </a:endParaRPr>
          </a:p>
          <a:p>
            <a:br>
              <a:rPr lang="de-DE" sz="1200" dirty="0">
                <a:latin typeface="Arial"/>
                <a:cs typeface="Arial"/>
              </a:rPr>
            </a:br>
            <a:endParaRPr lang="de-DE" sz="1200" b="1" dirty="0">
              <a:latin typeface="Arial"/>
              <a:cs typeface="Arial"/>
            </a:endParaRPr>
          </a:p>
          <a:p>
            <a:endParaRPr lang="de-DE" sz="1200" dirty="0">
              <a:latin typeface="Arial"/>
              <a:cs typeface="Arial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6839724" y="956019"/>
            <a:ext cx="1742785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i="1" dirty="0">
                <a:latin typeface="Arial"/>
                <a:cs typeface="Arial"/>
              </a:rPr>
              <a:t>Oslo:</a:t>
            </a:r>
          </a:p>
          <a:p>
            <a:r>
              <a:rPr lang="de-DE" sz="1200" b="1" dirty="0">
                <a:latin typeface="Arial"/>
                <a:cs typeface="Arial"/>
              </a:rPr>
              <a:t>Haakon Engen</a:t>
            </a:r>
          </a:p>
          <a:p>
            <a:endParaRPr lang="de-DE" sz="1200" i="1" dirty="0">
              <a:latin typeface="Arial"/>
              <a:cs typeface="Arial"/>
            </a:endParaRPr>
          </a:p>
          <a:p>
            <a:r>
              <a:rPr lang="de-DE" sz="1200" i="1" dirty="0">
                <a:latin typeface="Arial"/>
                <a:cs typeface="Arial"/>
              </a:rPr>
              <a:t>Riga:</a:t>
            </a:r>
          </a:p>
          <a:p>
            <a:r>
              <a:rPr lang="de-DE" sz="1200" dirty="0">
                <a:latin typeface="Arial"/>
                <a:cs typeface="Arial"/>
              </a:rPr>
              <a:t>Signe Mezinska</a:t>
            </a:r>
          </a:p>
          <a:p>
            <a:r>
              <a:rPr lang="de-DE" sz="1200" dirty="0">
                <a:latin typeface="Arial"/>
                <a:cs typeface="Arial"/>
              </a:rPr>
              <a:t>Mara </a:t>
            </a:r>
            <a:r>
              <a:rPr lang="de-DE" sz="1200" dirty="0" err="1">
                <a:latin typeface="Arial"/>
                <a:cs typeface="Arial"/>
              </a:rPr>
              <a:t>Neikena</a:t>
            </a:r>
            <a:endParaRPr lang="de-DE" sz="1200" dirty="0">
              <a:latin typeface="Arial"/>
              <a:cs typeface="Arial"/>
            </a:endParaRPr>
          </a:p>
          <a:p>
            <a:endParaRPr lang="de-DE" sz="1200" i="1" dirty="0">
              <a:latin typeface="Arial"/>
              <a:cs typeface="Arial"/>
            </a:endParaRPr>
          </a:p>
          <a:p>
            <a:r>
              <a:rPr lang="en-GB" sz="1200" i="1" dirty="0">
                <a:latin typeface="Arial"/>
                <a:cs typeface="Arial"/>
              </a:rPr>
              <a:t>Rotterdam:</a:t>
            </a:r>
          </a:p>
          <a:p>
            <a:r>
              <a:rPr lang="en-GB" sz="1200" dirty="0">
                <a:latin typeface="Arial"/>
                <a:cs typeface="Arial"/>
              </a:rPr>
              <a:t>Marta Marciniak</a:t>
            </a:r>
          </a:p>
          <a:p>
            <a:r>
              <a:rPr lang="en-GB" sz="1200" dirty="0">
                <a:latin typeface="Arial"/>
                <a:cs typeface="Arial"/>
              </a:rPr>
              <a:t>Neeltje van Haren</a:t>
            </a:r>
          </a:p>
          <a:p>
            <a:r>
              <a:rPr lang="en-GB" sz="1200" dirty="0">
                <a:latin typeface="Arial"/>
                <a:cs typeface="Arial"/>
              </a:rPr>
              <a:t>Ryan </a:t>
            </a:r>
            <a:r>
              <a:rPr lang="en-GB" sz="1200" dirty="0" err="1">
                <a:latin typeface="Arial"/>
                <a:cs typeface="Arial"/>
              </a:rPr>
              <a:t>Mützel</a:t>
            </a:r>
            <a:endParaRPr lang="en-GB" sz="1200" dirty="0">
              <a:latin typeface="Arial"/>
              <a:cs typeface="Arial"/>
            </a:endParaRPr>
          </a:p>
          <a:p>
            <a:endParaRPr lang="en-GB" sz="1200" i="1" dirty="0">
              <a:latin typeface="Arial"/>
              <a:cs typeface="Arial"/>
            </a:endParaRPr>
          </a:p>
          <a:p>
            <a:r>
              <a:rPr lang="en-GB" sz="1200" i="1" dirty="0">
                <a:latin typeface="Arial"/>
                <a:cs typeface="Arial"/>
              </a:rPr>
              <a:t>Tel Aviv:</a:t>
            </a:r>
          </a:p>
          <a:p>
            <a:r>
              <a:rPr lang="en-GB" sz="1200" b="1" dirty="0">
                <a:latin typeface="Arial"/>
                <a:cs typeface="Arial"/>
              </a:rPr>
              <a:t>Talma Hendler</a:t>
            </a:r>
          </a:p>
          <a:p>
            <a:r>
              <a:rPr lang="en-GB" sz="1200" dirty="0">
                <a:latin typeface="Arial"/>
                <a:cs typeface="Arial"/>
              </a:rPr>
              <a:t>Netali Mor</a:t>
            </a:r>
          </a:p>
          <a:p>
            <a:r>
              <a:rPr lang="en-GB" sz="1200" dirty="0">
                <a:latin typeface="Arial"/>
                <a:cs typeface="Arial"/>
              </a:rPr>
              <a:t>Sapir Bar</a:t>
            </a:r>
          </a:p>
          <a:p>
            <a:endParaRPr lang="en-GB" sz="1200" i="1" dirty="0">
              <a:latin typeface="Arial"/>
              <a:cs typeface="Arial"/>
            </a:endParaRPr>
          </a:p>
          <a:p>
            <a:r>
              <a:rPr lang="en-GB" sz="1200" i="1" dirty="0">
                <a:latin typeface="Arial"/>
                <a:cs typeface="Arial"/>
              </a:rPr>
              <a:t>Warsaw:</a:t>
            </a:r>
          </a:p>
          <a:p>
            <a:r>
              <a:rPr lang="en-GB" sz="1200" b="1" dirty="0">
                <a:latin typeface="Arial"/>
                <a:cs typeface="Arial"/>
              </a:rPr>
              <a:t>Dorota Kobylinska</a:t>
            </a:r>
          </a:p>
          <a:p>
            <a:r>
              <a:rPr lang="en-GB" sz="1200" dirty="0">
                <a:latin typeface="Arial"/>
                <a:cs typeface="Arial"/>
              </a:rPr>
              <a:t>Julek Mituniewicz</a:t>
            </a:r>
          </a:p>
          <a:p>
            <a:endParaRPr lang="en-GB" sz="1200" dirty="0">
              <a:latin typeface="Arial"/>
              <a:cs typeface="Arial"/>
            </a:endParaRPr>
          </a:p>
          <a:p>
            <a:r>
              <a:rPr lang="de-DE" sz="1200" i="1" dirty="0" err="1">
                <a:latin typeface="Arial"/>
                <a:cs typeface="Arial"/>
              </a:rPr>
              <a:t>Zurich</a:t>
            </a:r>
            <a:r>
              <a:rPr lang="de-DE" sz="1200" i="1" dirty="0">
                <a:latin typeface="Arial"/>
                <a:cs typeface="Arial"/>
              </a:rPr>
              <a:t>:</a:t>
            </a:r>
          </a:p>
          <a:p>
            <a:r>
              <a:rPr lang="de-DE" sz="1200" b="1" dirty="0">
                <a:latin typeface="Arial"/>
                <a:cs typeface="Arial"/>
              </a:rPr>
              <a:t>Birgit Kleim</a:t>
            </a:r>
          </a:p>
          <a:p>
            <a:r>
              <a:rPr lang="de-DE" sz="1200" dirty="0">
                <a:latin typeface="Arial"/>
                <a:cs typeface="Arial"/>
              </a:rPr>
              <a:t>Sebastian Hachenberg</a:t>
            </a:r>
          </a:p>
          <a:p>
            <a:r>
              <a:rPr lang="de-DE" sz="1200" dirty="0">
                <a:latin typeface="Arial"/>
                <a:cs typeface="Arial"/>
              </a:rPr>
              <a:t>Flurin Cathomas</a:t>
            </a:r>
          </a:p>
          <a:p>
            <a:endParaRPr lang="en-GB" sz="1200" dirty="0">
              <a:latin typeface="Arial"/>
              <a:cs typeface="Arial"/>
            </a:endParaRPr>
          </a:p>
          <a:p>
            <a:endParaRPr lang="en-GB" sz="1200" dirty="0">
              <a:latin typeface="Arial"/>
              <a:cs typeface="Arial"/>
            </a:endParaRPr>
          </a:p>
          <a:p>
            <a:endParaRPr lang="de-DE" sz="1200" dirty="0">
              <a:latin typeface="Arial"/>
              <a:cs typeface="Arial"/>
            </a:endParaRPr>
          </a:p>
          <a:p>
            <a:endParaRPr lang="de-DE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6345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What is resilience?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2285998" y="2332334"/>
            <a:ext cx="4572000" cy="1477328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“Except for the main idea of facing challenges, it is somewhat difficult to guess that all of those definitions concern the same subject.”</a:t>
            </a:r>
          </a:p>
          <a:p>
            <a:pPr algn="ctr"/>
            <a:r>
              <a:rPr lang="en-US" dirty="0">
                <a:latin typeface="Arial"/>
                <a:cs typeface="Arial"/>
              </a:rPr>
              <a:t> (M. </a:t>
            </a:r>
            <a:r>
              <a:rPr lang="en-US" dirty="0" err="1">
                <a:latin typeface="Arial"/>
                <a:cs typeface="Arial"/>
              </a:rPr>
              <a:t>Pecillo</a:t>
            </a:r>
            <a:r>
              <a:rPr lang="en-US" dirty="0">
                <a:latin typeface="Arial"/>
                <a:cs typeface="Arial"/>
              </a:rPr>
              <a:t>, 2016)</a:t>
            </a:r>
            <a:endParaRPr lang="de-DE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938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A (very) brief history of resilience research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925387" y="1153453"/>
            <a:ext cx="44101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latin typeface="Arial"/>
                <a:cs typeface="Arial"/>
              </a:rPr>
              <a:t>Trait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 err="1">
                <a:latin typeface="Arial"/>
                <a:cs typeface="Arial"/>
              </a:rPr>
              <a:t>Hardiness</a:t>
            </a:r>
            <a:r>
              <a:rPr lang="de-DE" dirty="0">
                <a:latin typeface="Arial"/>
                <a:cs typeface="Arial"/>
              </a:rPr>
              <a:t> (</a:t>
            </a:r>
            <a:r>
              <a:rPr lang="de-DE" dirty="0" err="1">
                <a:latin typeface="Arial"/>
                <a:cs typeface="Arial"/>
              </a:rPr>
              <a:t>Kobasa</a:t>
            </a:r>
            <a:r>
              <a:rPr lang="de-DE" dirty="0">
                <a:latin typeface="Arial"/>
                <a:cs typeface="Arial"/>
              </a:rPr>
              <a:t>, 1979)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Ego </a:t>
            </a:r>
            <a:r>
              <a:rPr lang="de-DE" dirty="0" err="1">
                <a:latin typeface="Arial"/>
                <a:cs typeface="Arial"/>
              </a:rPr>
              <a:t>resiliency</a:t>
            </a:r>
            <a:r>
              <a:rPr lang="de-DE" dirty="0">
                <a:latin typeface="Arial"/>
                <a:cs typeface="Arial"/>
              </a:rPr>
              <a:t> (Block </a:t>
            </a:r>
            <a:r>
              <a:rPr lang="de-DE" dirty="0" err="1">
                <a:latin typeface="Arial"/>
                <a:cs typeface="Arial"/>
              </a:rPr>
              <a:t>and</a:t>
            </a:r>
            <a:r>
              <a:rPr lang="de-DE" dirty="0">
                <a:latin typeface="Arial"/>
                <a:cs typeface="Arial"/>
              </a:rPr>
              <a:t> Block, 1980)</a:t>
            </a:r>
          </a:p>
        </p:txBody>
      </p:sp>
    </p:spTree>
    <p:extLst>
      <p:ext uri="{BB962C8B-B14F-4D97-AF65-F5344CB8AC3E}">
        <p14:creationId xmlns:p14="http://schemas.microsoft.com/office/powerpoint/2010/main" val="258126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53CE1-F195-860E-EC2E-783ACCB4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225726F-2188-276C-CA69-D27881FD84F7}"/>
              </a:ext>
            </a:extLst>
          </p:cNvPr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A (very) brief history of resilience research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03A3D92-28CC-25D6-20C3-0DE38A8A09BD}"/>
              </a:ext>
            </a:extLst>
          </p:cNvPr>
          <p:cNvSpPr txBox="1"/>
          <p:nvPr/>
        </p:nvSpPr>
        <p:spPr>
          <a:xfrm>
            <a:off x="925387" y="1153453"/>
            <a:ext cx="44101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latin typeface="Arial"/>
                <a:cs typeface="Arial"/>
              </a:rPr>
              <a:t>Trait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 err="1">
                <a:latin typeface="Arial"/>
                <a:cs typeface="Arial"/>
              </a:rPr>
              <a:t>Hardiness</a:t>
            </a:r>
            <a:r>
              <a:rPr lang="de-DE" dirty="0">
                <a:latin typeface="Arial"/>
                <a:cs typeface="Arial"/>
              </a:rPr>
              <a:t> (</a:t>
            </a:r>
            <a:r>
              <a:rPr lang="de-DE" dirty="0" err="1">
                <a:latin typeface="Arial"/>
                <a:cs typeface="Arial"/>
              </a:rPr>
              <a:t>Kobasa</a:t>
            </a:r>
            <a:r>
              <a:rPr lang="de-DE" dirty="0">
                <a:latin typeface="Arial"/>
                <a:cs typeface="Arial"/>
              </a:rPr>
              <a:t>, 1979)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Ego </a:t>
            </a:r>
            <a:r>
              <a:rPr lang="de-DE" dirty="0" err="1">
                <a:latin typeface="Arial"/>
                <a:cs typeface="Arial"/>
              </a:rPr>
              <a:t>resiliency</a:t>
            </a:r>
            <a:r>
              <a:rPr lang="de-DE" dirty="0">
                <a:latin typeface="Arial"/>
                <a:cs typeface="Arial"/>
              </a:rPr>
              <a:t> (Block </a:t>
            </a:r>
            <a:r>
              <a:rPr lang="de-DE" dirty="0" err="1">
                <a:latin typeface="Arial"/>
                <a:cs typeface="Arial"/>
              </a:rPr>
              <a:t>and</a:t>
            </a:r>
            <a:r>
              <a:rPr lang="de-DE" dirty="0">
                <a:latin typeface="Arial"/>
                <a:cs typeface="Arial"/>
              </a:rPr>
              <a:t> Block, 1980)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18375D1-CD81-AA1E-3E4D-04B82006922E}"/>
              </a:ext>
            </a:extLst>
          </p:cNvPr>
          <p:cNvSpPr txBox="1"/>
          <p:nvPr/>
        </p:nvSpPr>
        <p:spPr>
          <a:xfrm>
            <a:off x="927178" y="2321707"/>
            <a:ext cx="7523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/>
                <a:cs typeface="Arial"/>
              </a:rPr>
              <a:t>Multiple </a:t>
            </a:r>
            <a:r>
              <a:rPr lang="de-DE" b="1" dirty="0" err="1">
                <a:latin typeface="Arial"/>
                <a:cs typeface="Arial"/>
              </a:rPr>
              <a:t>factors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 err="1">
                <a:latin typeface="Arial"/>
                <a:cs typeface="Arial"/>
              </a:rPr>
              <a:t>Various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traits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skills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behaviors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beliefs</a:t>
            </a:r>
            <a:r>
              <a:rPr lang="de-DE" dirty="0">
                <a:latin typeface="Arial"/>
                <a:cs typeface="Arial"/>
              </a:rPr>
              <a:t>, … </a:t>
            </a:r>
          </a:p>
          <a:p>
            <a:r>
              <a:rPr lang="de-DE" dirty="0">
                <a:latin typeface="Arial"/>
                <a:cs typeface="Arial"/>
              </a:rPr>
              <a:t>	(Masten &amp; </a:t>
            </a:r>
            <a:r>
              <a:rPr lang="de-DE" dirty="0" err="1">
                <a:latin typeface="Arial"/>
                <a:cs typeface="Arial"/>
              </a:rPr>
              <a:t>Garmezy</a:t>
            </a:r>
            <a:r>
              <a:rPr lang="de-DE" dirty="0">
                <a:latin typeface="Arial"/>
                <a:cs typeface="Arial"/>
              </a:rPr>
              <a:t>, 1985; Werner &amp; Smith, 1989)</a:t>
            </a:r>
          </a:p>
        </p:txBody>
      </p:sp>
    </p:spTree>
    <p:extLst>
      <p:ext uri="{BB962C8B-B14F-4D97-AF65-F5344CB8AC3E}">
        <p14:creationId xmlns:p14="http://schemas.microsoft.com/office/powerpoint/2010/main" val="3302582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87E69-7C10-3232-54B9-4CEB3D86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801906A-A0D8-3DF3-1D6C-3CD8633C224D}"/>
              </a:ext>
            </a:extLst>
          </p:cNvPr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A (very) brief history of resilience research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677F74A-ED16-09E3-2988-8657DA3A169C}"/>
              </a:ext>
            </a:extLst>
          </p:cNvPr>
          <p:cNvSpPr txBox="1"/>
          <p:nvPr/>
        </p:nvSpPr>
        <p:spPr>
          <a:xfrm>
            <a:off x="925387" y="1153453"/>
            <a:ext cx="44101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latin typeface="Arial"/>
                <a:cs typeface="Arial"/>
              </a:rPr>
              <a:t>Trait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 err="1">
                <a:latin typeface="Arial"/>
                <a:cs typeface="Arial"/>
              </a:rPr>
              <a:t>Hardiness</a:t>
            </a:r>
            <a:r>
              <a:rPr lang="de-DE" dirty="0">
                <a:latin typeface="Arial"/>
                <a:cs typeface="Arial"/>
              </a:rPr>
              <a:t> (</a:t>
            </a:r>
            <a:r>
              <a:rPr lang="de-DE" dirty="0" err="1">
                <a:latin typeface="Arial"/>
                <a:cs typeface="Arial"/>
              </a:rPr>
              <a:t>Kobasa</a:t>
            </a:r>
            <a:r>
              <a:rPr lang="de-DE" dirty="0">
                <a:latin typeface="Arial"/>
                <a:cs typeface="Arial"/>
              </a:rPr>
              <a:t>, 1979)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Ego </a:t>
            </a:r>
            <a:r>
              <a:rPr lang="de-DE" dirty="0" err="1">
                <a:latin typeface="Arial"/>
                <a:cs typeface="Arial"/>
              </a:rPr>
              <a:t>resiliency</a:t>
            </a:r>
            <a:r>
              <a:rPr lang="de-DE" dirty="0">
                <a:latin typeface="Arial"/>
                <a:cs typeface="Arial"/>
              </a:rPr>
              <a:t> (Block </a:t>
            </a:r>
            <a:r>
              <a:rPr lang="de-DE" dirty="0" err="1">
                <a:latin typeface="Arial"/>
                <a:cs typeface="Arial"/>
              </a:rPr>
              <a:t>and</a:t>
            </a:r>
            <a:r>
              <a:rPr lang="de-DE" dirty="0">
                <a:latin typeface="Arial"/>
                <a:cs typeface="Arial"/>
              </a:rPr>
              <a:t> Block, 1980)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4EC06F1-4073-94C7-7885-55D77889A362}"/>
              </a:ext>
            </a:extLst>
          </p:cNvPr>
          <p:cNvSpPr txBox="1"/>
          <p:nvPr/>
        </p:nvSpPr>
        <p:spPr>
          <a:xfrm>
            <a:off x="927178" y="2321707"/>
            <a:ext cx="7523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/>
                <a:cs typeface="Arial"/>
              </a:rPr>
              <a:t>Multiple </a:t>
            </a:r>
            <a:r>
              <a:rPr lang="de-DE" b="1" dirty="0" err="1">
                <a:latin typeface="Arial"/>
                <a:cs typeface="Arial"/>
              </a:rPr>
              <a:t>factors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 err="1">
                <a:latin typeface="Arial"/>
                <a:cs typeface="Arial"/>
              </a:rPr>
              <a:t>Various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traits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skills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behaviors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beliefs</a:t>
            </a:r>
            <a:r>
              <a:rPr lang="de-DE" dirty="0">
                <a:latin typeface="Arial"/>
                <a:cs typeface="Arial"/>
              </a:rPr>
              <a:t>, … </a:t>
            </a:r>
          </a:p>
          <a:p>
            <a:r>
              <a:rPr lang="de-DE" dirty="0">
                <a:latin typeface="Arial"/>
                <a:cs typeface="Arial"/>
              </a:rPr>
              <a:t>	(Masten &amp; </a:t>
            </a:r>
            <a:r>
              <a:rPr lang="de-DE" dirty="0" err="1">
                <a:latin typeface="Arial"/>
                <a:cs typeface="Arial"/>
              </a:rPr>
              <a:t>Garmezy</a:t>
            </a:r>
            <a:r>
              <a:rPr lang="de-DE" dirty="0">
                <a:latin typeface="Arial"/>
                <a:cs typeface="Arial"/>
              </a:rPr>
              <a:t>, 1985; Werner &amp; Smith, 1989)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5AF036A-0060-BFE1-7D75-AC09CBBFAC85}"/>
              </a:ext>
            </a:extLst>
          </p:cNvPr>
          <p:cNvSpPr txBox="1"/>
          <p:nvPr/>
        </p:nvSpPr>
        <p:spPr>
          <a:xfrm>
            <a:off x="927173" y="3435806"/>
            <a:ext cx="8245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latin typeface="Arial"/>
                <a:cs typeface="Arial"/>
              </a:rPr>
              <a:t>Processes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Coping </a:t>
            </a:r>
            <a:r>
              <a:rPr lang="de-DE" dirty="0" err="1">
                <a:latin typeface="Arial"/>
                <a:cs typeface="Arial"/>
              </a:rPr>
              <a:t>efforts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person</a:t>
            </a:r>
            <a:r>
              <a:rPr lang="de-DE" dirty="0">
                <a:latin typeface="Arial"/>
                <a:cs typeface="Arial"/>
              </a:rPr>
              <a:t>-environment </a:t>
            </a:r>
            <a:r>
              <a:rPr lang="de-DE" dirty="0" err="1">
                <a:latin typeface="Arial"/>
                <a:cs typeface="Arial"/>
              </a:rPr>
              <a:t>transactions</a:t>
            </a:r>
            <a:r>
              <a:rPr lang="de-DE" dirty="0">
                <a:latin typeface="Arial"/>
                <a:cs typeface="Arial"/>
              </a:rPr>
              <a:t> (“</a:t>
            </a:r>
            <a:r>
              <a:rPr lang="de-DE" dirty="0" err="1">
                <a:latin typeface="Arial"/>
                <a:cs typeface="Arial"/>
              </a:rPr>
              <a:t>resilience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mechanisms</a:t>
            </a:r>
            <a:r>
              <a:rPr lang="de-DE" dirty="0">
                <a:latin typeface="Arial"/>
                <a:cs typeface="Arial"/>
              </a:rPr>
              <a:t>“) </a:t>
            </a:r>
          </a:p>
          <a:p>
            <a:r>
              <a:rPr lang="de-DE" dirty="0">
                <a:latin typeface="Arial"/>
                <a:cs typeface="Arial"/>
              </a:rPr>
              <a:t>       (Luthar et al., 2000; </a:t>
            </a:r>
            <a:r>
              <a:rPr lang="de-DE" dirty="0" err="1">
                <a:latin typeface="Arial"/>
                <a:cs typeface="Arial"/>
              </a:rPr>
              <a:t>a.m.o</a:t>
            </a:r>
            <a:r>
              <a:rPr lang="de-DE" dirty="0">
                <a:latin typeface="Arial"/>
                <a:cs typeface="Arial"/>
              </a:rPr>
              <a:t>.)</a:t>
            </a:r>
          </a:p>
          <a:p>
            <a:r>
              <a:rPr lang="de-DE" dirty="0">
                <a:latin typeface="Arial"/>
                <a:cs typeface="Arial"/>
              </a:rPr>
              <a:t>-   Lasting individual </a:t>
            </a:r>
            <a:r>
              <a:rPr lang="de-DE" dirty="0" err="1">
                <a:latin typeface="Arial"/>
                <a:cs typeface="Arial"/>
              </a:rPr>
              <a:t>change</a:t>
            </a:r>
            <a:endParaRPr lang="de-DE" dirty="0">
              <a:latin typeface="Arial"/>
              <a:cs typeface="Arial"/>
            </a:endParaRPr>
          </a:p>
          <a:p>
            <a:endParaRPr lang="de-DE" dirty="0">
              <a:latin typeface="Arial"/>
              <a:cs typeface="Arial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84F21B9-CE44-C03B-E84B-AB7AD9FE2F09}"/>
              </a:ext>
            </a:extLst>
          </p:cNvPr>
          <p:cNvSpPr txBox="1"/>
          <p:nvPr/>
        </p:nvSpPr>
        <p:spPr>
          <a:xfrm>
            <a:off x="927168" y="4828429"/>
            <a:ext cx="3149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/>
                <a:cs typeface="Arial"/>
              </a:rPr>
              <a:t>Outcome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Masten &amp; </a:t>
            </a:r>
            <a:r>
              <a:rPr lang="de-DE" dirty="0" err="1">
                <a:latin typeface="Arial"/>
                <a:cs typeface="Arial"/>
              </a:rPr>
              <a:t>Garmezy</a:t>
            </a:r>
            <a:r>
              <a:rPr lang="de-DE" dirty="0">
                <a:latin typeface="Arial"/>
                <a:cs typeface="Arial"/>
              </a:rPr>
              <a:t>, 1985</a:t>
            </a:r>
          </a:p>
        </p:txBody>
      </p:sp>
    </p:spTree>
    <p:extLst>
      <p:ext uri="{BB962C8B-B14F-4D97-AF65-F5344CB8AC3E}">
        <p14:creationId xmlns:p14="http://schemas.microsoft.com/office/powerpoint/2010/main" val="265211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The reality of resilience research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44293">
            <a:off x="663365" y="1464251"/>
            <a:ext cx="3927230" cy="4518908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666" y="1631698"/>
            <a:ext cx="3241876" cy="4583563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72589">
            <a:off x="3334426" y="1644083"/>
            <a:ext cx="3765282" cy="501890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555"/>
          <a:stretch/>
        </p:blipFill>
        <p:spPr>
          <a:xfrm rot="2020631">
            <a:off x="4350175" y="3753496"/>
            <a:ext cx="4253865" cy="221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38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CC57C5E-B5D5-F521-95BF-33C849772F32}"/>
              </a:ext>
            </a:extLst>
          </p:cNvPr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If resilience is not a trait, what then?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pic>
        <p:nvPicPr>
          <p:cNvPr id="4" name="Bild 2">
            <a:extLst>
              <a:ext uri="{FF2B5EF4-FFF2-40B4-BE49-F238E27FC236}">
                <a16:creationId xmlns:a16="http://schemas.microsoft.com/office/drawing/2014/main" id="{74D58B86-3048-2942-CA61-5868F9ECC9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571" y="949848"/>
            <a:ext cx="8298616" cy="453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99571" y="949848"/>
            <a:ext cx="8298616" cy="453920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DD63FCD3-D0EA-4866-8661-04B06F387D9D}"/>
              </a:ext>
            </a:extLst>
          </p:cNvPr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If resilience is not a trait, what then?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9669773-31C0-2FDC-9038-64EA3C47EFE2}"/>
              </a:ext>
            </a:extLst>
          </p:cNvPr>
          <p:cNvSpPr/>
          <p:nvPr/>
        </p:nvSpPr>
        <p:spPr>
          <a:xfrm>
            <a:off x="1677497" y="1309439"/>
            <a:ext cx="5420616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Resilience is the maintenance or quick recovery of mental health during and after periods of adversity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(good long-term mental health outcome despite adversity*)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*traumatizing events, challenging life circumstances or transitions, physical illness...</a:t>
            </a:r>
          </a:p>
        </p:txBody>
      </p:sp>
    </p:spTree>
    <p:extLst>
      <p:ext uri="{BB962C8B-B14F-4D97-AF65-F5344CB8AC3E}">
        <p14:creationId xmlns:p14="http://schemas.microsoft.com/office/powerpoint/2010/main" val="4009830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D63FCD3-D0EA-4866-8661-04B06F387D9D}"/>
              </a:ext>
            </a:extLst>
          </p:cNvPr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If resilience is not a trait, what then?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48BEAB-9826-4FD6-B011-197344473C7A}"/>
              </a:ext>
            </a:extLst>
          </p:cNvPr>
          <p:cNvSpPr/>
          <p:nvPr/>
        </p:nvSpPr>
        <p:spPr>
          <a:xfrm>
            <a:off x="399570" y="4523927"/>
            <a:ext cx="8568063" cy="14002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is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NOT …</a:t>
            </a:r>
          </a:p>
          <a:p>
            <a:pPr>
              <a:lnSpc>
                <a:spcPts val="2500"/>
              </a:lnSpc>
              <a:spcAft>
                <a:spcPts val="400"/>
              </a:spcAft>
            </a:pP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…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any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baseline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predictor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biomarkers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(“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factors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“, RFs)</a:t>
            </a:r>
          </a:p>
          <a:p>
            <a:pPr>
              <a:lnSpc>
                <a:spcPts val="2500"/>
              </a:lnSpc>
            </a:pP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… just the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opposite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risk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,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vulnerability</a:t>
            </a:r>
            <a:endParaRPr lang="de-DE" sz="1600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lnSpc>
                <a:spcPts val="2500"/>
              </a:lnSpc>
            </a:pPr>
            <a:endParaRPr lang="de-DE" sz="1600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A7019C9-E871-D80E-3E68-B83032701188}"/>
              </a:ext>
            </a:extLst>
          </p:cNvPr>
          <p:cNvSpPr/>
          <p:nvPr/>
        </p:nvSpPr>
        <p:spPr>
          <a:xfrm>
            <a:off x="1677497" y="1309439"/>
            <a:ext cx="5420616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Resilience is the maintenance or quick recovery of mental health during and after periods of adversity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(good long-term mental health outcome despite adversity*)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*traumatizing events, challenging life circumstances or transitions, physical illness...</a:t>
            </a:r>
          </a:p>
        </p:txBody>
      </p:sp>
    </p:spTree>
    <p:extLst>
      <p:ext uri="{BB962C8B-B14F-4D97-AF65-F5344CB8AC3E}">
        <p14:creationId xmlns:p14="http://schemas.microsoft.com/office/powerpoint/2010/main" val="18219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B658-FCE9-3295-45E4-479A58D1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8803497-D244-1E8D-8DE4-71E61DF82583}"/>
              </a:ext>
            </a:extLst>
          </p:cNvPr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If resilience is not a trait, what then?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47DF8C6-11A1-91C0-965E-C553A532012D}"/>
              </a:ext>
            </a:extLst>
          </p:cNvPr>
          <p:cNvSpPr/>
          <p:nvPr/>
        </p:nvSpPr>
        <p:spPr>
          <a:xfrm>
            <a:off x="399570" y="4523927"/>
            <a:ext cx="8568063" cy="17208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is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NOT …</a:t>
            </a:r>
          </a:p>
          <a:p>
            <a:pPr>
              <a:lnSpc>
                <a:spcPts val="2500"/>
              </a:lnSpc>
              <a:spcAft>
                <a:spcPts val="400"/>
              </a:spcAft>
            </a:pP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…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any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baseline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predictor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biomarkers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(“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factors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“, RFs)</a:t>
            </a:r>
          </a:p>
          <a:p>
            <a:pPr>
              <a:lnSpc>
                <a:spcPts val="2500"/>
              </a:lnSpc>
            </a:pP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… just the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opposite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risk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,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vulnerability</a:t>
            </a:r>
            <a:endParaRPr lang="de-DE" sz="1600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lnSpc>
                <a:spcPts val="2500"/>
              </a:lnSpc>
            </a:pP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…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any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specific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process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mechanism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leading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to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the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outcome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(“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processes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“, RPs)</a:t>
            </a:r>
          </a:p>
          <a:p>
            <a:pPr>
              <a:lnSpc>
                <a:spcPts val="2500"/>
              </a:lnSpc>
            </a:pPr>
            <a:endParaRPr lang="de-DE" sz="1600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D3B1DEA-263A-52D4-2F05-7891F5CFD22B}"/>
              </a:ext>
            </a:extLst>
          </p:cNvPr>
          <p:cNvSpPr/>
          <p:nvPr/>
        </p:nvSpPr>
        <p:spPr>
          <a:xfrm>
            <a:off x="1677497" y="1309439"/>
            <a:ext cx="5420616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Resilience is the maintenance or quick recovery of mental health during and after periods of adversity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(good long-term mental health outcome despite adversity*)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*traumatizing events, challenging life circumstances or transitions, physical illness...</a:t>
            </a:r>
          </a:p>
        </p:txBody>
      </p:sp>
    </p:spTree>
    <p:extLst>
      <p:ext uri="{BB962C8B-B14F-4D97-AF65-F5344CB8AC3E}">
        <p14:creationId xmlns:p14="http://schemas.microsoft.com/office/powerpoint/2010/main" val="2376478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D63FCD3-D0EA-4866-8661-04B06F387D9D}"/>
              </a:ext>
            </a:extLst>
          </p:cNvPr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If resilience is not a trait, what then?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48BEAB-9826-4FD6-B011-197344473C7A}"/>
              </a:ext>
            </a:extLst>
          </p:cNvPr>
          <p:cNvSpPr/>
          <p:nvPr/>
        </p:nvSpPr>
        <p:spPr>
          <a:xfrm>
            <a:off x="399570" y="4523927"/>
            <a:ext cx="8568063" cy="20414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is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NOT …</a:t>
            </a:r>
          </a:p>
          <a:p>
            <a:pPr>
              <a:lnSpc>
                <a:spcPts val="2500"/>
              </a:lnSpc>
              <a:spcAft>
                <a:spcPts val="400"/>
              </a:spcAft>
            </a:pP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…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any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baseline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predictor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biomarkers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(“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factors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“, RFs)</a:t>
            </a:r>
          </a:p>
          <a:p>
            <a:pPr>
              <a:lnSpc>
                <a:spcPts val="2500"/>
              </a:lnSpc>
            </a:pP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… just the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opposite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risk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,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vulnerability</a:t>
            </a:r>
            <a:endParaRPr lang="de-DE" sz="1600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lnSpc>
                <a:spcPts val="2500"/>
              </a:lnSpc>
            </a:pP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…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any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specific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process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mechanism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leading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to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the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outcome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(“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processes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“, RPs)</a:t>
            </a:r>
          </a:p>
          <a:p>
            <a:pPr>
              <a:lnSpc>
                <a:spcPts val="2500"/>
              </a:lnSpc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BUT:</a:t>
            </a:r>
          </a:p>
          <a:p>
            <a:pPr>
              <a:lnSpc>
                <a:spcPts val="2500"/>
              </a:lnSpc>
            </a:pP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You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can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ask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which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RFs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predict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the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outcome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or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which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RPs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lead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to</a:t>
            </a:r>
            <a:r>
              <a:rPr lang="de-DE" sz="1600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the </a:t>
            </a:r>
            <a:r>
              <a:rPr lang="de-DE" sz="1600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outcome</a:t>
            </a:r>
            <a:endParaRPr lang="de-DE" sz="1600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8E80C03-1382-5698-3D69-2440DA75AE11}"/>
              </a:ext>
            </a:extLst>
          </p:cNvPr>
          <p:cNvSpPr/>
          <p:nvPr/>
        </p:nvSpPr>
        <p:spPr>
          <a:xfrm>
            <a:off x="1677497" y="1309439"/>
            <a:ext cx="5420616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Resilience is the maintenance or quick recovery of mental health during and after periods of adversity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(good long-term mental health outcome despite adversity*)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*traumatizing events, challenging life circumstances or transitions, physical illness...</a:t>
            </a:r>
          </a:p>
        </p:txBody>
      </p:sp>
    </p:spTree>
    <p:extLst>
      <p:ext uri="{BB962C8B-B14F-4D97-AF65-F5344CB8AC3E}">
        <p14:creationId xmlns:p14="http://schemas.microsoft.com/office/powerpoint/2010/main" val="3716219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D63FCD3-D0EA-4866-8661-04B06F387D9D}"/>
              </a:ext>
            </a:extLst>
          </p:cNvPr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If resilience is not a trait, what then?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48BEAB-9826-4FD6-B011-197344473C7A}"/>
              </a:ext>
            </a:extLst>
          </p:cNvPr>
          <p:cNvSpPr/>
          <p:nvPr/>
        </p:nvSpPr>
        <p:spPr>
          <a:xfrm>
            <a:off x="399570" y="4773901"/>
            <a:ext cx="856806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 panose="05000000000000000000" pitchFamily="2" charset="2"/>
              </a:rPr>
              <a:t> 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Outcome-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based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definition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is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purely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operational and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atheoretical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4F4960B-9C34-10C4-7CAF-CE94E868104F}"/>
              </a:ext>
            </a:extLst>
          </p:cNvPr>
          <p:cNvSpPr/>
          <p:nvPr/>
        </p:nvSpPr>
        <p:spPr>
          <a:xfrm>
            <a:off x="1677497" y="1309439"/>
            <a:ext cx="5420616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Resilience is the maintenance or quick recovery of mental health during and after periods of adversity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(good long-term mental health outcome despite adversity*)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*traumatizing events, challenging life circumstances or transitions, physical illness...</a:t>
            </a:r>
          </a:p>
        </p:txBody>
      </p:sp>
    </p:spTree>
    <p:extLst>
      <p:ext uri="{BB962C8B-B14F-4D97-AF65-F5344CB8AC3E}">
        <p14:creationId xmlns:p14="http://schemas.microsoft.com/office/powerpoint/2010/main" val="2761815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D102-DDAB-F8C7-1A45-741A654C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ACC323AE-EBEE-B647-8833-71EAA56D71D6}"/>
              </a:ext>
            </a:extLst>
          </p:cNvPr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If resilience is not a trait, what then?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3FBD97E-AFBF-EE06-7444-A1B235A4DC0F}"/>
              </a:ext>
            </a:extLst>
          </p:cNvPr>
          <p:cNvSpPr/>
          <p:nvPr/>
        </p:nvSpPr>
        <p:spPr>
          <a:xfrm>
            <a:off x="399570" y="4773901"/>
            <a:ext cx="8568063" cy="6976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 panose="05000000000000000000" pitchFamily="2" charset="2"/>
              </a:rPr>
              <a:t> 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Outcome-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based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definition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is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purely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operational and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atheoretical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 panose="05000000000000000000" pitchFamily="2" charset="2"/>
              </a:rPr>
              <a:t>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Requires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longitudinal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studies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830AF2-0843-B743-A676-FA5BB79AC001}"/>
              </a:ext>
            </a:extLst>
          </p:cNvPr>
          <p:cNvSpPr/>
          <p:nvPr/>
        </p:nvSpPr>
        <p:spPr>
          <a:xfrm>
            <a:off x="1677497" y="1309439"/>
            <a:ext cx="5420616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Resilience is the maintenance or quick recovery of mental health during and after periods of adversity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(good long-term mental health outcome despite adversity*)</a:t>
            </a:r>
          </a:p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*traumatizing events, challenging life circumstances or transitions, physical illness...</a:t>
            </a:r>
          </a:p>
        </p:txBody>
      </p:sp>
    </p:spTree>
    <p:extLst>
      <p:ext uri="{BB962C8B-B14F-4D97-AF65-F5344CB8AC3E}">
        <p14:creationId xmlns:p14="http://schemas.microsoft.com/office/powerpoint/2010/main" val="3942750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Resilience: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5952760" y="3469087"/>
            <a:ext cx="2686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627063" algn="l"/>
              </a:tabLst>
            </a:pPr>
            <a:r>
              <a:rPr lang="en-US" b="1" dirty="0">
                <a:latin typeface="Arial"/>
                <a:cs typeface="Arial"/>
              </a:rPr>
              <a:t>R</a:t>
            </a:r>
            <a:r>
              <a:rPr lang="en-US" b="1" baseline="-25000" dirty="0">
                <a:latin typeface="Arial"/>
                <a:cs typeface="Arial"/>
              </a:rPr>
              <a:t>T2</a:t>
            </a:r>
            <a:r>
              <a:rPr lang="en-US" b="1" dirty="0">
                <a:latin typeface="Arial"/>
                <a:cs typeface="Arial"/>
              </a:rPr>
              <a:t>	=     1 / (ΔΣP / ΣS) </a:t>
            </a:r>
          </a:p>
          <a:p>
            <a:pPr>
              <a:tabLst>
                <a:tab pos="627063" algn="l"/>
              </a:tabLst>
            </a:pPr>
            <a:r>
              <a:rPr lang="en-US" b="1" dirty="0">
                <a:latin typeface="Arial"/>
                <a:cs typeface="Arial"/>
              </a:rPr>
              <a:t>	=    ΣS / ΔΣP</a:t>
            </a:r>
            <a:r>
              <a:rPr lang="en-US" dirty="0">
                <a:latin typeface="Arial"/>
                <a:cs typeface="Arial"/>
              </a:rPr>
              <a:t> </a:t>
            </a:r>
            <a:endParaRPr lang="de-DE" dirty="0">
              <a:latin typeface="Arial"/>
              <a:cs typeface="Arial"/>
            </a:endParaRPr>
          </a:p>
        </p:txBody>
      </p:sp>
      <p:grpSp>
        <p:nvGrpSpPr>
          <p:cNvPr id="134" name="Gruppieren 1117"/>
          <p:cNvGrpSpPr/>
          <p:nvPr/>
        </p:nvGrpSpPr>
        <p:grpSpPr>
          <a:xfrm>
            <a:off x="755576" y="2466742"/>
            <a:ext cx="7977188" cy="1731963"/>
            <a:chOff x="482600" y="2709863"/>
            <a:chExt cx="7977188" cy="1731963"/>
          </a:xfrm>
        </p:grpSpPr>
        <p:sp>
          <p:nvSpPr>
            <p:cNvPr id="135" name="Rectangle 6"/>
            <p:cNvSpPr>
              <a:spLocks noChangeArrowheads="1"/>
            </p:cNvSpPr>
            <p:nvPr/>
          </p:nvSpPr>
          <p:spPr bwMode="auto">
            <a:xfrm>
              <a:off x="482600" y="4406901"/>
              <a:ext cx="7977188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6" name="Rectangle 7"/>
            <p:cNvSpPr>
              <a:spLocks noChangeArrowheads="1"/>
            </p:cNvSpPr>
            <p:nvPr/>
          </p:nvSpPr>
          <p:spPr bwMode="auto">
            <a:xfrm>
              <a:off x="482600" y="4371976"/>
              <a:ext cx="7977188" cy="69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7" name="Rectangle 8"/>
            <p:cNvSpPr>
              <a:spLocks noChangeArrowheads="1"/>
            </p:cNvSpPr>
            <p:nvPr/>
          </p:nvSpPr>
          <p:spPr bwMode="auto">
            <a:xfrm>
              <a:off x="482600" y="4337051"/>
              <a:ext cx="7977188" cy="69850"/>
            </a:xfrm>
            <a:prstGeom prst="rect">
              <a:avLst/>
            </a:prstGeom>
            <a:solidFill>
              <a:srgbClr val="FDFD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8" name="Rectangle 9"/>
            <p:cNvSpPr>
              <a:spLocks noChangeArrowheads="1"/>
            </p:cNvSpPr>
            <p:nvPr/>
          </p:nvSpPr>
          <p:spPr bwMode="auto">
            <a:xfrm>
              <a:off x="482600" y="4303713"/>
              <a:ext cx="7977188" cy="68263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9" name="Rectangle 10"/>
            <p:cNvSpPr>
              <a:spLocks noChangeArrowheads="1"/>
            </p:cNvSpPr>
            <p:nvPr/>
          </p:nvSpPr>
          <p:spPr bwMode="auto">
            <a:xfrm>
              <a:off x="482600" y="4268788"/>
              <a:ext cx="7977188" cy="68263"/>
            </a:xfrm>
            <a:prstGeom prst="rect">
              <a:avLst/>
            </a:prstGeom>
            <a:solidFill>
              <a:srgbClr val="F8FAF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0" name="Rectangle 11"/>
            <p:cNvSpPr>
              <a:spLocks noChangeArrowheads="1"/>
            </p:cNvSpPr>
            <p:nvPr/>
          </p:nvSpPr>
          <p:spPr bwMode="auto">
            <a:xfrm>
              <a:off x="482600" y="4233863"/>
              <a:ext cx="7977188" cy="69850"/>
            </a:xfrm>
            <a:prstGeom prst="rect">
              <a:avLst/>
            </a:prstGeom>
            <a:solidFill>
              <a:srgbClr val="F5F9F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1" name="Rectangle 12"/>
            <p:cNvSpPr>
              <a:spLocks noChangeArrowheads="1"/>
            </p:cNvSpPr>
            <p:nvPr/>
          </p:nvSpPr>
          <p:spPr bwMode="auto">
            <a:xfrm>
              <a:off x="482600" y="4198938"/>
              <a:ext cx="7977188" cy="69850"/>
            </a:xfrm>
            <a:prstGeom prst="rect">
              <a:avLst/>
            </a:prstGeom>
            <a:solidFill>
              <a:srgbClr val="F3F7F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2" name="Rectangle 13"/>
            <p:cNvSpPr>
              <a:spLocks noChangeArrowheads="1"/>
            </p:cNvSpPr>
            <p:nvPr/>
          </p:nvSpPr>
          <p:spPr bwMode="auto">
            <a:xfrm>
              <a:off x="482600" y="4164013"/>
              <a:ext cx="7977188" cy="69850"/>
            </a:xfrm>
            <a:prstGeom prst="rect">
              <a:avLst/>
            </a:prstGeom>
            <a:solidFill>
              <a:srgbClr val="F0F5F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3" name="Rectangle 14"/>
            <p:cNvSpPr>
              <a:spLocks noChangeArrowheads="1"/>
            </p:cNvSpPr>
            <p:nvPr/>
          </p:nvSpPr>
          <p:spPr bwMode="auto">
            <a:xfrm>
              <a:off x="482600" y="4130676"/>
              <a:ext cx="7977188" cy="68263"/>
            </a:xfrm>
            <a:prstGeom prst="rect">
              <a:avLst/>
            </a:prstGeom>
            <a:solidFill>
              <a:srgbClr val="EEF4F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4" name="Rectangle 15"/>
            <p:cNvSpPr>
              <a:spLocks noChangeArrowheads="1"/>
            </p:cNvSpPr>
            <p:nvPr/>
          </p:nvSpPr>
          <p:spPr bwMode="auto">
            <a:xfrm>
              <a:off x="482600" y="4095751"/>
              <a:ext cx="7977188" cy="68263"/>
            </a:xfrm>
            <a:prstGeom prst="rect">
              <a:avLst/>
            </a:prstGeom>
            <a:solidFill>
              <a:srgbClr val="EBF2F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5" name="Rectangle 16"/>
            <p:cNvSpPr>
              <a:spLocks noChangeArrowheads="1"/>
            </p:cNvSpPr>
            <p:nvPr/>
          </p:nvSpPr>
          <p:spPr bwMode="auto">
            <a:xfrm>
              <a:off x="482600" y="4060826"/>
              <a:ext cx="7977188" cy="69850"/>
            </a:xfrm>
            <a:prstGeom prst="rect">
              <a:avLst/>
            </a:prstGeom>
            <a:solidFill>
              <a:srgbClr val="E9F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6" name="Rectangle 17"/>
            <p:cNvSpPr>
              <a:spLocks noChangeArrowheads="1"/>
            </p:cNvSpPr>
            <p:nvPr/>
          </p:nvSpPr>
          <p:spPr bwMode="auto">
            <a:xfrm>
              <a:off x="482600" y="4025901"/>
              <a:ext cx="7977188" cy="69850"/>
            </a:xfrm>
            <a:prstGeom prst="rect">
              <a:avLst/>
            </a:prstGeom>
            <a:solidFill>
              <a:srgbClr val="E6EF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7" name="Rectangle 18"/>
            <p:cNvSpPr>
              <a:spLocks noChangeArrowheads="1"/>
            </p:cNvSpPr>
            <p:nvPr/>
          </p:nvSpPr>
          <p:spPr bwMode="auto">
            <a:xfrm>
              <a:off x="482600" y="3992563"/>
              <a:ext cx="7977188" cy="68263"/>
            </a:xfrm>
            <a:prstGeom prst="rect">
              <a:avLst/>
            </a:prstGeom>
            <a:solidFill>
              <a:srgbClr val="E3EDF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8" name="Rectangle 19"/>
            <p:cNvSpPr>
              <a:spLocks noChangeArrowheads="1"/>
            </p:cNvSpPr>
            <p:nvPr/>
          </p:nvSpPr>
          <p:spPr bwMode="auto">
            <a:xfrm>
              <a:off x="482600" y="3957638"/>
              <a:ext cx="7977188" cy="68263"/>
            </a:xfrm>
            <a:prstGeom prst="rect">
              <a:avLst/>
            </a:prstGeom>
            <a:solidFill>
              <a:srgbClr val="E1EBF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9" name="Rectangle 20"/>
            <p:cNvSpPr>
              <a:spLocks noChangeArrowheads="1"/>
            </p:cNvSpPr>
            <p:nvPr/>
          </p:nvSpPr>
          <p:spPr bwMode="auto">
            <a:xfrm>
              <a:off x="482600" y="3922713"/>
              <a:ext cx="7977188" cy="69850"/>
            </a:xfrm>
            <a:prstGeom prst="rect">
              <a:avLst/>
            </a:prstGeom>
            <a:solidFill>
              <a:srgbClr val="DEE9F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0" name="Rectangle 21"/>
            <p:cNvSpPr>
              <a:spLocks noChangeArrowheads="1"/>
            </p:cNvSpPr>
            <p:nvPr/>
          </p:nvSpPr>
          <p:spPr bwMode="auto">
            <a:xfrm>
              <a:off x="482600" y="3887788"/>
              <a:ext cx="7977188" cy="69850"/>
            </a:xfrm>
            <a:prstGeom prst="rect">
              <a:avLst/>
            </a:prstGeom>
            <a:solidFill>
              <a:srgbClr val="DBE8F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1" name="Rectangle 22"/>
            <p:cNvSpPr>
              <a:spLocks noChangeArrowheads="1"/>
            </p:cNvSpPr>
            <p:nvPr/>
          </p:nvSpPr>
          <p:spPr bwMode="auto">
            <a:xfrm>
              <a:off x="482600" y="3852863"/>
              <a:ext cx="7977188" cy="69850"/>
            </a:xfrm>
            <a:prstGeom prst="rect">
              <a:avLst/>
            </a:prstGeom>
            <a:solidFill>
              <a:srgbClr val="D8E6F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2" name="Rectangle 23"/>
            <p:cNvSpPr>
              <a:spLocks noChangeArrowheads="1"/>
            </p:cNvSpPr>
            <p:nvPr/>
          </p:nvSpPr>
          <p:spPr bwMode="auto">
            <a:xfrm>
              <a:off x="482600" y="3817938"/>
              <a:ext cx="7977188" cy="69850"/>
            </a:xfrm>
            <a:prstGeom prst="rect">
              <a:avLst/>
            </a:prstGeom>
            <a:solidFill>
              <a:srgbClr val="D6E4F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3" name="Rectangle 24"/>
            <p:cNvSpPr>
              <a:spLocks noChangeArrowheads="1"/>
            </p:cNvSpPr>
            <p:nvPr/>
          </p:nvSpPr>
          <p:spPr bwMode="auto">
            <a:xfrm>
              <a:off x="482600" y="3784601"/>
              <a:ext cx="7977188" cy="68263"/>
            </a:xfrm>
            <a:prstGeom prst="rect">
              <a:avLst/>
            </a:prstGeom>
            <a:solidFill>
              <a:srgbClr val="D3E3F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4" name="Rectangle 25"/>
            <p:cNvSpPr>
              <a:spLocks noChangeArrowheads="1"/>
            </p:cNvSpPr>
            <p:nvPr/>
          </p:nvSpPr>
          <p:spPr bwMode="auto">
            <a:xfrm>
              <a:off x="482600" y="3749676"/>
              <a:ext cx="7977188" cy="68263"/>
            </a:xfrm>
            <a:prstGeom prst="rect">
              <a:avLst/>
            </a:prstGeom>
            <a:solidFill>
              <a:srgbClr val="D0E1F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5" name="Rectangle 26"/>
            <p:cNvSpPr>
              <a:spLocks noChangeArrowheads="1"/>
            </p:cNvSpPr>
            <p:nvPr/>
          </p:nvSpPr>
          <p:spPr bwMode="auto">
            <a:xfrm>
              <a:off x="482600" y="3714751"/>
              <a:ext cx="7977188" cy="69850"/>
            </a:xfrm>
            <a:prstGeom prst="rect">
              <a:avLst/>
            </a:prstGeom>
            <a:solidFill>
              <a:srgbClr val="CEDFF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6" name="Rectangle 27"/>
            <p:cNvSpPr>
              <a:spLocks noChangeArrowheads="1"/>
            </p:cNvSpPr>
            <p:nvPr/>
          </p:nvSpPr>
          <p:spPr bwMode="auto">
            <a:xfrm>
              <a:off x="482600" y="3679826"/>
              <a:ext cx="7977188" cy="69850"/>
            </a:xfrm>
            <a:prstGeom prst="rect">
              <a:avLst/>
            </a:prstGeom>
            <a:solidFill>
              <a:srgbClr val="CBDEF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7" name="Rectangle 28"/>
            <p:cNvSpPr>
              <a:spLocks noChangeArrowheads="1"/>
            </p:cNvSpPr>
            <p:nvPr/>
          </p:nvSpPr>
          <p:spPr bwMode="auto">
            <a:xfrm>
              <a:off x="482600" y="3644901"/>
              <a:ext cx="7977188" cy="69850"/>
            </a:xfrm>
            <a:prstGeom prst="rect">
              <a:avLst/>
            </a:prstGeom>
            <a:solidFill>
              <a:srgbClr val="C8DCF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8" name="Rectangle 29"/>
            <p:cNvSpPr>
              <a:spLocks noChangeArrowheads="1"/>
            </p:cNvSpPr>
            <p:nvPr/>
          </p:nvSpPr>
          <p:spPr bwMode="auto">
            <a:xfrm>
              <a:off x="482600" y="3609976"/>
              <a:ext cx="7977188" cy="69850"/>
            </a:xfrm>
            <a:prstGeom prst="rect">
              <a:avLst/>
            </a:prstGeom>
            <a:solidFill>
              <a:srgbClr val="C6DAF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9" name="Rectangle 30"/>
            <p:cNvSpPr>
              <a:spLocks noChangeArrowheads="1"/>
            </p:cNvSpPr>
            <p:nvPr/>
          </p:nvSpPr>
          <p:spPr bwMode="auto">
            <a:xfrm>
              <a:off x="482600" y="3576638"/>
              <a:ext cx="7977188" cy="68263"/>
            </a:xfrm>
            <a:prstGeom prst="rect">
              <a:avLst/>
            </a:prstGeom>
            <a:solidFill>
              <a:srgbClr val="C3D9F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0" name="Rectangle 31"/>
            <p:cNvSpPr>
              <a:spLocks noChangeArrowheads="1"/>
            </p:cNvSpPr>
            <p:nvPr/>
          </p:nvSpPr>
          <p:spPr bwMode="auto">
            <a:xfrm>
              <a:off x="482600" y="3541713"/>
              <a:ext cx="7977188" cy="68263"/>
            </a:xfrm>
            <a:prstGeom prst="rect">
              <a:avLst/>
            </a:prstGeom>
            <a:solidFill>
              <a:srgbClr val="C0D7F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1" name="Rectangle 32"/>
            <p:cNvSpPr>
              <a:spLocks noChangeArrowheads="1"/>
            </p:cNvSpPr>
            <p:nvPr/>
          </p:nvSpPr>
          <p:spPr bwMode="auto">
            <a:xfrm>
              <a:off x="482600" y="3506788"/>
              <a:ext cx="7977188" cy="69850"/>
            </a:xfrm>
            <a:prstGeom prst="rect">
              <a:avLst/>
            </a:prstGeom>
            <a:solidFill>
              <a:srgbClr val="BDD5F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2" name="Rectangle 33"/>
            <p:cNvSpPr>
              <a:spLocks noChangeArrowheads="1"/>
            </p:cNvSpPr>
            <p:nvPr/>
          </p:nvSpPr>
          <p:spPr bwMode="auto">
            <a:xfrm>
              <a:off x="482600" y="3471863"/>
              <a:ext cx="7977188" cy="69850"/>
            </a:xfrm>
            <a:prstGeom prst="rect">
              <a:avLst/>
            </a:prstGeom>
            <a:solidFill>
              <a:srgbClr val="BFD6F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3" name="Rectangle 34"/>
            <p:cNvSpPr>
              <a:spLocks noChangeArrowheads="1"/>
            </p:cNvSpPr>
            <p:nvPr/>
          </p:nvSpPr>
          <p:spPr bwMode="auto">
            <a:xfrm>
              <a:off x="482600" y="3436938"/>
              <a:ext cx="7977188" cy="69850"/>
            </a:xfrm>
            <a:prstGeom prst="rect">
              <a:avLst/>
            </a:prstGeom>
            <a:solidFill>
              <a:srgbClr val="C2D8F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4" name="Rectangle 35"/>
            <p:cNvSpPr>
              <a:spLocks noChangeArrowheads="1"/>
            </p:cNvSpPr>
            <p:nvPr/>
          </p:nvSpPr>
          <p:spPr bwMode="auto">
            <a:xfrm>
              <a:off x="482600" y="3403601"/>
              <a:ext cx="7977188" cy="68263"/>
            </a:xfrm>
            <a:prstGeom prst="rect">
              <a:avLst/>
            </a:prstGeom>
            <a:solidFill>
              <a:srgbClr val="C5DAF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5" name="Rectangle 36"/>
            <p:cNvSpPr>
              <a:spLocks noChangeArrowheads="1"/>
            </p:cNvSpPr>
            <p:nvPr/>
          </p:nvSpPr>
          <p:spPr bwMode="auto">
            <a:xfrm>
              <a:off x="482600" y="3368676"/>
              <a:ext cx="7977188" cy="68263"/>
            </a:xfrm>
            <a:prstGeom prst="rect">
              <a:avLst/>
            </a:prstGeom>
            <a:solidFill>
              <a:srgbClr val="C7DBF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6" name="Rectangle 37"/>
            <p:cNvSpPr>
              <a:spLocks noChangeArrowheads="1"/>
            </p:cNvSpPr>
            <p:nvPr/>
          </p:nvSpPr>
          <p:spPr bwMode="auto">
            <a:xfrm>
              <a:off x="482600" y="3333751"/>
              <a:ext cx="7977188" cy="69850"/>
            </a:xfrm>
            <a:prstGeom prst="rect">
              <a:avLst/>
            </a:prstGeom>
            <a:solidFill>
              <a:srgbClr val="CADDF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7" name="Rectangle 38"/>
            <p:cNvSpPr>
              <a:spLocks noChangeArrowheads="1"/>
            </p:cNvSpPr>
            <p:nvPr/>
          </p:nvSpPr>
          <p:spPr bwMode="auto">
            <a:xfrm>
              <a:off x="482600" y="3298826"/>
              <a:ext cx="7977188" cy="69850"/>
            </a:xfrm>
            <a:prstGeom prst="rect">
              <a:avLst/>
            </a:prstGeom>
            <a:solidFill>
              <a:srgbClr val="CDDEF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8" name="Rectangle 39"/>
            <p:cNvSpPr>
              <a:spLocks noChangeArrowheads="1"/>
            </p:cNvSpPr>
            <p:nvPr/>
          </p:nvSpPr>
          <p:spPr bwMode="auto">
            <a:xfrm>
              <a:off x="482600" y="3263901"/>
              <a:ext cx="7977188" cy="69850"/>
            </a:xfrm>
            <a:prstGeom prst="rect">
              <a:avLst/>
            </a:prstGeom>
            <a:solidFill>
              <a:srgbClr val="D0E0F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9" name="Rectangle 40"/>
            <p:cNvSpPr>
              <a:spLocks noChangeArrowheads="1"/>
            </p:cNvSpPr>
            <p:nvPr/>
          </p:nvSpPr>
          <p:spPr bwMode="auto">
            <a:xfrm>
              <a:off x="482600" y="3228976"/>
              <a:ext cx="7977188" cy="69850"/>
            </a:xfrm>
            <a:prstGeom prst="rect">
              <a:avLst/>
            </a:prstGeom>
            <a:solidFill>
              <a:srgbClr val="D2E2F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0" name="Rectangle 41"/>
            <p:cNvSpPr>
              <a:spLocks noChangeArrowheads="1"/>
            </p:cNvSpPr>
            <p:nvPr/>
          </p:nvSpPr>
          <p:spPr bwMode="auto">
            <a:xfrm>
              <a:off x="482600" y="3195638"/>
              <a:ext cx="7977188" cy="68263"/>
            </a:xfrm>
            <a:prstGeom prst="rect">
              <a:avLst/>
            </a:prstGeom>
            <a:solidFill>
              <a:srgbClr val="D5E3F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1" name="Rectangle 42"/>
            <p:cNvSpPr>
              <a:spLocks noChangeArrowheads="1"/>
            </p:cNvSpPr>
            <p:nvPr/>
          </p:nvSpPr>
          <p:spPr bwMode="auto">
            <a:xfrm>
              <a:off x="482600" y="3160713"/>
              <a:ext cx="7977188" cy="68263"/>
            </a:xfrm>
            <a:prstGeom prst="rect">
              <a:avLst/>
            </a:prstGeom>
            <a:solidFill>
              <a:srgbClr val="D7E5F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2" name="Rectangle 43"/>
            <p:cNvSpPr>
              <a:spLocks noChangeArrowheads="1"/>
            </p:cNvSpPr>
            <p:nvPr/>
          </p:nvSpPr>
          <p:spPr bwMode="auto">
            <a:xfrm>
              <a:off x="482600" y="3125788"/>
              <a:ext cx="7977188" cy="69850"/>
            </a:xfrm>
            <a:prstGeom prst="rect">
              <a:avLst/>
            </a:prstGeom>
            <a:solidFill>
              <a:srgbClr val="DAE7F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3" name="Rectangle 44"/>
            <p:cNvSpPr>
              <a:spLocks noChangeArrowheads="1"/>
            </p:cNvSpPr>
            <p:nvPr/>
          </p:nvSpPr>
          <p:spPr bwMode="auto">
            <a:xfrm>
              <a:off x="482600" y="3090863"/>
              <a:ext cx="7977188" cy="69850"/>
            </a:xfrm>
            <a:prstGeom prst="rect">
              <a:avLst/>
            </a:prstGeom>
            <a:solidFill>
              <a:srgbClr val="DDE8F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4" name="Rectangle 45"/>
            <p:cNvSpPr>
              <a:spLocks noChangeArrowheads="1"/>
            </p:cNvSpPr>
            <p:nvPr/>
          </p:nvSpPr>
          <p:spPr bwMode="auto">
            <a:xfrm>
              <a:off x="482600" y="3055938"/>
              <a:ext cx="7977188" cy="69850"/>
            </a:xfrm>
            <a:prstGeom prst="rect">
              <a:avLst/>
            </a:prstGeom>
            <a:solidFill>
              <a:srgbClr val="E0EAF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5" name="Rectangle 46"/>
            <p:cNvSpPr>
              <a:spLocks noChangeArrowheads="1"/>
            </p:cNvSpPr>
            <p:nvPr/>
          </p:nvSpPr>
          <p:spPr bwMode="auto">
            <a:xfrm>
              <a:off x="482600" y="3021013"/>
              <a:ext cx="7977188" cy="69850"/>
            </a:xfrm>
            <a:prstGeom prst="rect">
              <a:avLst/>
            </a:prstGeom>
            <a:solidFill>
              <a:srgbClr val="E3ECF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6" name="Rectangle 47"/>
            <p:cNvSpPr>
              <a:spLocks noChangeArrowheads="1"/>
            </p:cNvSpPr>
            <p:nvPr/>
          </p:nvSpPr>
          <p:spPr bwMode="auto">
            <a:xfrm>
              <a:off x="482600" y="2987676"/>
              <a:ext cx="7977188" cy="68263"/>
            </a:xfrm>
            <a:prstGeom prst="rect">
              <a:avLst/>
            </a:prstGeom>
            <a:solidFill>
              <a:srgbClr val="E5EEF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7" name="Rectangle 48"/>
            <p:cNvSpPr>
              <a:spLocks noChangeArrowheads="1"/>
            </p:cNvSpPr>
            <p:nvPr/>
          </p:nvSpPr>
          <p:spPr bwMode="auto">
            <a:xfrm>
              <a:off x="482600" y="2952751"/>
              <a:ext cx="7977188" cy="68263"/>
            </a:xfrm>
            <a:prstGeom prst="rect">
              <a:avLst/>
            </a:prstGeom>
            <a:solidFill>
              <a:srgbClr val="E8F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8" name="Rectangle 49"/>
            <p:cNvSpPr>
              <a:spLocks noChangeArrowheads="1"/>
            </p:cNvSpPr>
            <p:nvPr/>
          </p:nvSpPr>
          <p:spPr bwMode="auto">
            <a:xfrm>
              <a:off x="482600" y="2917826"/>
              <a:ext cx="7977188" cy="69850"/>
            </a:xfrm>
            <a:prstGeom prst="rect">
              <a:avLst/>
            </a:prstGeom>
            <a:solidFill>
              <a:srgbClr val="EAF1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9" name="Rectangle 50"/>
            <p:cNvSpPr>
              <a:spLocks noChangeArrowheads="1"/>
            </p:cNvSpPr>
            <p:nvPr/>
          </p:nvSpPr>
          <p:spPr bwMode="auto">
            <a:xfrm>
              <a:off x="482600" y="2882901"/>
              <a:ext cx="7977188" cy="69850"/>
            </a:xfrm>
            <a:prstGeom prst="rect">
              <a:avLst/>
            </a:prstGeom>
            <a:solidFill>
              <a:srgbClr val="EDF3F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0" name="Rectangle 51"/>
            <p:cNvSpPr>
              <a:spLocks noChangeArrowheads="1"/>
            </p:cNvSpPr>
            <p:nvPr/>
          </p:nvSpPr>
          <p:spPr bwMode="auto">
            <a:xfrm>
              <a:off x="482600" y="2847976"/>
              <a:ext cx="7977188" cy="69850"/>
            </a:xfrm>
            <a:prstGeom prst="rect">
              <a:avLst/>
            </a:prstGeom>
            <a:solidFill>
              <a:srgbClr val="F0F4F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1" name="Rectangle 52"/>
            <p:cNvSpPr>
              <a:spLocks noChangeArrowheads="1"/>
            </p:cNvSpPr>
            <p:nvPr/>
          </p:nvSpPr>
          <p:spPr bwMode="auto">
            <a:xfrm>
              <a:off x="482600" y="2814638"/>
              <a:ext cx="7977188" cy="68263"/>
            </a:xfrm>
            <a:prstGeom prst="rect">
              <a:avLst/>
            </a:prstGeom>
            <a:solidFill>
              <a:srgbClr val="F2F6F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2" name="Rectangle 53"/>
            <p:cNvSpPr>
              <a:spLocks noChangeArrowheads="1"/>
            </p:cNvSpPr>
            <p:nvPr/>
          </p:nvSpPr>
          <p:spPr bwMode="auto">
            <a:xfrm>
              <a:off x="482600" y="2779713"/>
              <a:ext cx="7977188" cy="68263"/>
            </a:xfrm>
            <a:prstGeom prst="rect">
              <a:avLst/>
            </a:prstGeom>
            <a:solidFill>
              <a:srgbClr val="F5F8F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3" name="Rectangle 54"/>
            <p:cNvSpPr>
              <a:spLocks noChangeArrowheads="1"/>
            </p:cNvSpPr>
            <p:nvPr/>
          </p:nvSpPr>
          <p:spPr bwMode="auto">
            <a:xfrm>
              <a:off x="482600" y="2744788"/>
              <a:ext cx="7977188" cy="69850"/>
            </a:xfrm>
            <a:prstGeom prst="rect">
              <a:avLst/>
            </a:prstGeom>
            <a:solidFill>
              <a:srgbClr val="F7F9F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4" name="Rectangle 55"/>
            <p:cNvSpPr>
              <a:spLocks noChangeArrowheads="1"/>
            </p:cNvSpPr>
            <p:nvPr/>
          </p:nvSpPr>
          <p:spPr bwMode="auto">
            <a:xfrm>
              <a:off x="482600" y="2709863"/>
              <a:ext cx="7977188" cy="69850"/>
            </a:xfrm>
            <a:prstGeom prst="rect">
              <a:avLst/>
            </a:prstGeom>
            <a:solidFill>
              <a:srgbClr val="F9FBFE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5" name="Rectangle 56"/>
            <p:cNvSpPr>
              <a:spLocks noChangeArrowheads="1"/>
            </p:cNvSpPr>
            <p:nvPr/>
          </p:nvSpPr>
          <p:spPr bwMode="auto">
            <a:xfrm>
              <a:off x="482600" y="2709863"/>
              <a:ext cx="7977188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6" name="Freeform 57"/>
            <p:cNvSpPr>
              <a:spLocks/>
            </p:cNvSpPr>
            <p:nvPr/>
          </p:nvSpPr>
          <p:spPr bwMode="auto">
            <a:xfrm>
              <a:off x="482600" y="2709863"/>
              <a:ext cx="7977188" cy="0"/>
            </a:xfrm>
            <a:custGeom>
              <a:avLst/>
              <a:gdLst>
                <a:gd name="T0" fmla="*/ 20100 w 20100"/>
                <a:gd name="T1" fmla="*/ 0 w 20100"/>
                <a:gd name="T2" fmla="*/ 20100 w 2010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100">
                  <a:moveTo>
                    <a:pt x="20100" y="0"/>
                  </a:moveTo>
                  <a:lnTo>
                    <a:pt x="0" y="0"/>
                  </a:lnTo>
                  <a:lnTo>
                    <a:pt x="201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187" name="Gruppieren 1113"/>
          <p:cNvGrpSpPr/>
          <p:nvPr/>
        </p:nvGrpSpPr>
        <p:grpSpPr>
          <a:xfrm>
            <a:off x="2823986" y="3573106"/>
            <a:ext cx="1356779" cy="721856"/>
            <a:chOff x="2809078" y="3816351"/>
            <a:chExt cx="1356779" cy="721856"/>
          </a:xfrm>
        </p:grpSpPr>
        <p:sp>
          <p:nvSpPr>
            <p:cNvPr id="188" name="Freeform 58"/>
            <p:cNvSpPr>
              <a:spLocks/>
            </p:cNvSpPr>
            <p:nvPr/>
          </p:nvSpPr>
          <p:spPr bwMode="auto">
            <a:xfrm>
              <a:off x="3384550" y="3816351"/>
              <a:ext cx="436563" cy="485775"/>
            </a:xfrm>
            <a:custGeom>
              <a:avLst/>
              <a:gdLst>
                <a:gd name="T0" fmla="*/ 827 w 1102"/>
                <a:gd name="T1" fmla="*/ 1226 h 1226"/>
                <a:gd name="T2" fmla="*/ 827 w 1102"/>
                <a:gd name="T3" fmla="*/ 771 h 1226"/>
                <a:gd name="T4" fmla="*/ 1102 w 1102"/>
                <a:gd name="T5" fmla="*/ 771 h 1226"/>
                <a:gd name="T6" fmla="*/ 552 w 1102"/>
                <a:gd name="T7" fmla="*/ 0 h 1226"/>
                <a:gd name="T8" fmla="*/ 0 w 1102"/>
                <a:gd name="T9" fmla="*/ 771 h 1226"/>
                <a:gd name="T10" fmla="*/ 275 w 1102"/>
                <a:gd name="T11" fmla="*/ 771 h 1226"/>
                <a:gd name="T12" fmla="*/ 275 w 1102"/>
                <a:gd name="T13" fmla="*/ 1226 h 1226"/>
                <a:gd name="T14" fmla="*/ 827 w 1102"/>
                <a:gd name="T15" fmla="*/ 1226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2" h="1226">
                  <a:moveTo>
                    <a:pt x="827" y="1226"/>
                  </a:moveTo>
                  <a:lnTo>
                    <a:pt x="827" y="771"/>
                  </a:lnTo>
                  <a:lnTo>
                    <a:pt x="1102" y="771"/>
                  </a:lnTo>
                  <a:lnTo>
                    <a:pt x="552" y="0"/>
                  </a:lnTo>
                  <a:lnTo>
                    <a:pt x="0" y="771"/>
                  </a:lnTo>
                  <a:lnTo>
                    <a:pt x="275" y="771"/>
                  </a:lnTo>
                  <a:lnTo>
                    <a:pt x="275" y="1226"/>
                  </a:lnTo>
                  <a:lnTo>
                    <a:pt x="827" y="1226"/>
                  </a:lnTo>
                  <a:close/>
                </a:path>
              </a:pathLst>
            </a:custGeom>
            <a:solidFill>
              <a:srgbClr val="E3061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9" name="Rectangle 63"/>
            <p:cNvSpPr>
              <a:spLocks noChangeArrowheads="1"/>
            </p:cNvSpPr>
            <p:nvPr/>
          </p:nvSpPr>
          <p:spPr bwMode="auto">
            <a:xfrm>
              <a:off x="2809078" y="4322763"/>
              <a:ext cx="135677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de-DE" altLang="de-DE" sz="1400" b="1" dirty="0">
                  <a:solidFill>
                    <a:srgbClr val="E30617"/>
                  </a:solidFill>
                </a:rPr>
                <a:t>     </a:t>
              </a:r>
              <a:r>
                <a:rPr kumimoji="0" lang="de-DE" altLang="de-DE" sz="1400" b="1" i="0" u="none" strike="noStrike" cap="none" normalizeH="0" baseline="0" dirty="0">
                  <a:ln>
                    <a:noFill/>
                  </a:ln>
                  <a:solidFill>
                    <a:srgbClr val="E30617"/>
                  </a:solidFill>
                  <a:effectLst/>
                  <a:latin typeface="Arial" pitchFamily="34" charset="0"/>
                  <a:cs typeface="Arial" pitchFamily="34" charset="0"/>
                </a:rPr>
                <a:t>STRESSORS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09" name="Rectangle 59"/>
          <p:cNvSpPr>
            <a:spLocks noChangeArrowheads="1"/>
          </p:cNvSpPr>
          <p:nvPr/>
        </p:nvSpPr>
        <p:spPr bwMode="auto">
          <a:xfrm>
            <a:off x="1138858" y="2250718"/>
            <a:ext cx="3508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700" b="1" i="0" u="none" strike="noStrike" cap="none" normalizeH="0" baseline="0" dirty="0">
                <a:ln>
                  <a:noFill/>
                </a:ln>
                <a:solidFill>
                  <a:srgbClr val="1D1D1B"/>
                </a:solidFill>
                <a:effectLst/>
                <a:latin typeface="Arial" pitchFamily="34" charset="0"/>
                <a:cs typeface="Arial" pitchFamily="34" charset="0"/>
              </a:rPr>
              <a:t>T1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Rectangle 60"/>
          <p:cNvSpPr>
            <a:spLocks noChangeArrowheads="1"/>
          </p:cNvSpPr>
          <p:nvPr/>
        </p:nvSpPr>
        <p:spPr bwMode="auto">
          <a:xfrm>
            <a:off x="5999783" y="2250718"/>
            <a:ext cx="3508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700" b="1" i="0" u="none" strike="noStrike" cap="none" normalizeH="0" baseline="0" dirty="0">
                <a:ln>
                  <a:noFill/>
                </a:ln>
                <a:solidFill>
                  <a:srgbClr val="1D1D1B"/>
                </a:solidFill>
                <a:effectLst/>
                <a:latin typeface="Arial" pitchFamily="34" charset="0"/>
                <a:cs typeface="Arial" pitchFamily="34" charset="0"/>
              </a:rPr>
              <a:t>T2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Rectangle 89"/>
          <p:cNvSpPr>
            <a:spLocks noChangeArrowheads="1"/>
          </p:cNvSpPr>
          <p:nvPr/>
        </p:nvSpPr>
        <p:spPr bwMode="auto">
          <a:xfrm>
            <a:off x="1043608" y="3195990"/>
            <a:ext cx="25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rgbClr val="1D1D1B"/>
                </a:solidFill>
                <a:effectLst/>
                <a:latin typeface="Symbol" pitchFamily="18" charset="2"/>
                <a:cs typeface="Arial" pitchFamily="34" charset="0"/>
              </a:rPr>
              <a:t>S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Rectangle 90"/>
          <p:cNvSpPr>
            <a:spLocks noChangeArrowheads="1"/>
          </p:cNvSpPr>
          <p:nvPr/>
        </p:nvSpPr>
        <p:spPr bwMode="auto">
          <a:xfrm>
            <a:off x="1170608" y="3201631"/>
            <a:ext cx="14587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rgbClr val="1D1D1B"/>
                </a:solidFill>
                <a:effectLst/>
                <a:latin typeface="Arial" pitchFamily="34" charset="0"/>
                <a:cs typeface="Arial" pitchFamily="34" charset="0"/>
              </a:rPr>
              <a:t>P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Rectangle 91"/>
          <p:cNvSpPr>
            <a:spLocks noChangeArrowheads="1"/>
          </p:cNvSpPr>
          <p:nvPr/>
        </p:nvSpPr>
        <p:spPr bwMode="auto">
          <a:xfrm>
            <a:off x="1324596" y="3320693"/>
            <a:ext cx="2000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1D1D1B"/>
                </a:solidFill>
                <a:effectLst/>
                <a:latin typeface="Arial" pitchFamily="34" charset="0"/>
                <a:cs typeface="Arial" pitchFamily="34" charset="0"/>
              </a:rPr>
              <a:t>T1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14" name="Gruppierung 213"/>
          <p:cNvGrpSpPr/>
          <p:nvPr/>
        </p:nvGrpSpPr>
        <p:grpSpPr>
          <a:xfrm>
            <a:off x="1635746" y="2796390"/>
            <a:ext cx="4752975" cy="552878"/>
            <a:chOff x="1635746" y="1526400"/>
            <a:chExt cx="4752975" cy="552878"/>
          </a:xfrm>
        </p:grpSpPr>
        <p:sp>
          <p:nvSpPr>
            <p:cNvPr id="215" name="Rectangle 98"/>
            <p:cNvSpPr>
              <a:spLocks noChangeArrowheads="1"/>
            </p:cNvSpPr>
            <p:nvPr/>
          </p:nvSpPr>
          <p:spPr bwMode="auto">
            <a:xfrm>
              <a:off x="5909296" y="1526400"/>
              <a:ext cx="2540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7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Symbol" pitchFamily="18" charset="2"/>
                  <a:cs typeface="Arial" pitchFamily="34" charset="0"/>
                </a:rPr>
                <a:t>S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" name="Rectangle 99"/>
            <p:cNvSpPr>
              <a:spLocks noChangeArrowheads="1"/>
            </p:cNvSpPr>
            <p:nvPr/>
          </p:nvSpPr>
          <p:spPr bwMode="auto">
            <a:xfrm>
              <a:off x="6034708" y="1528416"/>
              <a:ext cx="14587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de-DE" altLang="de-DE" sz="1700" dirty="0">
                  <a:solidFill>
                    <a:srgbClr val="1D1D1B"/>
                  </a:solidFill>
                </a:rPr>
                <a:t>P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" name="Rectangle 100"/>
            <p:cNvSpPr>
              <a:spLocks noChangeArrowheads="1"/>
            </p:cNvSpPr>
            <p:nvPr/>
          </p:nvSpPr>
          <p:spPr bwMode="auto">
            <a:xfrm>
              <a:off x="6188696" y="1647478"/>
              <a:ext cx="20002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0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T2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" name="Freeform 101"/>
            <p:cNvSpPr>
              <a:spLocks/>
            </p:cNvSpPr>
            <p:nvPr/>
          </p:nvSpPr>
          <p:spPr bwMode="auto">
            <a:xfrm>
              <a:off x="1635746" y="2053878"/>
              <a:ext cx="14288" cy="25400"/>
            </a:xfrm>
            <a:custGeom>
              <a:avLst/>
              <a:gdLst>
                <a:gd name="T0" fmla="*/ 29 w 35"/>
                <a:gd name="T1" fmla="*/ 0 h 64"/>
                <a:gd name="T2" fmla="*/ 27 w 35"/>
                <a:gd name="T3" fmla="*/ 1 h 64"/>
                <a:gd name="T4" fmla="*/ 23 w 35"/>
                <a:gd name="T5" fmla="*/ 1 h 64"/>
                <a:gd name="T6" fmla="*/ 20 w 35"/>
                <a:gd name="T7" fmla="*/ 2 h 64"/>
                <a:gd name="T8" fmla="*/ 18 w 35"/>
                <a:gd name="T9" fmla="*/ 3 h 64"/>
                <a:gd name="T10" fmla="*/ 15 w 35"/>
                <a:gd name="T11" fmla="*/ 5 h 64"/>
                <a:gd name="T12" fmla="*/ 13 w 35"/>
                <a:gd name="T13" fmla="*/ 7 h 64"/>
                <a:gd name="T14" fmla="*/ 10 w 35"/>
                <a:gd name="T15" fmla="*/ 8 h 64"/>
                <a:gd name="T16" fmla="*/ 8 w 35"/>
                <a:gd name="T17" fmla="*/ 11 h 64"/>
                <a:gd name="T18" fmla="*/ 7 w 35"/>
                <a:gd name="T19" fmla="*/ 13 h 64"/>
                <a:gd name="T20" fmla="*/ 5 w 35"/>
                <a:gd name="T21" fmla="*/ 16 h 64"/>
                <a:gd name="T22" fmla="*/ 3 w 35"/>
                <a:gd name="T23" fmla="*/ 18 h 64"/>
                <a:gd name="T24" fmla="*/ 3 w 35"/>
                <a:gd name="T25" fmla="*/ 22 h 64"/>
                <a:gd name="T26" fmla="*/ 2 w 35"/>
                <a:gd name="T27" fmla="*/ 25 h 64"/>
                <a:gd name="T28" fmla="*/ 2 w 35"/>
                <a:gd name="T29" fmla="*/ 27 h 64"/>
                <a:gd name="T30" fmla="*/ 0 w 35"/>
                <a:gd name="T31" fmla="*/ 31 h 64"/>
                <a:gd name="T32" fmla="*/ 2 w 35"/>
                <a:gd name="T33" fmla="*/ 35 h 64"/>
                <a:gd name="T34" fmla="*/ 2 w 35"/>
                <a:gd name="T35" fmla="*/ 37 h 64"/>
                <a:gd name="T36" fmla="*/ 2 w 35"/>
                <a:gd name="T37" fmla="*/ 41 h 64"/>
                <a:gd name="T38" fmla="*/ 3 w 35"/>
                <a:gd name="T39" fmla="*/ 44 h 64"/>
                <a:gd name="T40" fmla="*/ 4 w 35"/>
                <a:gd name="T41" fmla="*/ 46 h 64"/>
                <a:gd name="T42" fmla="*/ 7 w 35"/>
                <a:gd name="T43" fmla="*/ 49 h 64"/>
                <a:gd name="T44" fmla="*/ 8 w 35"/>
                <a:gd name="T45" fmla="*/ 51 h 64"/>
                <a:gd name="T46" fmla="*/ 10 w 35"/>
                <a:gd name="T47" fmla="*/ 54 h 64"/>
                <a:gd name="T48" fmla="*/ 12 w 35"/>
                <a:gd name="T49" fmla="*/ 56 h 64"/>
                <a:gd name="T50" fmla="*/ 14 w 35"/>
                <a:gd name="T51" fmla="*/ 57 h 64"/>
                <a:gd name="T52" fmla="*/ 17 w 35"/>
                <a:gd name="T53" fmla="*/ 59 h 64"/>
                <a:gd name="T54" fmla="*/ 20 w 35"/>
                <a:gd name="T55" fmla="*/ 60 h 64"/>
                <a:gd name="T56" fmla="*/ 23 w 35"/>
                <a:gd name="T57" fmla="*/ 61 h 64"/>
                <a:gd name="T58" fmla="*/ 25 w 35"/>
                <a:gd name="T59" fmla="*/ 62 h 64"/>
                <a:gd name="T60" fmla="*/ 29 w 35"/>
                <a:gd name="T61" fmla="*/ 62 h 64"/>
                <a:gd name="T62" fmla="*/ 32 w 35"/>
                <a:gd name="T63" fmla="*/ 64 h 64"/>
                <a:gd name="T64" fmla="*/ 35 w 35"/>
                <a:gd name="T65" fmla="*/ 62 h 64"/>
                <a:gd name="T66" fmla="*/ 29 w 35"/>
                <a:gd name="T6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64">
                  <a:moveTo>
                    <a:pt x="29" y="0"/>
                  </a:moveTo>
                  <a:lnTo>
                    <a:pt x="27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7"/>
                  </a:lnTo>
                  <a:lnTo>
                    <a:pt x="10" y="8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5" y="16"/>
                  </a:lnTo>
                  <a:lnTo>
                    <a:pt x="3" y="18"/>
                  </a:lnTo>
                  <a:lnTo>
                    <a:pt x="3" y="22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0" y="31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41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7" y="49"/>
                  </a:lnTo>
                  <a:lnTo>
                    <a:pt x="8" y="51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4" y="57"/>
                  </a:lnTo>
                  <a:lnTo>
                    <a:pt x="17" y="59"/>
                  </a:lnTo>
                  <a:lnTo>
                    <a:pt x="20" y="60"/>
                  </a:lnTo>
                  <a:lnTo>
                    <a:pt x="23" y="61"/>
                  </a:lnTo>
                  <a:lnTo>
                    <a:pt x="25" y="62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35" y="6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9" name="Freeform 102"/>
            <p:cNvSpPr>
              <a:spLocks/>
            </p:cNvSpPr>
            <p:nvPr/>
          </p:nvSpPr>
          <p:spPr bwMode="auto">
            <a:xfrm>
              <a:off x="1648446" y="1698278"/>
              <a:ext cx="3956050" cy="379413"/>
            </a:xfrm>
            <a:custGeom>
              <a:avLst/>
              <a:gdLst>
                <a:gd name="T0" fmla="*/ 9965 w 9970"/>
                <a:gd name="T1" fmla="*/ 0 h 957"/>
                <a:gd name="T2" fmla="*/ 0 w 9970"/>
                <a:gd name="T3" fmla="*/ 895 h 957"/>
                <a:gd name="T4" fmla="*/ 6 w 9970"/>
                <a:gd name="T5" fmla="*/ 957 h 957"/>
                <a:gd name="T6" fmla="*/ 9970 w 9970"/>
                <a:gd name="T7" fmla="*/ 63 h 957"/>
                <a:gd name="T8" fmla="*/ 9965 w 9970"/>
                <a:gd name="T9" fmla="*/ 0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70" h="957">
                  <a:moveTo>
                    <a:pt x="9965" y="0"/>
                  </a:moveTo>
                  <a:lnTo>
                    <a:pt x="0" y="895"/>
                  </a:lnTo>
                  <a:lnTo>
                    <a:pt x="6" y="957"/>
                  </a:lnTo>
                  <a:lnTo>
                    <a:pt x="9970" y="63"/>
                  </a:lnTo>
                  <a:lnTo>
                    <a:pt x="9965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0" name="Freeform 103"/>
            <p:cNvSpPr>
              <a:spLocks/>
            </p:cNvSpPr>
            <p:nvPr/>
          </p:nvSpPr>
          <p:spPr bwMode="auto">
            <a:xfrm>
              <a:off x="5572746" y="1685578"/>
              <a:ext cx="123825" cy="57150"/>
            </a:xfrm>
            <a:custGeom>
              <a:avLst/>
              <a:gdLst>
                <a:gd name="T0" fmla="*/ 315 w 315"/>
                <a:gd name="T1" fmla="*/ 44 h 145"/>
                <a:gd name="T2" fmla="*/ 0 w 315"/>
                <a:gd name="T3" fmla="*/ 0 h 145"/>
                <a:gd name="T4" fmla="*/ 14 w 315"/>
                <a:gd name="T5" fmla="*/ 145 h 145"/>
                <a:gd name="T6" fmla="*/ 315 w 315"/>
                <a:gd name="T7" fmla="*/ 4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" h="145">
                  <a:moveTo>
                    <a:pt x="315" y="44"/>
                  </a:moveTo>
                  <a:lnTo>
                    <a:pt x="0" y="0"/>
                  </a:lnTo>
                  <a:lnTo>
                    <a:pt x="14" y="145"/>
                  </a:lnTo>
                  <a:lnTo>
                    <a:pt x="315" y="44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1" name="Freeform 104"/>
            <p:cNvSpPr>
              <a:spLocks/>
            </p:cNvSpPr>
            <p:nvPr/>
          </p:nvSpPr>
          <p:spPr bwMode="auto">
            <a:xfrm>
              <a:off x="5602908" y="1698278"/>
              <a:ext cx="12700" cy="25400"/>
            </a:xfrm>
            <a:custGeom>
              <a:avLst/>
              <a:gdLst>
                <a:gd name="T0" fmla="*/ 5 w 34"/>
                <a:gd name="T1" fmla="*/ 63 h 63"/>
                <a:gd name="T2" fmla="*/ 7 w 34"/>
                <a:gd name="T3" fmla="*/ 63 h 63"/>
                <a:gd name="T4" fmla="*/ 11 w 34"/>
                <a:gd name="T5" fmla="*/ 62 h 63"/>
                <a:gd name="T6" fmla="*/ 14 w 34"/>
                <a:gd name="T7" fmla="*/ 62 h 63"/>
                <a:gd name="T8" fmla="*/ 17 w 34"/>
                <a:gd name="T9" fmla="*/ 61 h 63"/>
                <a:gd name="T10" fmla="*/ 20 w 34"/>
                <a:gd name="T11" fmla="*/ 58 h 63"/>
                <a:gd name="T12" fmla="*/ 22 w 34"/>
                <a:gd name="T13" fmla="*/ 57 h 63"/>
                <a:gd name="T14" fmla="*/ 24 w 34"/>
                <a:gd name="T15" fmla="*/ 54 h 63"/>
                <a:gd name="T16" fmla="*/ 26 w 34"/>
                <a:gd name="T17" fmla="*/ 53 h 63"/>
                <a:gd name="T18" fmla="*/ 27 w 34"/>
                <a:gd name="T19" fmla="*/ 51 h 63"/>
                <a:gd name="T20" fmla="*/ 30 w 34"/>
                <a:gd name="T21" fmla="*/ 48 h 63"/>
                <a:gd name="T22" fmla="*/ 31 w 34"/>
                <a:gd name="T23" fmla="*/ 44 h 63"/>
                <a:gd name="T24" fmla="*/ 32 w 34"/>
                <a:gd name="T25" fmla="*/ 42 h 63"/>
                <a:gd name="T26" fmla="*/ 32 w 34"/>
                <a:gd name="T27" fmla="*/ 39 h 63"/>
                <a:gd name="T28" fmla="*/ 34 w 34"/>
                <a:gd name="T29" fmla="*/ 35 h 63"/>
                <a:gd name="T30" fmla="*/ 34 w 34"/>
                <a:gd name="T31" fmla="*/ 33 h 63"/>
                <a:gd name="T32" fmla="*/ 34 w 34"/>
                <a:gd name="T33" fmla="*/ 29 h 63"/>
                <a:gd name="T34" fmla="*/ 32 w 34"/>
                <a:gd name="T35" fmla="*/ 27 h 63"/>
                <a:gd name="T36" fmla="*/ 32 w 34"/>
                <a:gd name="T37" fmla="*/ 23 h 63"/>
                <a:gd name="T38" fmla="*/ 31 w 34"/>
                <a:gd name="T39" fmla="*/ 20 h 63"/>
                <a:gd name="T40" fmla="*/ 30 w 34"/>
                <a:gd name="T41" fmla="*/ 18 h 63"/>
                <a:gd name="T42" fmla="*/ 29 w 34"/>
                <a:gd name="T43" fmla="*/ 14 h 63"/>
                <a:gd name="T44" fmla="*/ 26 w 34"/>
                <a:gd name="T45" fmla="*/ 12 h 63"/>
                <a:gd name="T46" fmla="*/ 25 w 34"/>
                <a:gd name="T47" fmla="*/ 10 h 63"/>
                <a:gd name="T48" fmla="*/ 22 w 34"/>
                <a:gd name="T49" fmla="*/ 8 h 63"/>
                <a:gd name="T50" fmla="*/ 20 w 34"/>
                <a:gd name="T51" fmla="*/ 7 h 63"/>
                <a:gd name="T52" fmla="*/ 17 w 34"/>
                <a:gd name="T53" fmla="*/ 4 h 63"/>
                <a:gd name="T54" fmla="*/ 15 w 34"/>
                <a:gd name="T55" fmla="*/ 3 h 63"/>
                <a:gd name="T56" fmla="*/ 12 w 34"/>
                <a:gd name="T57" fmla="*/ 2 h 63"/>
                <a:gd name="T58" fmla="*/ 9 w 34"/>
                <a:gd name="T59" fmla="*/ 2 h 63"/>
                <a:gd name="T60" fmla="*/ 6 w 34"/>
                <a:gd name="T61" fmla="*/ 0 h 63"/>
                <a:gd name="T62" fmla="*/ 2 w 34"/>
                <a:gd name="T63" fmla="*/ 0 h 63"/>
                <a:gd name="T64" fmla="*/ 0 w 34"/>
                <a:gd name="T65" fmla="*/ 0 h 63"/>
                <a:gd name="T66" fmla="*/ 5 w 34"/>
                <a:gd name="T67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63">
                  <a:moveTo>
                    <a:pt x="5" y="63"/>
                  </a:moveTo>
                  <a:lnTo>
                    <a:pt x="7" y="63"/>
                  </a:lnTo>
                  <a:lnTo>
                    <a:pt x="11" y="62"/>
                  </a:lnTo>
                  <a:lnTo>
                    <a:pt x="14" y="62"/>
                  </a:lnTo>
                  <a:lnTo>
                    <a:pt x="17" y="61"/>
                  </a:lnTo>
                  <a:lnTo>
                    <a:pt x="20" y="58"/>
                  </a:lnTo>
                  <a:lnTo>
                    <a:pt x="22" y="57"/>
                  </a:lnTo>
                  <a:lnTo>
                    <a:pt x="24" y="54"/>
                  </a:lnTo>
                  <a:lnTo>
                    <a:pt x="26" y="53"/>
                  </a:lnTo>
                  <a:lnTo>
                    <a:pt x="27" y="51"/>
                  </a:lnTo>
                  <a:lnTo>
                    <a:pt x="30" y="48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39"/>
                  </a:lnTo>
                  <a:lnTo>
                    <a:pt x="34" y="35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2" y="27"/>
                  </a:lnTo>
                  <a:lnTo>
                    <a:pt x="32" y="23"/>
                  </a:lnTo>
                  <a:lnTo>
                    <a:pt x="31" y="20"/>
                  </a:lnTo>
                  <a:lnTo>
                    <a:pt x="30" y="18"/>
                  </a:lnTo>
                  <a:lnTo>
                    <a:pt x="29" y="14"/>
                  </a:lnTo>
                  <a:lnTo>
                    <a:pt x="26" y="12"/>
                  </a:lnTo>
                  <a:lnTo>
                    <a:pt x="25" y="10"/>
                  </a:lnTo>
                  <a:lnTo>
                    <a:pt x="22" y="8"/>
                  </a:lnTo>
                  <a:lnTo>
                    <a:pt x="20" y="7"/>
                  </a:lnTo>
                  <a:lnTo>
                    <a:pt x="17" y="4"/>
                  </a:lnTo>
                  <a:lnTo>
                    <a:pt x="15" y="3"/>
                  </a:lnTo>
                  <a:lnTo>
                    <a:pt x="12" y="2"/>
                  </a:lnTo>
                  <a:lnTo>
                    <a:pt x="9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63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2" name="Freeform 105"/>
            <p:cNvSpPr>
              <a:spLocks/>
            </p:cNvSpPr>
            <p:nvPr/>
          </p:nvSpPr>
          <p:spPr bwMode="auto">
            <a:xfrm>
              <a:off x="1635746" y="2053878"/>
              <a:ext cx="14288" cy="23813"/>
            </a:xfrm>
            <a:custGeom>
              <a:avLst/>
              <a:gdLst>
                <a:gd name="T0" fmla="*/ 35 w 35"/>
                <a:gd name="T1" fmla="*/ 0 h 62"/>
                <a:gd name="T2" fmla="*/ 32 w 35"/>
                <a:gd name="T3" fmla="*/ 0 h 62"/>
                <a:gd name="T4" fmla="*/ 29 w 35"/>
                <a:gd name="T5" fmla="*/ 0 h 62"/>
                <a:gd name="T6" fmla="*/ 25 w 35"/>
                <a:gd name="T7" fmla="*/ 1 h 62"/>
                <a:gd name="T8" fmla="*/ 23 w 35"/>
                <a:gd name="T9" fmla="*/ 1 h 62"/>
                <a:gd name="T10" fmla="*/ 20 w 35"/>
                <a:gd name="T11" fmla="*/ 2 h 62"/>
                <a:gd name="T12" fmla="*/ 17 w 35"/>
                <a:gd name="T13" fmla="*/ 3 h 62"/>
                <a:gd name="T14" fmla="*/ 14 w 35"/>
                <a:gd name="T15" fmla="*/ 6 h 62"/>
                <a:gd name="T16" fmla="*/ 12 w 35"/>
                <a:gd name="T17" fmla="*/ 7 h 62"/>
                <a:gd name="T18" fmla="*/ 10 w 35"/>
                <a:gd name="T19" fmla="*/ 10 h 62"/>
                <a:gd name="T20" fmla="*/ 8 w 35"/>
                <a:gd name="T21" fmla="*/ 12 h 62"/>
                <a:gd name="T22" fmla="*/ 7 w 35"/>
                <a:gd name="T23" fmla="*/ 15 h 62"/>
                <a:gd name="T24" fmla="*/ 4 w 35"/>
                <a:gd name="T25" fmla="*/ 17 h 62"/>
                <a:gd name="T26" fmla="*/ 3 w 35"/>
                <a:gd name="T27" fmla="*/ 20 h 62"/>
                <a:gd name="T28" fmla="*/ 2 w 35"/>
                <a:gd name="T29" fmla="*/ 22 h 62"/>
                <a:gd name="T30" fmla="*/ 2 w 35"/>
                <a:gd name="T31" fmla="*/ 26 h 62"/>
                <a:gd name="T32" fmla="*/ 2 w 35"/>
                <a:gd name="T33" fmla="*/ 29 h 62"/>
                <a:gd name="T34" fmla="*/ 0 w 35"/>
                <a:gd name="T35" fmla="*/ 32 h 62"/>
                <a:gd name="T36" fmla="*/ 2 w 35"/>
                <a:gd name="T37" fmla="*/ 35 h 62"/>
                <a:gd name="T38" fmla="*/ 2 w 35"/>
                <a:gd name="T39" fmla="*/ 39 h 62"/>
                <a:gd name="T40" fmla="*/ 3 w 35"/>
                <a:gd name="T41" fmla="*/ 41 h 62"/>
                <a:gd name="T42" fmla="*/ 3 w 35"/>
                <a:gd name="T43" fmla="*/ 44 h 62"/>
                <a:gd name="T44" fmla="*/ 5 w 35"/>
                <a:gd name="T45" fmla="*/ 47 h 62"/>
                <a:gd name="T46" fmla="*/ 7 w 35"/>
                <a:gd name="T47" fmla="*/ 50 h 62"/>
                <a:gd name="T48" fmla="*/ 8 w 35"/>
                <a:gd name="T49" fmla="*/ 52 h 62"/>
                <a:gd name="T50" fmla="*/ 10 w 35"/>
                <a:gd name="T51" fmla="*/ 54 h 62"/>
                <a:gd name="T52" fmla="*/ 13 w 35"/>
                <a:gd name="T53" fmla="*/ 56 h 62"/>
                <a:gd name="T54" fmla="*/ 15 w 35"/>
                <a:gd name="T55" fmla="*/ 57 h 62"/>
                <a:gd name="T56" fmla="*/ 18 w 35"/>
                <a:gd name="T57" fmla="*/ 60 h 62"/>
                <a:gd name="T58" fmla="*/ 20 w 35"/>
                <a:gd name="T59" fmla="*/ 61 h 62"/>
                <a:gd name="T60" fmla="*/ 23 w 35"/>
                <a:gd name="T61" fmla="*/ 62 h 62"/>
                <a:gd name="T62" fmla="*/ 27 w 35"/>
                <a:gd name="T63" fmla="*/ 62 h 62"/>
                <a:gd name="T64" fmla="*/ 29 w 35"/>
                <a:gd name="T65" fmla="*/ 62 h 62"/>
                <a:gd name="T66" fmla="*/ 35 w 35"/>
                <a:gd name="T6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62">
                  <a:moveTo>
                    <a:pt x="35" y="0"/>
                  </a:moveTo>
                  <a:lnTo>
                    <a:pt x="32" y="0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7" y="3"/>
                  </a:lnTo>
                  <a:lnTo>
                    <a:pt x="14" y="6"/>
                  </a:lnTo>
                  <a:lnTo>
                    <a:pt x="12" y="7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7" y="15"/>
                  </a:lnTo>
                  <a:lnTo>
                    <a:pt x="4" y="17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9"/>
                  </a:lnTo>
                  <a:lnTo>
                    <a:pt x="3" y="41"/>
                  </a:lnTo>
                  <a:lnTo>
                    <a:pt x="3" y="44"/>
                  </a:lnTo>
                  <a:lnTo>
                    <a:pt x="5" y="47"/>
                  </a:lnTo>
                  <a:lnTo>
                    <a:pt x="7" y="50"/>
                  </a:lnTo>
                  <a:lnTo>
                    <a:pt x="8" y="52"/>
                  </a:lnTo>
                  <a:lnTo>
                    <a:pt x="10" y="54"/>
                  </a:lnTo>
                  <a:lnTo>
                    <a:pt x="13" y="56"/>
                  </a:lnTo>
                  <a:lnTo>
                    <a:pt x="15" y="57"/>
                  </a:lnTo>
                  <a:lnTo>
                    <a:pt x="18" y="60"/>
                  </a:lnTo>
                  <a:lnTo>
                    <a:pt x="20" y="61"/>
                  </a:lnTo>
                  <a:lnTo>
                    <a:pt x="23" y="62"/>
                  </a:lnTo>
                  <a:lnTo>
                    <a:pt x="27" y="62"/>
                  </a:lnTo>
                  <a:lnTo>
                    <a:pt x="29" y="62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3" name="Freeform 109"/>
            <p:cNvSpPr>
              <a:spLocks/>
            </p:cNvSpPr>
            <p:nvPr/>
          </p:nvSpPr>
          <p:spPr bwMode="auto">
            <a:xfrm>
              <a:off x="1635746" y="2053878"/>
              <a:ext cx="12700" cy="25400"/>
            </a:xfrm>
            <a:custGeom>
              <a:avLst/>
              <a:gdLst>
                <a:gd name="T0" fmla="*/ 33 w 33"/>
                <a:gd name="T1" fmla="*/ 0 h 64"/>
                <a:gd name="T2" fmla="*/ 29 w 33"/>
                <a:gd name="T3" fmla="*/ 0 h 64"/>
                <a:gd name="T4" fmla="*/ 25 w 33"/>
                <a:gd name="T5" fmla="*/ 1 h 64"/>
                <a:gd name="T6" fmla="*/ 23 w 33"/>
                <a:gd name="T7" fmla="*/ 1 h 64"/>
                <a:gd name="T8" fmla="*/ 20 w 33"/>
                <a:gd name="T9" fmla="*/ 2 h 64"/>
                <a:gd name="T10" fmla="*/ 18 w 33"/>
                <a:gd name="T11" fmla="*/ 3 h 64"/>
                <a:gd name="T12" fmla="*/ 14 w 33"/>
                <a:gd name="T13" fmla="*/ 5 h 64"/>
                <a:gd name="T14" fmla="*/ 13 w 33"/>
                <a:gd name="T15" fmla="*/ 7 h 64"/>
                <a:gd name="T16" fmla="*/ 10 w 33"/>
                <a:gd name="T17" fmla="*/ 10 h 64"/>
                <a:gd name="T18" fmla="*/ 8 w 33"/>
                <a:gd name="T19" fmla="*/ 11 h 64"/>
                <a:gd name="T20" fmla="*/ 7 w 33"/>
                <a:gd name="T21" fmla="*/ 13 h 64"/>
                <a:gd name="T22" fmla="*/ 4 w 33"/>
                <a:gd name="T23" fmla="*/ 16 h 64"/>
                <a:gd name="T24" fmla="*/ 3 w 33"/>
                <a:gd name="T25" fmla="*/ 20 h 64"/>
                <a:gd name="T26" fmla="*/ 2 w 33"/>
                <a:gd name="T27" fmla="*/ 22 h 64"/>
                <a:gd name="T28" fmla="*/ 2 w 33"/>
                <a:gd name="T29" fmla="*/ 25 h 64"/>
                <a:gd name="T30" fmla="*/ 0 w 33"/>
                <a:gd name="T31" fmla="*/ 29 h 64"/>
                <a:gd name="T32" fmla="*/ 0 w 33"/>
                <a:gd name="T33" fmla="*/ 31 h 64"/>
                <a:gd name="T34" fmla="*/ 0 w 33"/>
                <a:gd name="T35" fmla="*/ 35 h 64"/>
                <a:gd name="T36" fmla="*/ 2 w 33"/>
                <a:gd name="T37" fmla="*/ 37 h 64"/>
                <a:gd name="T38" fmla="*/ 2 w 33"/>
                <a:gd name="T39" fmla="*/ 41 h 64"/>
                <a:gd name="T40" fmla="*/ 3 w 33"/>
                <a:gd name="T41" fmla="*/ 44 h 64"/>
                <a:gd name="T42" fmla="*/ 4 w 33"/>
                <a:gd name="T43" fmla="*/ 46 h 64"/>
                <a:gd name="T44" fmla="*/ 7 w 33"/>
                <a:gd name="T45" fmla="*/ 50 h 64"/>
                <a:gd name="T46" fmla="*/ 8 w 33"/>
                <a:gd name="T47" fmla="*/ 51 h 64"/>
                <a:gd name="T48" fmla="*/ 10 w 33"/>
                <a:gd name="T49" fmla="*/ 54 h 64"/>
                <a:gd name="T50" fmla="*/ 13 w 33"/>
                <a:gd name="T51" fmla="*/ 56 h 64"/>
                <a:gd name="T52" fmla="*/ 14 w 33"/>
                <a:gd name="T53" fmla="*/ 57 h 64"/>
                <a:gd name="T54" fmla="*/ 18 w 33"/>
                <a:gd name="T55" fmla="*/ 60 h 64"/>
                <a:gd name="T56" fmla="*/ 20 w 33"/>
                <a:gd name="T57" fmla="*/ 61 h 64"/>
                <a:gd name="T58" fmla="*/ 23 w 33"/>
                <a:gd name="T59" fmla="*/ 62 h 64"/>
                <a:gd name="T60" fmla="*/ 25 w 33"/>
                <a:gd name="T61" fmla="*/ 62 h 64"/>
                <a:gd name="T62" fmla="*/ 29 w 33"/>
                <a:gd name="T63" fmla="*/ 64 h 64"/>
                <a:gd name="T64" fmla="*/ 33 w 33"/>
                <a:gd name="T65" fmla="*/ 64 h 64"/>
                <a:gd name="T66" fmla="*/ 33 w 33"/>
                <a:gd name="T6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64">
                  <a:moveTo>
                    <a:pt x="33" y="0"/>
                  </a:moveTo>
                  <a:lnTo>
                    <a:pt x="29" y="0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8" y="3"/>
                  </a:lnTo>
                  <a:lnTo>
                    <a:pt x="14" y="5"/>
                  </a:lnTo>
                  <a:lnTo>
                    <a:pt x="13" y="7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4" y="16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41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7" y="50"/>
                  </a:lnTo>
                  <a:lnTo>
                    <a:pt x="8" y="51"/>
                  </a:lnTo>
                  <a:lnTo>
                    <a:pt x="10" y="54"/>
                  </a:lnTo>
                  <a:lnTo>
                    <a:pt x="13" y="56"/>
                  </a:lnTo>
                  <a:lnTo>
                    <a:pt x="14" y="57"/>
                  </a:lnTo>
                  <a:lnTo>
                    <a:pt x="18" y="60"/>
                  </a:lnTo>
                  <a:lnTo>
                    <a:pt x="20" y="61"/>
                  </a:lnTo>
                  <a:lnTo>
                    <a:pt x="23" y="62"/>
                  </a:lnTo>
                  <a:lnTo>
                    <a:pt x="25" y="62"/>
                  </a:lnTo>
                  <a:lnTo>
                    <a:pt x="29" y="64"/>
                  </a:lnTo>
                  <a:lnTo>
                    <a:pt x="33" y="6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224" name="Gruppieren 1115"/>
          <p:cNvGrpSpPr/>
          <p:nvPr/>
        </p:nvGrpSpPr>
        <p:grpSpPr>
          <a:xfrm>
            <a:off x="6807205" y="2068156"/>
            <a:ext cx="1672253" cy="1881188"/>
            <a:chOff x="6792297" y="2311401"/>
            <a:chExt cx="1672253" cy="1881188"/>
          </a:xfrm>
        </p:grpSpPr>
        <p:sp>
          <p:nvSpPr>
            <p:cNvPr id="225" name="Rectangle 83"/>
            <p:cNvSpPr>
              <a:spLocks noChangeArrowheads="1"/>
            </p:cNvSpPr>
            <p:nvPr/>
          </p:nvSpPr>
          <p:spPr bwMode="auto">
            <a:xfrm>
              <a:off x="7029450" y="2311401"/>
              <a:ext cx="1143000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1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T2 outcome: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6" name="Rectangle 84"/>
            <p:cNvSpPr>
              <a:spLocks noChangeArrowheads="1"/>
            </p:cNvSpPr>
            <p:nvPr/>
          </p:nvSpPr>
          <p:spPr bwMode="auto">
            <a:xfrm>
              <a:off x="6999288" y="2563813"/>
              <a:ext cx="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7" name="Rectangle 85"/>
            <p:cNvSpPr>
              <a:spLocks noChangeArrowheads="1"/>
            </p:cNvSpPr>
            <p:nvPr/>
          </p:nvSpPr>
          <p:spPr bwMode="auto">
            <a:xfrm>
              <a:off x="7005364" y="2552701"/>
              <a:ext cx="3916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de-DE" altLang="de-DE" sz="1100" dirty="0">
                  <a:solidFill>
                    <a:srgbClr val="1D1D1B"/>
                  </a:solidFill>
                  <a:latin typeface="Symbol" pitchFamily="18" charset="2"/>
                  <a:sym typeface="Symbol" panose="05050102010706020507" pitchFamily="18" charset="2"/>
                </a:rPr>
                <a:t></a:t>
              </a:r>
              <a:r>
                <a:rPr lang="de-DE" altLang="de-DE" sz="1100" dirty="0">
                  <a:solidFill>
                    <a:srgbClr val="1D1D1B"/>
                  </a:solidFill>
                  <a:latin typeface="Symbol" pitchFamily="18" charset="2"/>
                </a:rPr>
                <a:t>S</a:t>
              </a:r>
              <a:r>
                <a:rPr lang="de-DE" altLang="de-DE" sz="1100" dirty="0">
                  <a:solidFill>
                    <a:srgbClr val="1D1D1B"/>
                  </a:solidFill>
                </a:rPr>
                <a:t>P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8" name="Rectangle 86"/>
            <p:cNvSpPr>
              <a:spLocks noChangeArrowheads="1"/>
            </p:cNvSpPr>
            <p:nvPr/>
          </p:nvSpPr>
          <p:spPr bwMode="auto">
            <a:xfrm>
              <a:off x="6792297" y="2724151"/>
              <a:ext cx="673261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1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(</a:t>
              </a:r>
              <a:r>
                <a:rPr lang="de-DE" altLang="de-DE" sz="1100" dirty="0" err="1">
                  <a:solidFill>
                    <a:srgbClr val="1D1D1B"/>
                  </a:solidFill>
                </a:rPr>
                <a:t>problem</a:t>
              </a:r>
              <a:r>
                <a:rPr kumimoji="0" lang="de-DE" altLang="de-DE" sz="1100" b="0" i="0" u="none" strike="noStrike" cap="none" normalizeH="0" baseline="0" dirty="0" err="1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s</a:t>
              </a:r>
              <a:r>
                <a:rPr kumimoji="0" lang="de-DE" altLang="de-DE" sz="11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)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9" name="Rectangle 87"/>
            <p:cNvSpPr>
              <a:spLocks noChangeArrowheads="1"/>
            </p:cNvSpPr>
            <p:nvPr/>
          </p:nvSpPr>
          <p:spPr bwMode="auto">
            <a:xfrm>
              <a:off x="8002588" y="2552701"/>
              <a:ext cx="165100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100" b="0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R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0" name="Rectangle 88"/>
            <p:cNvSpPr>
              <a:spLocks noChangeArrowheads="1"/>
            </p:cNvSpPr>
            <p:nvPr/>
          </p:nvSpPr>
          <p:spPr bwMode="auto">
            <a:xfrm>
              <a:off x="7705725" y="2711451"/>
              <a:ext cx="758825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100" b="0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(resilience)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1" name="Freeform 113"/>
            <p:cNvSpPr>
              <a:spLocks/>
            </p:cNvSpPr>
            <p:nvPr/>
          </p:nvSpPr>
          <p:spPr bwMode="auto">
            <a:xfrm>
              <a:off x="6951663" y="2978151"/>
              <a:ext cx="384175" cy="1214438"/>
            </a:xfrm>
            <a:custGeom>
              <a:avLst/>
              <a:gdLst>
                <a:gd name="T0" fmla="*/ 0 w 969"/>
                <a:gd name="T1" fmla="*/ 0 h 3058"/>
                <a:gd name="T2" fmla="*/ 969 w 969"/>
                <a:gd name="T3" fmla="*/ 0 h 3058"/>
                <a:gd name="T4" fmla="*/ 0 w 969"/>
                <a:gd name="T5" fmla="*/ 3058 h 3058"/>
                <a:gd name="T6" fmla="*/ 0 w 969"/>
                <a:gd name="T7" fmla="*/ 0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9" h="3058">
                  <a:moveTo>
                    <a:pt x="0" y="0"/>
                  </a:moveTo>
                  <a:lnTo>
                    <a:pt x="969" y="0"/>
                  </a:lnTo>
                  <a:lnTo>
                    <a:pt x="0" y="3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2B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2" name="Freeform 114"/>
            <p:cNvSpPr>
              <a:spLocks/>
            </p:cNvSpPr>
            <p:nvPr/>
          </p:nvSpPr>
          <p:spPr bwMode="auto">
            <a:xfrm>
              <a:off x="7858125" y="2978151"/>
              <a:ext cx="385763" cy="1214438"/>
            </a:xfrm>
            <a:custGeom>
              <a:avLst/>
              <a:gdLst>
                <a:gd name="T0" fmla="*/ 0 w 970"/>
                <a:gd name="T1" fmla="*/ 3058 h 3058"/>
                <a:gd name="T2" fmla="*/ 970 w 970"/>
                <a:gd name="T3" fmla="*/ 3058 h 3058"/>
                <a:gd name="T4" fmla="*/ 0 w 970"/>
                <a:gd name="T5" fmla="*/ 0 h 3058"/>
                <a:gd name="T6" fmla="*/ 0 w 970"/>
                <a:gd name="T7" fmla="*/ 3058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0" h="3058">
                  <a:moveTo>
                    <a:pt x="0" y="3058"/>
                  </a:moveTo>
                  <a:lnTo>
                    <a:pt x="970" y="3058"/>
                  </a:lnTo>
                  <a:lnTo>
                    <a:pt x="0" y="0"/>
                  </a:lnTo>
                  <a:lnTo>
                    <a:pt x="0" y="3058"/>
                  </a:lnTo>
                  <a:close/>
                </a:path>
              </a:pathLst>
            </a:custGeom>
            <a:solidFill>
              <a:srgbClr val="52AE3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233" name="Gruppierung 232"/>
          <p:cNvGrpSpPr/>
          <p:nvPr/>
        </p:nvGrpSpPr>
        <p:grpSpPr>
          <a:xfrm>
            <a:off x="1635746" y="3199590"/>
            <a:ext cx="4752975" cy="717950"/>
            <a:chOff x="1635746" y="1929600"/>
            <a:chExt cx="4752975" cy="717950"/>
          </a:xfrm>
        </p:grpSpPr>
        <p:sp>
          <p:nvSpPr>
            <p:cNvPr id="234" name="Rectangle 92"/>
            <p:cNvSpPr>
              <a:spLocks noChangeArrowheads="1"/>
            </p:cNvSpPr>
            <p:nvPr/>
          </p:nvSpPr>
          <p:spPr bwMode="auto">
            <a:xfrm>
              <a:off x="5909296" y="2336400"/>
              <a:ext cx="2540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7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Symbol" pitchFamily="18" charset="2"/>
                  <a:cs typeface="Arial" pitchFamily="34" charset="0"/>
                </a:rPr>
                <a:t>S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" name="Rectangle 93"/>
            <p:cNvSpPr>
              <a:spLocks noChangeArrowheads="1"/>
            </p:cNvSpPr>
            <p:nvPr/>
          </p:nvSpPr>
          <p:spPr bwMode="auto">
            <a:xfrm>
              <a:off x="6034708" y="2334866"/>
              <a:ext cx="14587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de-DE" altLang="de-DE" sz="1700" dirty="0">
                  <a:solidFill>
                    <a:srgbClr val="1D1D1B"/>
                  </a:solidFill>
                </a:rPr>
                <a:t>P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" name="Rectangle 94"/>
            <p:cNvSpPr>
              <a:spLocks noChangeArrowheads="1"/>
            </p:cNvSpPr>
            <p:nvPr/>
          </p:nvSpPr>
          <p:spPr bwMode="auto">
            <a:xfrm>
              <a:off x="6188696" y="2453928"/>
              <a:ext cx="20002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000" b="0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T2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7" name="Rectangle 95"/>
            <p:cNvSpPr>
              <a:spLocks noChangeArrowheads="1"/>
            </p:cNvSpPr>
            <p:nvPr/>
          </p:nvSpPr>
          <p:spPr bwMode="auto">
            <a:xfrm>
              <a:off x="5909296" y="1929600"/>
              <a:ext cx="2540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7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Symbol" pitchFamily="18" charset="2"/>
                  <a:cs typeface="Arial" pitchFamily="34" charset="0"/>
                </a:rPr>
                <a:t>S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8" name="Rectangle 96"/>
            <p:cNvSpPr>
              <a:spLocks noChangeArrowheads="1"/>
            </p:cNvSpPr>
            <p:nvPr/>
          </p:nvSpPr>
          <p:spPr bwMode="auto">
            <a:xfrm>
              <a:off x="6034708" y="1931641"/>
              <a:ext cx="145874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de-DE" altLang="de-DE" sz="1700" dirty="0">
                  <a:solidFill>
                    <a:srgbClr val="1D1D1B"/>
                  </a:solidFill>
                </a:rPr>
                <a:t>P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9" name="Rectangle 97"/>
            <p:cNvSpPr>
              <a:spLocks noChangeArrowheads="1"/>
            </p:cNvSpPr>
            <p:nvPr/>
          </p:nvSpPr>
          <p:spPr bwMode="auto">
            <a:xfrm>
              <a:off x="6188696" y="2050703"/>
              <a:ext cx="20002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000" b="0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T2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0" name="Freeform 101"/>
            <p:cNvSpPr>
              <a:spLocks/>
            </p:cNvSpPr>
            <p:nvPr/>
          </p:nvSpPr>
          <p:spPr bwMode="auto">
            <a:xfrm>
              <a:off x="1635746" y="2053878"/>
              <a:ext cx="14288" cy="25400"/>
            </a:xfrm>
            <a:custGeom>
              <a:avLst/>
              <a:gdLst>
                <a:gd name="T0" fmla="*/ 29 w 35"/>
                <a:gd name="T1" fmla="*/ 0 h 64"/>
                <a:gd name="T2" fmla="*/ 27 w 35"/>
                <a:gd name="T3" fmla="*/ 1 h 64"/>
                <a:gd name="T4" fmla="*/ 23 w 35"/>
                <a:gd name="T5" fmla="*/ 1 h 64"/>
                <a:gd name="T6" fmla="*/ 20 w 35"/>
                <a:gd name="T7" fmla="*/ 2 h 64"/>
                <a:gd name="T8" fmla="*/ 18 w 35"/>
                <a:gd name="T9" fmla="*/ 3 h 64"/>
                <a:gd name="T10" fmla="*/ 15 w 35"/>
                <a:gd name="T11" fmla="*/ 5 h 64"/>
                <a:gd name="T12" fmla="*/ 13 w 35"/>
                <a:gd name="T13" fmla="*/ 7 h 64"/>
                <a:gd name="T14" fmla="*/ 10 w 35"/>
                <a:gd name="T15" fmla="*/ 8 h 64"/>
                <a:gd name="T16" fmla="*/ 8 w 35"/>
                <a:gd name="T17" fmla="*/ 11 h 64"/>
                <a:gd name="T18" fmla="*/ 7 w 35"/>
                <a:gd name="T19" fmla="*/ 13 h 64"/>
                <a:gd name="T20" fmla="*/ 5 w 35"/>
                <a:gd name="T21" fmla="*/ 16 h 64"/>
                <a:gd name="T22" fmla="*/ 3 w 35"/>
                <a:gd name="T23" fmla="*/ 18 h 64"/>
                <a:gd name="T24" fmla="*/ 3 w 35"/>
                <a:gd name="T25" fmla="*/ 22 h 64"/>
                <a:gd name="T26" fmla="*/ 2 w 35"/>
                <a:gd name="T27" fmla="*/ 25 h 64"/>
                <a:gd name="T28" fmla="*/ 2 w 35"/>
                <a:gd name="T29" fmla="*/ 27 h 64"/>
                <a:gd name="T30" fmla="*/ 0 w 35"/>
                <a:gd name="T31" fmla="*/ 31 h 64"/>
                <a:gd name="T32" fmla="*/ 2 w 35"/>
                <a:gd name="T33" fmla="*/ 35 h 64"/>
                <a:gd name="T34" fmla="*/ 2 w 35"/>
                <a:gd name="T35" fmla="*/ 37 h 64"/>
                <a:gd name="T36" fmla="*/ 2 w 35"/>
                <a:gd name="T37" fmla="*/ 41 h 64"/>
                <a:gd name="T38" fmla="*/ 3 w 35"/>
                <a:gd name="T39" fmla="*/ 44 h 64"/>
                <a:gd name="T40" fmla="*/ 4 w 35"/>
                <a:gd name="T41" fmla="*/ 46 h 64"/>
                <a:gd name="T42" fmla="*/ 7 w 35"/>
                <a:gd name="T43" fmla="*/ 49 h 64"/>
                <a:gd name="T44" fmla="*/ 8 w 35"/>
                <a:gd name="T45" fmla="*/ 51 h 64"/>
                <a:gd name="T46" fmla="*/ 10 w 35"/>
                <a:gd name="T47" fmla="*/ 54 h 64"/>
                <a:gd name="T48" fmla="*/ 12 w 35"/>
                <a:gd name="T49" fmla="*/ 56 h 64"/>
                <a:gd name="T50" fmla="*/ 14 w 35"/>
                <a:gd name="T51" fmla="*/ 57 h 64"/>
                <a:gd name="T52" fmla="*/ 17 w 35"/>
                <a:gd name="T53" fmla="*/ 59 h 64"/>
                <a:gd name="T54" fmla="*/ 20 w 35"/>
                <a:gd name="T55" fmla="*/ 60 h 64"/>
                <a:gd name="T56" fmla="*/ 23 w 35"/>
                <a:gd name="T57" fmla="*/ 61 h 64"/>
                <a:gd name="T58" fmla="*/ 25 w 35"/>
                <a:gd name="T59" fmla="*/ 62 h 64"/>
                <a:gd name="T60" fmla="*/ 29 w 35"/>
                <a:gd name="T61" fmla="*/ 62 h 64"/>
                <a:gd name="T62" fmla="*/ 32 w 35"/>
                <a:gd name="T63" fmla="*/ 64 h 64"/>
                <a:gd name="T64" fmla="*/ 35 w 35"/>
                <a:gd name="T65" fmla="*/ 62 h 64"/>
                <a:gd name="T66" fmla="*/ 29 w 35"/>
                <a:gd name="T6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64">
                  <a:moveTo>
                    <a:pt x="29" y="0"/>
                  </a:moveTo>
                  <a:lnTo>
                    <a:pt x="27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7"/>
                  </a:lnTo>
                  <a:lnTo>
                    <a:pt x="10" y="8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5" y="16"/>
                  </a:lnTo>
                  <a:lnTo>
                    <a:pt x="3" y="18"/>
                  </a:lnTo>
                  <a:lnTo>
                    <a:pt x="3" y="22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0" y="31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41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7" y="49"/>
                  </a:lnTo>
                  <a:lnTo>
                    <a:pt x="8" y="51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4" y="57"/>
                  </a:lnTo>
                  <a:lnTo>
                    <a:pt x="17" y="59"/>
                  </a:lnTo>
                  <a:lnTo>
                    <a:pt x="20" y="60"/>
                  </a:lnTo>
                  <a:lnTo>
                    <a:pt x="23" y="61"/>
                  </a:lnTo>
                  <a:lnTo>
                    <a:pt x="25" y="62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35" y="6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1" name="Freeform 105"/>
            <p:cNvSpPr>
              <a:spLocks/>
            </p:cNvSpPr>
            <p:nvPr/>
          </p:nvSpPr>
          <p:spPr bwMode="auto">
            <a:xfrm>
              <a:off x="1635746" y="2053878"/>
              <a:ext cx="14288" cy="23813"/>
            </a:xfrm>
            <a:custGeom>
              <a:avLst/>
              <a:gdLst>
                <a:gd name="T0" fmla="*/ 35 w 35"/>
                <a:gd name="T1" fmla="*/ 0 h 62"/>
                <a:gd name="T2" fmla="*/ 32 w 35"/>
                <a:gd name="T3" fmla="*/ 0 h 62"/>
                <a:gd name="T4" fmla="*/ 29 w 35"/>
                <a:gd name="T5" fmla="*/ 0 h 62"/>
                <a:gd name="T6" fmla="*/ 25 w 35"/>
                <a:gd name="T7" fmla="*/ 1 h 62"/>
                <a:gd name="T8" fmla="*/ 23 w 35"/>
                <a:gd name="T9" fmla="*/ 1 h 62"/>
                <a:gd name="T10" fmla="*/ 20 w 35"/>
                <a:gd name="T11" fmla="*/ 2 h 62"/>
                <a:gd name="T12" fmla="*/ 17 w 35"/>
                <a:gd name="T13" fmla="*/ 3 h 62"/>
                <a:gd name="T14" fmla="*/ 14 w 35"/>
                <a:gd name="T15" fmla="*/ 6 h 62"/>
                <a:gd name="T16" fmla="*/ 12 w 35"/>
                <a:gd name="T17" fmla="*/ 7 h 62"/>
                <a:gd name="T18" fmla="*/ 10 w 35"/>
                <a:gd name="T19" fmla="*/ 10 h 62"/>
                <a:gd name="T20" fmla="*/ 8 w 35"/>
                <a:gd name="T21" fmla="*/ 12 h 62"/>
                <a:gd name="T22" fmla="*/ 7 w 35"/>
                <a:gd name="T23" fmla="*/ 15 h 62"/>
                <a:gd name="T24" fmla="*/ 4 w 35"/>
                <a:gd name="T25" fmla="*/ 17 h 62"/>
                <a:gd name="T26" fmla="*/ 3 w 35"/>
                <a:gd name="T27" fmla="*/ 20 h 62"/>
                <a:gd name="T28" fmla="*/ 2 w 35"/>
                <a:gd name="T29" fmla="*/ 22 h 62"/>
                <a:gd name="T30" fmla="*/ 2 w 35"/>
                <a:gd name="T31" fmla="*/ 26 h 62"/>
                <a:gd name="T32" fmla="*/ 2 w 35"/>
                <a:gd name="T33" fmla="*/ 29 h 62"/>
                <a:gd name="T34" fmla="*/ 0 w 35"/>
                <a:gd name="T35" fmla="*/ 32 h 62"/>
                <a:gd name="T36" fmla="*/ 2 w 35"/>
                <a:gd name="T37" fmla="*/ 35 h 62"/>
                <a:gd name="T38" fmla="*/ 2 w 35"/>
                <a:gd name="T39" fmla="*/ 39 h 62"/>
                <a:gd name="T40" fmla="*/ 3 w 35"/>
                <a:gd name="T41" fmla="*/ 41 h 62"/>
                <a:gd name="T42" fmla="*/ 3 w 35"/>
                <a:gd name="T43" fmla="*/ 44 h 62"/>
                <a:gd name="T44" fmla="*/ 5 w 35"/>
                <a:gd name="T45" fmla="*/ 47 h 62"/>
                <a:gd name="T46" fmla="*/ 7 w 35"/>
                <a:gd name="T47" fmla="*/ 50 h 62"/>
                <a:gd name="T48" fmla="*/ 8 w 35"/>
                <a:gd name="T49" fmla="*/ 52 h 62"/>
                <a:gd name="T50" fmla="*/ 10 w 35"/>
                <a:gd name="T51" fmla="*/ 54 h 62"/>
                <a:gd name="T52" fmla="*/ 13 w 35"/>
                <a:gd name="T53" fmla="*/ 56 h 62"/>
                <a:gd name="T54" fmla="*/ 15 w 35"/>
                <a:gd name="T55" fmla="*/ 57 h 62"/>
                <a:gd name="T56" fmla="*/ 18 w 35"/>
                <a:gd name="T57" fmla="*/ 60 h 62"/>
                <a:gd name="T58" fmla="*/ 20 w 35"/>
                <a:gd name="T59" fmla="*/ 61 h 62"/>
                <a:gd name="T60" fmla="*/ 23 w 35"/>
                <a:gd name="T61" fmla="*/ 62 h 62"/>
                <a:gd name="T62" fmla="*/ 27 w 35"/>
                <a:gd name="T63" fmla="*/ 62 h 62"/>
                <a:gd name="T64" fmla="*/ 29 w 35"/>
                <a:gd name="T65" fmla="*/ 62 h 62"/>
                <a:gd name="T66" fmla="*/ 35 w 35"/>
                <a:gd name="T6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62">
                  <a:moveTo>
                    <a:pt x="35" y="0"/>
                  </a:moveTo>
                  <a:lnTo>
                    <a:pt x="32" y="0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7" y="3"/>
                  </a:lnTo>
                  <a:lnTo>
                    <a:pt x="14" y="6"/>
                  </a:lnTo>
                  <a:lnTo>
                    <a:pt x="12" y="7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7" y="15"/>
                  </a:lnTo>
                  <a:lnTo>
                    <a:pt x="4" y="17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9"/>
                  </a:lnTo>
                  <a:lnTo>
                    <a:pt x="3" y="41"/>
                  </a:lnTo>
                  <a:lnTo>
                    <a:pt x="3" y="44"/>
                  </a:lnTo>
                  <a:lnTo>
                    <a:pt x="5" y="47"/>
                  </a:lnTo>
                  <a:lnTo>
                    <a:pt x="7" y="50"/>
                  </a:lnTo>
                  <a:lnTo>
                    <a:pt x="8" y="52"/>
                  </a:lnTo>
                  <a:lnTo>
                    <a:pt x="10" y="54"/>
                  </a:lnTo>
                  <a:lnTo>
                    <a:pt x="13" y="56"/>
                  </a:lnTo>
                  <a:lnTo>
                    <a:pt x="15" y="57"/>
                  </a:lnTo>
                  <a:lnTo>
                    <a:pt x="18" y="60"/>
                  </a:lnTo>
                  <a:lnTo>
                    <a:pt x="20" y="61"/>
                  </a:lnTo>
                  <a:lnTo>
                    <a:pt x="23" y="62"/>
                  </a:lnTo>
                  <a:lnTo>
                    <a:pt x="27" y="62"/>
                  </a:lnTo>
                  <a:lnTo>
                    <a:pt x="29" y="62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2" name="Freeform 106"/>
            <p:cNvSpPr>
              <a:spLocks/>
            </p:cNvSpPr>
            <p:nvPr/>
          </p:nvSpPr>
          <p:spPr bwMode="auto">
            <a:xfrm>
              <a:off x="1648446" y="2053878"/>
              <a:ext cx="3956050" cy="379413"/>
            </a:xfrm>
            <a:custGeom>
              <a:avLst/>
              <a:gdLst>
                <a:gd name="T0" fmla="*/ 9970 w 9970"/>
                <a:gd name="T1" fmla="*/ 894 h 958"/>
                <a:gd name="T2" fmla="*/ 6 w 9970"/>
                <a:gd name="T3" fmla="*/ 0 h 958"/>
                <a:gd name="T4" fmla="*/ 0 w 9970"/>
                <a:gd name="T5" fmla="*/ 62 h 958"/>
                <a:gd name="T6" fmla="*/ 9965 w 9970"/>
                <a:gd name="T7" fmla="*/ 958 h 958"/>
                <a:gd name="T8" fmla="*/ 9970 w 9970"/>
                <a:gd name="T9" fmla="*/ 894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70" h="958">
                  <a:moveTo>
                    <a:pt x="9970" y="894"/>
                  </a:moveTo>
                  <a:lnTo>
                    <a:pt x="6" y="0"/>
                  </a:lnTo>
                  <a:lnTo>
                    <a:pt x="0" y="62"/>
                  </a:lnTo>
                  <a:lnTo>
                    <a:pt x="9965" y="958"/>
                  </a:lnTo>
                  <a:lnTo>
                    <a:pt x="9970" y="894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3" name="Freeform 107"/>
            <p:cNvSpPr>
              <a:spLocks/>
            </p:cNvSpPr>
            <p:nvPr/>
          </p:nvSpPr>
          <p:spPr bwMode="auto">
            <a:xfrm>
              <a:off x="5572746" y="2390428"/>
              <a:ext cx="123825" cy="57150"/>
            </a:xfrm>
            <a:custGeom>
              <a:avLst/>
              <a:gdLst>
                <a:gd name="T0" fmla="*/ 315 w 315"/>
                <a:gd name="T1" fmla="*/ 100 h 145"/>
                <a:gd name="T2" fmla="*/ 14 w 315"/>
                <a:gd name="T3" fmla="*/ 0 h 145"/>
                <a:gd name="T4" fmla="*/ 0 w 315"/>
                <a:gd name="T5" fmla="*/ 145 h 145"/>
                <a:gd name="T6" fmla="*/ 315 w 315"/>
                <a:gd name="T7" fmla="*/ 10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" h="145">
                  <a:moveTo>
                    <a:pt x="315" y="100"/>
                  </a:moveTo>
                  <a:lnTo>
                    <a:pt x="14" y="0"/>
                  </a:lnTo>
                  <a:lnTo>
                    <a:pt x="0" y="145"/>
                  </a:lnTo>
                  <a:lnTo>
                    <a:pt x="315" y="10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4" name="Freeform 108"/>
            <p:cNvSpPr>
              <a:spLocks/>
            </p:cNvSpPr>
            <p:nvPr/>
          </p:nvSpPr>
          <p:spPr bwMode="auto">
            <a:xfrm>
              <a:off x="5602908" y="2407891"/>
              <a:ext cx="12700" cy="25400"/>
            </a:xfrm>
            <a:custGeom>
              <a:avLst/>
              <a:gdLst>
                <a:gd name="T0" fmla="*/ 0 w 34"/>
                <a:gd name="T1" fmla="*/ 64 h 64"/>
                <a:gd name="T2" fmla="*/ 2 w 34"/>
                <a:gd name="T3" fmla="*/ 64 h 64"/>
                <a:gd name="T4" fmla="*/ 6 w 34"/>
                <a:gd name="T5" fmla="*/ 63 h 64"/>
                <a:gd name="T6" fmla="*/ 9 w 34"/>
                <a:gd name="T7" fmla="*/ 63 h 64"/>
                <a:gd name="T8" fmla="*/ 12 w 34"/>
                <a:gd name="T9" fmla="*/ 61 h 64"/>
                <a:gd name="T10" fmla="*/ 15 w 34"/>
                <a:gd name="T11" fmla="*/ 61 h 64"/>
                <a:gd name="T12" fmla="*/ 17 w 34"/>
                <a:gd name="T13" fmla="*/ 59 h 64"/>
                <a:gd name="T14" fmla="*/ 20 w 34"/>
                <a:gd name="T15" fmla="*/ 58 h 64"/>
                <a:gd name="T16" fmla="*/ 22 w 34"/>
                <a:gd name="T17" fmla="*/ 56 h 64"/>
                <a:gd name="T18" fmla="*/ 25 w 34"/>
                <a:gd name="T19" fmla="*/ 54 h 64"/>
                <a:gd name="T20" fmla="*/ 26 w 34"/>
                <a:gd name="T21" fmla="*/ 51 h 64"/>
                <a:gd name="T22" fmla="*/ 29 w 34"/>
                <a:gd name="T23" fmla="*/ 49 h 64"/>
                <a:gd name="T24" fmla="*/ 30 w 34"/>
                <a:gd name="T25" fmla="*/ 46 h 64"/>
                <a:gd name="T26" fmla="*/ 31 w 34"/>
                <a:gd name="T27" fmla="*/ 44 h 64"/>
                <a:gd name="T28" fmla="*/ 32 w 34"/>
                <a:gd name="T29" fmla="*/ 41 h 64"/>
                <a:gd name="T30" fmla="*/ 32 w 34"/>
                <a:gd name="T31" fmla="*/ 38 h 64"/>
                <a:gd name="T32" fmla="*/ 34 w 34"/>
                <a:gd name="T33" fmla="*/ 35 h 64"/>
                <a:gd name="T34" fmla="*/ 34 w 34"/>
                <a:gd name="T35" fmla="*/ 31 h 64"/>
                <a:gd name="T36" fmla="*/ 34 w 34"/>
                <a:gd name="T37" fmla="*/ 29 h 64"/>
                <a:gd name="T38" fmla="*/ 32 w 34"/>
                <a:gd name="T39" fmla="*/ 25 h 64"/>
                <a:gd name="T40" fmla="*/ 32 w 34"/>
                <a:gd name="T41" fmla="*/ 23 h 64"/>
                <a:gd name="T42" fmla="*/ 31 w 34"/>
                <a:gd name="T43" fmla="*/ 19 h 64"/>
                <a:gd name="T44" fmla="*/ 30 w 34"/>
                <a:gd name="T45" fmla="*/ 16 h 64"/>
                <a:gd name="T46" fmla="*/ 27 w 34"/>
                <a:gd name="T47" fmla="*/ 14 h 64"/>
                <a:gd name="T48" fmla="*/ 26 w 34"/>
                <a:gd name="T49" fmla="*/ 11 h 64"/>
                <a:gd name="T50" fmla="*/ 24 w 34"/>
                <a:gd name="T51" fmla="*/ 9 h 64"/>
                <a:gd name="T52" fmla="*/ 22 w 34"/>
                <a:gd name="T53" fmla="*/ 7 h 64"/>
                <a:gd name="T54" fmla="*/ 20 w 34"/>
                <a:gd name="T55" fmla="*/ 5 h 64"/>
                <a:gd name="T56" fmla="*/ 17 w 34"/>
                <a:gd name="T57" fmla="*/ 4 h 64"/>
                <a:gd name="T58" fmla="*/ 14 w 34"/>
                <a:gd name="T59" fmla="*/ 2 h 64"/>
                <a:gd name="T60" fmla="*/ 11 w 34"/>
                <a:gd name="T61" fmla="*/ 1 h 64"/>
                <a:gd name="T62" fmla="*/ 7 w 34"/>
                <a:gd name="T63" fmla="*/ 1 h 64"/>
                <a:gd name="T64" fmla="*/ 5 w 34"/>
                <a:gd name="T65" fmla="*/ 0 h 64"/>
                <a:gd name="T66" fmla="*/ 0 w 34"/>
                <a:gd name="T6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64">
                  <a:moveTo>
                    <a:pt x="0" y="64"/>
                  </a:moveTo>
                  <a:lnTo>
                    <a:pt x="2" y="64"/>
                  </a:lnTo>
                  <a:lnTo>
                    <a:pt x="6" y="63"/>
                  </a:lnTo>
                  <a:lnTo>
                    <a:pt x="9" y="63"/>
                  </a:lnTo>
                  <a:lnTo>
                    <a:pt x="12" y="61"/>
                  </a:lnTo>
                  <a:lnTo>
                    <a:pt x="15" y="61"/>
                  </a:lnTo>
                  <a:lnTo>
                    <a:pt x="17" y="59"/>
                  </a:lnTo>
                  <a:lnTo>
                    <a:pt x="20" y="58"/>
                  </a:lnTo>
                  <a:lnTo>
                    <a:pt x="22" y="56"/>
                  </a:lnTo>
                  <a:lnTo>
                    <a:pt x="25" y="54"/>
                  </a:lnTo>
                  <a:lnTo>
                    <a:pt x="26" y="51"/>
                  </a:lnTo>
                  <a:lnTo>
                    <a:pt x="29" y="49"/>
                  </a:lnTo>
                  <a:lnTo>
                    <a:pt x="30" y="46"/>
                  </a:lnTo>
                  <a:lnTo>
                    <a:pt x="31" y="44"/>
                  </a:lnTo>
                  <a:lnTo>
                    <a:pt x="32" y="41"/>
                  </a:lnTo>
                  <a:lnTo>
                    <a:pt x="32" y="38"/>
                  </a:lnTo>
                  <a:lnTo>
                    <a:pt x="34" y="35"/>
                  </a:lnTo>
                  <a:lnTo>
                    <a:pt x="34" y="31"/>
                  </a:lnTo>
                  <a:lnTo>
                    <a:pt x="34" y="29"/>
                  </a:lnTo>
                  <a:lnTo>
                    <a:pt x="32" y="25"/>
                  </a:lnTo>
                  <a:lnTo>
                    <a:pt x="32" y="23"/>
                  </a:lnTo>
                  <a:lnTo>
                    <a:pt x="31" y="19"/>
                  </a:lnTo>
                  <a:lnTo>
                    <a:pt x="30" y="16"/>
                  </a:lnTo>
                  <a:lnTo>
                    <a:pt x="27" y="14"/>
                  </a:lnTo>
                  <a:lnTo>
                    <a:pt x="26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7" y="4"/>
                  </a:lnTo>
                  <a:lnTo>
                    <a:pt x="14" y="2"/>
                  </a:lnTo>
                  <a:lnTo>
                    <a:pt x="11" y="1"/>
                  </a:lnTo>
                  <a:lnTo>
                    <a:pt x="7" y="1"/>
                  </a:lnTo>
                  <a:lnTo>
                    <a:pt x="5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5" name="Freeform 109"/>
            <p:cNvSpPr>
              <a:spLocks/>
            </p:cNvSpPr>
            <p:nvPr/>
          </p:nvSpPr>
          <p:spPr bwMode="auto">
            <a:xfrm>
              <a:off x="1635746" y="2053878"/>
              <a:ext cx="12700" cy="25400"/>
            </a:xfrm>
            <a:custGeom>
              <a:avLst/>
              <a:gdLst>
                <a:gd name="T0" fmla="*/ 33 w 33"/>
                <a:gd name="T1" fmla="*/ 0 h 64"/>
                <a:gd name="T2" fmla="*/ 29 w 33"/>
                <a:gd name="T3" fmla="*/ 0 h 64"/>
                <a:gd name="T4" fmla="*/ 25 w 33"/>
                <a:gd name="T5" fmla="*/ 1 h 64"/>
                <a:gd name="T6" fmla="*/ 23 w 33"/>
                <a:gd name="T7" fmla="*/ 1 h 64"/>
                <a:gd name="T8" fmla="*/ 20 w 33"/>
                <a:gd name="T9" fmla="*/ 2 h 64"/>
                <a:gd name="T10" fmla="*/ 18 w 33"/>
                <a:gd name="T11" fmla="*/ 3 h 64"/>
                <a:gd name="T12" fmla="*/ 14 w 33"/>
                <a:gd name="T13" fmla="*/ 5 h 64"/>
                <a:gd name="T14" fmla="*/ 13 w 33"/>
                <a:gd name="T15" fmla="*/ 7 h 64"/>
                <a:gd name="T16" fmla="*/ 10 w 33"/>
                <a:gd name="T17" fmla="*/ 10 h 64"/>
                <a:gd name="T18" fmla="*/ 8 w 33"/>
                <a:gd name="T19" fmla="*/ 11 h 64"/>
                <a:gd name="T20" fmla="*/ 7 w 33"/>
                <a:gd name="T21" fmla="*/ 13 h 64"/>
                <a:gd name="T22" fmla="*/ 4 w 33"/>
                <a:gd name="T23" fmla="*/ 16 h 64"/>
                <a:gd name="T24" fmla="*/ 3 w 33"/>
                <a:gd name="T25" fmla="*/ 20 h 64"/>
                <a:gd name="T26" fmla="*/ 2 w 33"/>
                <a:gd name="T27" fmla="*/ 22 h 64"/>
                <a:gd name="T28" fmla="*/ 2 w 33"/>
                <a:gd name="T29" fmla="*/ 25 h 64"/>
                <a:gd name="T30" fmla="*/ 0 w 33"/>
                <a:gd name="T31" fmla="*/ 29 h 64"/>
                <a:gd name="T32" fmla="*/ 0 w 33"/>
                <a:gd name="T33" fmla="*/ 31 h 64"/>
                <a:gd name="T34" fmla="*/ 0 w 33"/>
                <a:gd name="T35" fmla="*/ 35 h 64"/>
                <a:gd name="T36" fmla="*/ 2 w 33"/>
                <a:gd name="T37" fmla="*/ 37 h 64"/>
                <a:gd name="T38" fmla="*/ 2 w 33"/>
                <a:gd name="T39" fmla="*/ 41 h 64"/>
                <a:gd name="T40" fmla="*/ 3 w 33"/>
                <a:gd name="T41" fmla="*/ 44 h 64"/>
                <a:gd name="T42" fmla="*/ 4 w 33"/>
                <a:gd name="T43" fmla="*/ 46 h 64"/>
                <a:gd name="T44" fmla="*/ 7 w 33"/>
                <a:gd name="T45" fmla="*/ 50 h 64"/>
                <a:gd name="T46" fmla="*/ 8 w 33"/>
                <a:gd name="T47" fmla="*/ 51 h 64"/>
                <a:gd name="T48" fmla="*/ 10 w 33"/>
                <a:gd name="T49" fmla="*/ 54 h 64"/>
                <a:gd name="T50" fmla="*/ 13 w 33"/>
                <a:gd name="T51" fmla="*/ 56 h 64"/>
                <a:gd name="T52" fmla="*/ 14 w 33"/>
                <a:gd name="T53" fmla="*/ 57 h 64"/>
                <a:gd name="T54" fmla="*/ 18 w 33"/>
                <a:gd name="T55" fmla="*/ 60 h 64"/>
                <a:gd name="T56" fmla="*/ 20 w 33"/>
                <a:gd name="T57" fmla="*/ 61 h 64"/>
                <a:gd name="T58" fmla="*/ 23 w 33"/>
                <a:gd name="T59" fmla="*/ 62 h 64"/>
                <a:gd name="T60" fmla="*/ 25 w 33"/>
                <a:gd name="T61" fmla="*/ 62 h 64"/>
                <a:gd name="T62" fmla="*/ 29 w 33"/>
                <a:gd name="T63" fmla="*/ 64 h 64"/>
                <a:gd name="T64" fmla="*/ 33 w 33"/>
                <a:gd name="T65" fmla="*/ 64 h 64"/>
                <a:gd name="T66" fmla="*/ 33 w 33"/>
                <a:gd name="T6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64">
                  <a:moveTo>
                    <a:pt x="33" y="0"/>
                  </a:moveTo>
                  <a:lnTo>
                    <a:pt x="29" y="0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8" y="3"/>
                  </a:lnTo>
                  <a:lnTo>
                    <a:pt x="14" y="5"/>
                  </a:lnTo>
                  <a:lnTo>
                    <a:pt x="13" y="7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4" y="16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41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7" y="50"/>
                  </a:lnTo>
                  <a:lnTo>
                    <a:pt x="8" y="51"/>
                  </a:lnTo>
                  <a:lnTo>
                    <a:pt x="10" y="54"/>
                  </a:lnTo>
                  <a:lnTo>
                    <a:pt x="13" y="56"/>
                  </a:lnTo>
                  <a:lnTo>
                    <a:pt x="14" y="57"/>
                  </a:lnTo>
                  <a:lnTo>
                    <a:pt x="18" y="60"/>
                  </a:lnTo>
                  <a:lnTo>
                    <a:pt x="20" y="61"/>
                  </a:lnTo>
                  <a:lnTo>
                    <a:pt x="23" y="62"/>
                  </a:lnTo>
                  <a:lnTo>
                    <a:pt x="25" y="62"/>
                  </a:lnTo>
                  <a:lnTo>
                    <a:pt x="29" y="64"/>
                  </a:lnTo>
                  <a:lnTo>
                    <a:pt x="33" y="6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6" name="Rectangle 110"/>
            <p:cNvSpPr>
              <a:spLocks noChangeArrowheads="1"/>
            </p:cNvSpPr>
            <p:nvPr/>
          </p:nvSpPr>
          <p:spPr bwMode="auto">
            <a:xfrm>
              <a:off x="1648446" y="2053878"/>
              <a:ext cx="3954463" cy="25400"/>
            </a:xfrm>
            <a:prstGeom prst="rect">
              <a:avLst/>
            </a:pr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7" name="Freeform 111"/>
            <p:cNvSpPr>
              <a:spLocks/>
            </p:cNvSpPr>
            <p:nvPr/>
          </p:nvSpPr>
          <p:spPr bwMode="auto">
            <a:xfrm>
              <a:off x="5574333" y="2036416"/>
              <a:ext cx="123825" cy="58738"/>
            </a:xfrm>
            <a:custGeom>
              <a:avLst/>
              <a:gdLst>
                <a:gd name="T0" fmla="*/ 312 w 312"/>
                <a:gd name="T1" fmla="*/ 73 h 147"/>
                <a:gd name="T2" fmla="*/ 0 w 312"/>
                <a:gd name="T3" fmla="*/ 0 h 147"/>
                <a:gd name="T4" fmla="*/ 0 w 312"/>
                <a:gd name="T5" fmla="*/ 147 h 147"/>
                <a:gd name="T6" fmla="*/ 312 w 312"/>
                <a:gd name="T7" fmla="*/ 7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2" h="147">
                  <a:moveTo>
                    <a:pt x="312" y="73"/>
                  </a:moveTo>
                  <a:lnTo>
                    <a:pt x="0" y="0"/>
                  </a:lnTo>
                  <a:lnTo>
                    <a:pt x="0" y="147"/>
                  </a:lnTo>
                  <a:lnTo>
                    <a:pt x="312" y="73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8" name="Freeform 112"/>
            <p:cNvSpPr>
              <a:spLocks/>
            </p:cNvSpPr>
            <p:nvPr/>
          </p:nvSpPr>
          <p:spPr bwMode="auto">
            <a:xfrm>
              <a:off x="5602908" y="2053878"/>
              <a:ext cx="12700" cy="25400"/>
            </a:xfrm>
            <a:custGeom>
              <a:avLst/>
              <a:gdLst>
                <a:gd name="T0" fmla="*/ 0 w 31"/>
                <a:gd name="T1" fmla="*/ 64 h 64"/>
                <a:gd name="T2" fmla="*/ 3 w 31"/>
                <a:gd name="T3" fmla="*/ 64 h 64"/>
                <a:gd name="T4" fmla="*/ 6 w 31"/>
                <a:gd name="T5" fmla="*/ 62 h 64"/>
                <a:gd name="T6" fmla="*/ 9 w 31"/>
                <a:gd name="T7" fmla="*/ 62 h 64"/>
                <a:gd name="T8" fmla="*/ 13 w 31"/>
                <a:gd name="T9" fmla="*/ 61 h 64"/>
                <a:gd name="T10" fmla="*/ 15 w 31"/>
                <a:gd name="T11" fmla="*/ 60 h 64"/>
                <a:gd name="T12" fmla="*/ 18 w 31"/>
                <a:gd name="T13" fmla="*/ 57 h 64"/>
                <a:gd name="T14" fmla="*/ 20 w 31"/>
                <a:gd name="T15" fmla="*/ 56 h 64"/>
                <a:gd name="T16" fmla="*/ 23 w 31"/>
                <a:gd name="T17" fmla="*/ 54 h 64"/>
                <a:gd name="T18" fmla="*/ 24 w 31"/>
                <a:gd name="T19" fmla="*/ 51 h 64"/>
                <a:gd name="T20" fmla="*/ 26 w 31"/>
                <a:gd name="T21" fmla="*/ 50 h 64"/>
                <a:gd name="T22" fmla="*/ 28 w 31"/>
                <a:gd name="T23" fmla="*/ 46 h 64"/>
                <a:gd name="T24" fmla="*/ 29 w 31"/>
                <a:gd name="T25" fmla="*/ 44 h 64"/>
                <a:gd name="T26" fmla="*/ 30 w 31"/>
                <a:gd name="T27" fmla="*/ 41 h 64"/>
                <a:gd name="T28" fmla="*/ 30 w 31"/>
                <a:gd name="T29" fmla="*/ 37 h 64"/>
                <a:gd name="T30" fmla="*/ 31 w 31"/>
                <a:gd name="T31" fmla="*/ 35 h 64"/>
                <a:gd name="T32" fmla="*/ 31 w 31"/>
                <a:gd name="T33" fmla="*/ 31 h 64"/>
                <a:gd name="T34" fmla="*/ 31 w 31"/>
                <a:gd name="T35" fmla="*/ 29 h 64"/>
                <a:gd name="T36" fmla="*/ 30 w 31"/>
                <a:gd name="T37" fmla="*/ 25 h 64"/>
                <a:gd name="T38" fmla="*/ 30 w 31"/>
                <a:gd name="T39" fmla="*/ 22 h 64"/>
                <a:gd name="T40" fmla="*/ 29 w 31"/>
                <a:gd name="T41" fmla="*/ 20 h 64"/>
                <a:gd name="T42" fmla="*/ 28 w 31"/>
                <a:gd name="T43" fmla="*/ 16 h 64"/>
                <a:gd name="T44" fmla="*/ 26 w 31"/>
                <a:gd name="T45" fmla="*/ 13 h 64"/>
                <a:gd name="T46" fmla="*/ 24 w 31"/>
                <a:gd name="T47" fmla="*/ 11 h 64"/>
                <a:gd name="T48" fmla="*/ 23 w 31"/>
                <a:gd name="T49" fmla="*/ 10 h 64"/>
                <a:gd name="T50" fmla="*/ 20 w 31"/>
                <a:gd name="T51" fmla="*/ 7 h 64"/>
                <a:gd name="T52" fmla="*/ 18 w 31"/>
                <a:gd name="T53" fmla="*/ 5 h 64"/>
                <a:gd name="T54" fmla="*/ 15 w 31"/>
                <a:gd name="T55" fmla="*/ 3 h 64"/>
                <a:gd name="T56" fmla="*/ 13 w 31"/>
                <a:gd name="T57" fmla="*/ 2 h 64"/>
                <a:gd name="T58" fmla="*/ 9 w 31"/>
                <a:gd name="T59" fmla="*/ 1 h 64"/>
                <a:gd name="T60" fmla="*/ 6 w 31"/>
                <a:gd name="T61" fmla="*/ 1 h 64"/>
                <a:gd name="T62" fmla="*/ 3 w 31"/>
                <a:gd name="T63" fmla="*/ 0 h 64"/>
                <a:gd name="T64" fmla="*/ 0 w 31"/>
                <a:gd name="T65" fmla="*/ 0 h 64"/>
                <a:gd name="T66" fmla="*/ 0 w 31"/>
                <a:gd name="T6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" h="64">
                  <a:moveTo>
                    <a:pt x="0" y="64"/>
                  </a:moveTo>
                  <a:lnTo>
                    <a:pt x="3" y="64"/>
                  </a:lnTo>
                  <a:lnTo>
                    <a:pt x="6" y="62"/>
                  </a:lnTo>
                  <a:lnTo>
                    <a:pt x="9" y="62"/>
                  </a:lnTo>
                  <a:lnTo>
                    <a:pt x="13" y="61"/>
                  </a:lnTo>
                  <a:lnTo>
                    <a:pt x="15" y="60"/>
                  </a:lnTo>
                  <a:lnTo>
                    <a:pt x="18" y="57"/>
                  </a:lnTo>
                  <a:lnTo>
                    <a:pt x="20" y="56"/>
                  </a:lnTo>
                  <a:lnTo>
                    <a:pt x="23" y="54"/>
                  </a:lnTo>
                  <a:lnTo>
                    <a:pt x="24" y="51"/>
                  </a:lnTo>
                  <a:lnTo>
                    <a:pt x="26" y="50"/>
                  </a:lnTo>
                  <a:lnTo>
                    <a:pt x="28" y="46"/>
                  </a:lnTo>
                  <a:lnTo>
                    <a:pt x="29" y="44"/>
                  </a:lnTo>
                  <a:lnTo>
                    <a:pt x="30" y="41"/>
                  </a:lnTo>
                  <a:lnTo>
                    <a:pt x="30" y="37"/>
                  </a:lnTo>
                  <a:lnTo>
                    <a:pt x="31" y="35"/>
                  </a:lnTo>
                  <a:lnTo>
                    <a:pt x="31" y="31"/>
                  </a:lnTo>
                  <a:lnTo>
                    <a:pt x="31" y="29"/>
                  </a:lnTo>
                  <a:lnTo>
                    <a:pt x="30" y="25"/>
                  </a:lnTo>
                  <a:lnTo>
                    <a:pt x="30" y="22"/>
                  </a:lnTo>
                  <a:lnTo>
                    <a:pt x="29" y="20"/>
                  </a:lnTo>
                  <a:lnTo>
                    <a:pt x="28" y="16"/>
                  </a:lnTo>
                  <a:lnTo>
                    <a:pt x="26" y="13"/>
                  </a:lnTo>
                  <a:lnTo>
                    <a:pt x="24" y="11"/>
                  </a:lnTo>
                  <a:lnTo>
                    <a:pt x="23" y="10"/>
                  </a:lnTo>
                  <a:lnTo>
                    <a:pt x="20" y="7"/>
                  </a:lnTo>
                  <a:lnTo>
                    <a:pt x="18" y="5"/>
                  </a:lnTo>
                  <a:lnTo>
                    <a:pt x="15" y="3"/>
                  </a:lnTo>
                  <a:lnTo>
                    <a:pt x="13" y="2"/>
                  </a:lnTo>
                  <a:lnTo>
                    <a:pt x="9" y="1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49" name="Oval 248"/>
          <p:cNvSpPr/>
          <p:nvPr/>
        </p:nvSpPr>
        <p:spPr>
          <a:xfrm>
            <a:off x="7452320" y="2250718"/>
            <a:ext cx="1296144" cy="1872208"/>
          </a:xfrm>
          <a:prstGeom prst="ellipse">
            <a:avLst/>
          </a:prstGeom>
          <a:noFill/>
          <a:ln w="38100">
            <a:solidFill>
              <a:srgbClr val="1EA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0" name="Textfeld 249"/>
          <p:cNvSpPr txBox="1"/>
          <p:nvPr/>
        </p:nvSpPr>
        <p:spPr>
          <a:xfrm>
            <a:off x="3016033" y="5045487"/>
            <a:ext cx="3172663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tabLst>
                <a:tab pos="627063" algn="l"/>
              </a:tabLst>
            </a:pPr>
            <a:r>
              <a:rPr lang="en-US" b="1" dirty="0">
                <a:solidFill>
                  <a:schemeClr val="bg1"/>
                </a:solidFill>
                <a:latin typeface="Arial"/>
                <a:cs typeface="Arial"/>
              </a:rPr>
              <a:t>Normalization to stressors!</a:t>
            </a:r>
            <a:endParaRPr lang="de-DE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CDD765C-744E-EC64-7CFD-C14FCCBFF768}"/>
              </a:ext>
            </a:extLst>
          </p:cNvPr>
          <p:cNvSpPr txBox="1"/>
          <p:nvPr/>
        </p:nvSpPr>
        <p:spPr>
          <a:xfrm rot="16200000">
            <a:off x="-172047" y="3072808"/>
            <a:ext cx="1375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Mental </a:t>
            </a:r>
            <a:r>
              <a:rPr lang="de-DE" sz="1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</a:t>
            </a:r>
            <a:r>
              <a:rPr lang="de-DE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DE" sz="1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endParaRPr lang="de-DE" sz="1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76C457E-4EFC-E9E5-9213-93BB623D8331}"/>
              </a:ext>
            </a:extLst>
          </p:cNvPr>
          <p:cNvSpPr txBox="1"/>
          <p:nvPr/>
        </p:nvSpPr>
        <p:spPr>
          <a:xfrm>
            <a:off x="6034708" y="6277464"/>
            <a:ext cx="2906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</a:p>
        </p:txBody>
      </p:sp>
    </p:spTree>
    <p:extLst>
      <p:ext uri="{BB962C8B-B14F-4D97-AF65-F5344CB8AC3E}">
        <p14:creationId xmlns:p14="http://schemas.microsoft.com/office/powerpoint/2010/main" val="34321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/>
      <p:bldP spid="249" grpId="0" animBg="1"/>
      <p:bldP spid="25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049CEC4-9C46-4F62-A4CA-6D2D012230C5}"/>
              </a:ext>
            </a:extLst>
          </p:cNvPr>
          <p:cNvSpPr/>
          <p:nvPr/>
        </p:nvSpPr>
        <p:spPr>
          <a:xfrm>
            <a:off x="970260" y="1883096"/>
            <a:ext cx="740849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1: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unpredictability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sz="1600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753417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27" name="Textfeld 26"/>
          <p:cNvSpPr txBox="1"/>
          <p:nvPr/>
        </p:nvSpPr>
        <p:spPr>
          <a:xfrm>
            <a:off x="5952760" y="3469087"/>
            <a:ext cx="2686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627063" algn="l"/>
              </a:tabLst>
            </a:pPr>
            <a:r>
              <a:rPr lang="en-US" b="1" dirty="0">
                <a:latin typeface="Arial"/>
                <a:cs typeface="Arial"/>
              </a:rPr>
              <a:t>R</a:t>
            </a:r>
            <a:r>
              <a:rPr lang="en-US" b="1" baseline="-25000" dirty="0">
                <a:latin typeface="Arial"/>
                <a:cs typeface="Arial"/>
              </a:rPr>
              <a:t>T2</a:t>
            </a:r>
            <a:r>
              <a:rPr lang="en-US" b="1" dirty="0">
                <a:latin typeface="Arial"/>
                <a:cs typeface="Arial"/>
              </a:rPr>
              <a:t>	=     1 / (ΔΣP / ΣS) </a:t>
            </a:r>
          </a:p>
          <a:p>
            <a:pPr>
              <a:tabLst>
                <a:tab pos="627063" algn="l"/>
              </a:tabLst>
            </a:pPr>
            <a:r>
              <a:rPr lang="en-US" b="1" dirty="0">
                <a:latin typeface="Arial"/>
                <a:cs typeface="Arial"/>
              </a:rPr>
              <a:t>	=    ΣS / ΔΣP</a:t>
            </a:r>
            <a:r>
              <a:rPr lang="en-US" dirty="0">
                <a:latin typeface="Arial"/>
                <a:cs typeface="Arial"/>
              </a:rPr>
              <a:t> </a:t>
            </a:r>
            <a:endParaRPr lang="de-DE" dirty="0">
              <a:latin typeface="Arial"/>
              <a:cs typeface="Arial"/>
            </a:endParaRPr>
          </a:p>
        </p:txBody>
      </p:sp>
      <p:grpSp>
        <p:nvGrpSpPr>
          <p:cNvPr id="134" name="Gruppieren 1117"/>
          <p:cNvGrpSpPr/>
          <p:nvPr/>
        </p:nvGrpSpPr>
        <p:grpSpPr>
          <a:xfrm>
            <a:off x="755576" y="2466742"/>
            <a:ext cx="7977188" cy="1731963"/>
            <a:chOff x="482600" y="2709863"/>
            <a:chExt cx="7977188" cy="1731963"/>
          </a:xfrm>
        </p:grpSpPr>
        <p:sp>
          <p:nvSpPr>
            <p:cNvPr id="135" name="Rectangle 6"/>
            <p:cNvSpPr>
              <a:spLocks noChangeArrowheads="1"/>
            </p:cNvSpPr>
            <p:nvPr/>
          </p:nvSpPr>
          <p:spPr bwMode="auto">
            <a:xfrm>
              <a:off x="482600" y="4406901"/>
              <a:ext cx="7977188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6" name="Rectangle 7"/>
            <p:cNvSpPr>
              <a:spLocks noChangeArrowheads="1"/>
            </p:cNvSpPr>
            <p:nvPr/>
          </p:nvSpPr>
          <p:spPr bwMode="auto">
            <a:xfrm>
              <a:off x="482600" y="4371976"/>
              <a:ext cx="7977188" cy="69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7" name="Rectangle 8"/>
            <p:cNvSpPr>
              <a:spLocks noChangeArrowheads="1"/>
            </p:cNvSpPr>
            <p:nvPr/>
          </p:nvSpPr>
          <p:spPr bwMode="auto">
            <a:xfrm>
              <a:off x="482600" y="4337051"/>
              <a:ext cx="7977188" cy="69850"/>
            </a:xfrm>
            <a:prstGeom prst="rect">
              <a:avLst/>
            </a:prstGeom>
            <a:solidFill>
              <a:srgbClr val="FDFD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8" name="Rectangle 9"/>
            <p:cNvSpPr>
              <a:spLocks noChangeArrowheads="1"/>
            </p:cNvSpPr>
            <p:nvPr/>
          </p:nvSpPr>
          <p:spPr bwMode="auto">
            <a:xfrm>
              <a:off x="482600" y="4303713"/>
              <a:ext cx="7977188" cy="68263"/>
            </a:xfrm>
            <a:prstGeom prst="rect">
              <a:avLst/>
            </a:prstGeom>
            <a:solidFill>
              <a:srgbClr val="FAFC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9" name="Rectangle 10"/>
            <p:cNvSpPr>
              <a:spLocks noChangeArrowheads="1"/>
            </p:cNvSpPr>
            <p:nvPr/>
          </p:nvSpPr>
          <p:spPr bwMode="auto">
            <a:xfrm>
              <a:off x="482600" y="4268788"/>
              <a:ext cx="7977188" cy="68263"/>
            </a:xfrm>
            <a:prstGeom prst="rect">
              <a:avLst/>
            </a:prstGeom>
            <a:solidFill>
              <a:srgbClr val="F8FA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0" name="Rectangle 11"/>
            <p:cNvSpPr>
              <a:spLocks noChangeArrowheads="1"/>
            </p:cNvSpPr>
            <p:nvPr/>
          </p:nvSpPr>
          <p:spPr bwMode="auto">
            <a:xfrm>
              <a:off x="482600" y="4233863"/>
              <a:ext cx="7977188" cy="69850"/>
            </a:xfrm>
            <a:prstGeom prst="rect">
              <a:avLst/>
            </a:prstGeom>
            <a:solidFill>
              <a:srgbClr val="F5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1" name="Rectangle 12"/>
            <p:cNvSpPr>
              <a:spLocks noChangeArrowheads="1"/>
            </p:cNvSpPr>
            <p:nvPr/>
          </p:nvSpPr>
          <p:spPr bwMode="auto">
            <a:xfrm>
              <a:off x="482600" y="4198938"/>
              <a:ext cx="7977188" cy="69850"/>
            </a:xfrm>
            <a:prstGeom prst="rect">
              <a:avLst/>
            </a:prstGeom>
            <a:solidFill>
              <a:srgbClr val="F3F7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2" name="Rectangle 13"/>
            <p:cNvSpPr>
              <a:spLocks noChangeArrowheads="1"/>
            </p:cNvSpPr>
            <p:nvPr/>
          </p:nvSpPr>
          <p:spPr bwMode="auto">
            <a:xfrm>
              <a:off x="482600" y="4164013"/>
              <a:ext cx="7977188" cy="69850"/>
            </a:xfrm>
            <a:prstGeom prst="rect">
              <a:avLst/>
            </a:prstGeom>
            <a:solidFill>
              <a:srgbClr val="F0F5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3" name="Rectangle 14"/>
            <p:cNvSpPr>
              <a:spLocks noChangeArrowheads="1"/>
            </p:cNvSpPr>
            <p:nvPr/>
          </p:nvSpPr>
          <p:spPr bwMode="auto">
            <a:xfrm>
              <a:off x="482600" y="4130676"/>
              <a:ext cx="7977188" cy="68263"/>
            </a:xfrm>
            <a:prstGeom prst="rect">
              <a:avLst/>
            </a:prstGeom>
            <a:solidFill>
              <a:srgbClr val="EEF4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4" name="Rectangle 15"/>
            <p:cNvSpPr>
              <a:spLocks noChangeArrowheads="1"/>
            </p:cNvSpPr>
            <p:nvPr/>
          </p:nvSpPr>
          <p:spPr bwMode="auto">
            <a:xfrm>
              <a:off x="482600" y="4095751"/>
              <a:ext cx="7977188" cy="68263"/>
            </a:xfrm>
            <a:prstGeom prst="rect">
              <a:avLst/>
            </a:prstGeom>
            <a:solidFill>
              <a:srgbClr val="EBF2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5" name="Rectangle 16"/>
            <p:cNvSpPr>
              <a:spLocks noChangeArrowheads="1"/>
            </p:cNvSpPr>
            <p:nvPr/>
          </p:nvSpPr>
          <p:spPr bwMode="auto">
            <a:xfrm>
              <a:off x="482600" y="4060826"/>
              <a:ext cx="7977188" cy="69850"/>
            </a:xfrm>
            <a:prstGeom prst="rect">
              <a:avLst/>
            </a:prstGeom>
            <a:solidFill>
              <a:srgbClr val="E9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6" name="Rectangle 17"/>
            <p:cNvSpPr>
              <a:spLocks noChangeArrowheads="1"/>
            </p:cNvSpPr>
            <p:nvPr/>
          </p:nvSpPr>
          <p:spPr bwMode="auto">
            <a:xfrm>
              <a:off x="482600" y="4025901"/>
              <a:ext cx="7977188" cy="69850"/>
            </a:xfrm>
            <a:prstGeom prst="rect">
              <a:avLst/>
            </a:prstGeom>
            <a:solidFill>
              <a:srgbClr val="E6EF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7" name="Rectangle 18"/>
            <p:cNvSpPr>
              <a:spLocks noChangeArrowheads="1"/>
            </p:cNvSpPr>
            <p:nvPr/>
          </p:nvSpPr>
          <p:spPr bwMode="auto">
            <a:xfrm>
              <a:off x="482600" y="3992563"/>
              <a:ext cx="7977188" cy="68263"/>
            </a:xfrm>
            <a:prstGeom prst="rect">
              <a:avLst/>
            </a:prstGeom>
            <a:solidFill>
              <a:srgbClr val="E3ED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8" name="Rectangle 19"/>
            <p:cNvSpPr>
              <a:spLocks noChangeArrowheads="1"/>
            </p:cNvSpPr>
            <p:nvPr/>
          </p:nvSpPr>
          <p:spPr bwMode="auto">
            <a:xfrm>
              <a:off x="482600" y="3957638"/>
              <a:ext cx="7977188" cy="68263"/>
            </a:xfrm>
            <a:prstGeom prst="rect">
              <a:avLst/>
            </a:prstGeom>
            <a:solidFill>
              <a:srgbClr val="E1E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9" name="Rectangle 20"/>
            <p:cNvSpPr>
              <a:spLocks noChangeArrowheads="1"/>
            </p:cNvSpPr>
            <p:nvPr/>
          </p:nvSpPr>
          <p:spPr bwMode="auto">
            <a:xfrm>
              <a:off x="482600" y="3922713"/>
              <a:ext cx="7977188" cy="69850"/>
            </a:xfrm>
            <a:prstGeom prst="rect">
              <a:avLst/>
            </a:prstGeom>
            <a:solidFill>
              <a:srgbClr val="DEE9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0" name="Rectangle 21"/>
            <p:cNvSpPr>
              <a:spLocks noChangeArrowheads="1"/>
            </p:cNvSpPr>
            <p:nvPr/>
          </p:nvSpPr>
          <p:spPr bwMode="auto">
            <a:xfrm>
              <a:off x="482600" y="3887788"/>
              <a:ext cx="7977188" cy="69850"/>
            </a:xfrm>
            <a:prstGeom prst="rect">
              <a:avLst/>
            </a:prstGeom>
            <a:solidFill>
              <a:srgbClr val="DBE8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1" name="Rectangle 22"/>
            <p:cNvSpPr>
              <a:spLocks noChangeArrowheads="1"/>
            </p:cNvSpPr>
            <p:nvPr/>
          </p:nvSpPr>
          <p:spPr bwMode="auto">
            <a:xfrm>
              <a:off x="482600" y="3852863"/>
              <a:ext cx="7977188" cy="69850"/>
            </a:xfrm>
            <a:prstGeom prst="rect">
              <a:avLst/>
            </a:prstGeom>
            <a:solidFill>
              <a:srgbClr val="D8E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2" name="Rectangle 23"/>
            <p:cNvSpPr>
              <a:spLocks noChangeArrowheads="1"/>
            </p:cNvSpPr>
            <p:nvPr/>
          </p:nvSpPr>
          <p:spPr bwMode="auto">
            <a:xfrm>
              <a:off x="482600" y="3817938"/>
              <a:ext cx="7977188" cy="69850"/>
            </a:xfrm>
            <a:prstGeom prst="rect">
              <a:avLst/>
            </a:prstGeom>
            <a:solidFill>
              <a:srgbClr val="D6E4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3" name="Rectangle 24"/>
            <p:cNvSpPr>
              <a:spLocks noChangeArrowheads="1"/>
            </p:cNvSpPr>
            <p:nvPr/>
          </p:nvSpPr>
          <p:spPr bwMode="auto">
            <a:xfrm>
              <a:off x="482600" y="3784601"/>
              <a:ext cx="7977188" cy="68263"/>
            </a:xfrm>
            <a:prstGeom prst="rect">
              <a:avLst/>
            </a:prstGeom>
            <a:solidFill>
              <a:srgbClr val="D3E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4" name="Rectangle 25"/>
            <p:cNvSpPr>
              <a:spLocks noChangeArrowheads="1"/>
            </p:cNvSpPr>
            <p:nvPr/>
          </p:nvSpPr>
          <p:spPr bwMode="auto">
            <a:xfrm>
              <a:off x="482600" y="3749676"/>
              <a:ext cx="7977188" cy="68263"/>
            </a:xfrm>
            <a:prstGeom prst="rect">
              <a:avLst/>
            </a:prstGeom>
            <a:solidFill>
              <a:srgbClr val="D0E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5" name="Rectangle 26"/>
            <p:cNvSpPr>
              <a:spLocks noChangeArrowheads="1"/>
            </p:cNvSpPr>
            <p:nvPr/>
          </p:nvSpPr>
          <p:spPr bwMode="auto">
            <a:xfrm>
              <a:off x="482600" y="3714751"/>
              <a:ext cx="7977188" cy="69850"/>
            </a:xfrm>
            <a:prstGeom prst="rect">
              <a:avLst/>
            </a:prstGeom>
            <a:solidFill>
              <a:srgbClr val="CEDF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6" name="Rectangle 27"/>
            <p:cNvSpPr>
              <a:spLocks noChangeArrowheads="1"/>
            </p:cNvSpPr>
            <p:nvPr/>
          </p:nvSpPr>
          <p:spPr bwMode="auto">
            <a:xfrm>
              <a:off x="482600" y="3679826"/>
              <a:ext cx="7977188" cy="69850"/>
            </a:xfrm>
            <a:prstGeom prst="rect">
              <a:avLst/>
            </a:prstGeom>
            <a:solidFill>
              <a:srgbClr val="CBDE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7" name="Rectangle 28"/>
            <p:cNvSpPr>
              <a:spLocks noChangeArrowheads="1"/>
            </p:cNvSpPr>
            <p:nvPr/>
          </p:nvSpPr>
          <p:spPr bwMode="auto">
            <a:xfrm>
              <a:off x="482600" y="3644901"/>
              <a:ext cx="7977188" cy="69850"/>
            </a:xfrm>
            <a:prstGeom prst="rect">
              <a:avLst/>
            </a:prstGeom>
            <a:solidFill>
              <a:srgbClr val="C8DC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8" name="Rectangle 29"/>
            <p:cNvSpPr>
              <a:spLocks noChangeArrowheads="1"/>
            </p:cNvSpPr>
            <p:nvPr/>
          </p:nvSpPr>
          <p:spPr bwMode="auto">
            <a:xfrm>
              <a:off x="482600" y="3609976"/>
              <a:ext cx="7977188" cy="69850"/>
            </a:xfrm>
            <a:prstGeom prst="rect">
              <a:avLst/>
            </a:prstGeom>
            <a:solidFill>
              <a:srgbClr val="C6D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9" name="Rectangle 30"/>
            <p:cNvSpPr>
              <a:spLocks noChangeArrowheads="1"/>
            </p:cNvSpPr>
            <p:nvPr/>
          </p:nvSpPr>
          <p:spPr bwMode="auto">
            <a:xfrm>
              <a:off x="482600" y="3576638"/>
              <a:ext cx="7977188" cy="68263"/>
            </a:xfrm>
            <a:prstGeom prst="rect">
              <a:avLst/>
            </a:prstGeom>
            <a:solidFill>
              <a:srgbClr val="C3D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0" name="Rectangle 31"/>
            <p:cNvSpPr>
              <a:spLocks noChangeArrowheads="1"/>
            </p:cNvSpPr>
            <p:nvPr/>
          </p:nvSpPr>
          <p:spPr bwMode="auto">
            <a:xfrm>
              <a:off x="482600" y="3541713"/>
              <a:ext cx="7977188" cy="68263"/>
            </a:xfrm>
            <a:prstGeom prst="rect">
              <a:avLst/>
            </a:prstGeom>
            <a:solidFill>
              <a:srgbClr val="C0D7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1" name="Rectangle 32"/>
            <p:cNvSpPr>
              <a:spLocks noChangeArrowheads="1"/>
            </p:cNvSpPr>
            <p:nvPr/>
          </p:nvSpPr>
          <p:spPr bwMode="auto">
            <a:xfrm>
              <a:off x="482600" y="3506788"/>
              <a:ext cx="7977188" cy="69850"/>
            </a:xfrm>
            <a:prstGeom prst="rect">
              <a:avLst/>
            </a:prstGeom>
            <a:solidFill>
              <a:srgbClr val="BDD5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2" name="Rectangle 33"/>
            <p:cNvSpPr>
              <a:spLocks noChangeArrowheads="1"/>
            </p:cNvSpPr>
            <p:nvPr/>
          </p:nvSpPr>
          <p:spPr bwMode="auto">
            <a:xfrm>
              <a:off x="482600" y="3471863"/>
              <a:ext cx="7977188" cy="69850"/>
            </a:xfrm>
            <a:prstGeom prst="rect">
              <a:avLst/>
            </a:prstGeom>
            <a:solidFill>
              <a:srgbClr val="BFD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3" name="Rectangle 34"/>
            <p:cNvSpPr>
              <a:spLocks noChangeArrowheads="1"/>
            </p:cNvSpPr>
            <p:nvPr/>
          </p:nvSpPr>
          <p:spPr bwMode="auto">
            <a:xfrm>
              <a:off x="482600" y="3436938"/>
              <a:ext cx="7977188" cy="69850"/>
            </a:xfrm>
            <a:prstGeom prst="rect">
              <a:avLst/>
            </a:prstGeom>
            <a:solidFill>
              <a:srgbClr val="C2D8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4" name="Rectangle 35"/>
            <p:cNvSpPr>
              <a:spLocks noChangeArrowheads="1"/>
            </p:cNvSpPr>
            <p:nvPr/>
          </p:nvSpPr>
          <p:spPr bwMode="auto">
            <a:xfrm>
              <a:off x="482600" y="3403601"/>
              <a:ext cx="7977188" cy="68263"/>
            </a:xfrm>
            <a:prstGeom prst="rect">
              <a:avLst/>
            </a:prstGeom>
            <a:solidFill>
              <a:srgbClr val="C5D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5" name="Rectangle 36"/>
            <p:cNvSpPr>
              <a:spLocks noChangeArrowheads="1"/>
            </p:cNvSpPr>
            <p:nvPr/>
          </p:nvSpPr>
          <p:spPr bwMode="auto">
            <a:xfrm>
              <a:off x="482600" y="3368676"/>
              <a:ext cx="7977188" cy="68263"/>
            </a:xfrm>
            <a:prstGeom prst="rect">
              <a:avLst/>
            </a:prstGeom>
            <a:solidFill>
              <a:srgbClr val="C7DB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6" name="Rectangle 37"/>
            <p:cNvSpPr>
              <a:spLocks noChangeArrowheads="1"/>
            </p:cNvSpPr>
            <p:nvPr/>
          </p:nvSpPr>
          <p:spPr bwMode="auto">
            <a:xfrm>
              <a:off x="482600" y="3333751"/>
              <a:ext cx="7977188" cy="69850"/>
            </a:xfrm>
            <a:prstGeom prst="rect">
              <a:avLst/>
            </a:prstGeom>
            <a:solidFill>
              <a:srgbClr val="CAD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7" name="Rectangle 38"/>
            <p:cNvSpPr>
              <a:spLocks noChangeArrowheads="1"/>
            </p:cNvSpPr>
            <p:nvPr/>
          </p:nvSpPr>
          <p:spPr bwMode="auto">
            <a:xfrm>
              <a:off x="482600" y="3298826"/>
              <a:ext cx="7977188" cy="69850"/>
            </a:xfrm>
            <a:prstGeom prst="rect">
              <a:avLst/>
            </a:prstGeom>
            <a:solidFill>
              <a:srgbClr val="CDD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8" name="Rectangle 39"/>
            <p:cNvSpPr>
              <a:spLocks noChangeArrowheads="1"/>
            </p:cNvSpPr>
            <p:nvPr/>
          </p:nvSpPr>
          <p:spPr bwMode="auto">
            <a:xfrm>
              <a:off x="482600" y="3263901"/>
              <a:ext cx="7977188" cy="69850"/>
            </a:xfrm>
            <a:prstGeom prst="rect">
              <a:avLst/>
            </a:prstGeom>
            <a:solidFill>
              <a:srgbClr val="D0E0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9" name="Rectangle 40"/>
            <p:cNvSpPr>
              <a:spLocks noChangeArrowheads="1"/>
            </p:cNvSpPr>
            <p:nvPr/>
          </p:nvSpPr>
          <p:spPr bwMode="auto">
            <a:xfrm>
              <a:off x="482600" y="3228976"/>
              <a:ext cx="7977188" cy="69850"/>
            </a:xfrm>
            <a:prstGeom prst="rect">
              <a:avLst/>
            </a:prstGeom>
            <a:solidFill>
              <a:srgbClr val="D2E2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0" name="Rectangle 41"/>
            <p:cNvSpPr>
              <a:spLocks noChangeArrowheads="1"/>
            </p:cNvSpPr>
            <p:nvPr/>
          </p:nvSpPr>
          <p:spPr bwMode="auto">
            <a:xfrm>
              <a:off x="482600" y="3195638"/>
              <a:ext cx="7977188" cy="68263"/>
            </a:xfrm>
            <a:prstGeom prst="rect">
              <a:avLst/>
            </a:prstGeom>
            <a:solidFill>
              <a:srgbClr val="D5E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1" name="Rectangle 42"/>
            <p:cNvSpPr>
              <a:spLocks noChangeArrowheads="1"/>
            </p:cNvSpPr>
            <p:nvPr/>
          </p:nvSpPr>
          <p:spPr bwMode="auto">
            <a:xfrm>
              <a:off x="482600" y="3160713"/>
              <a:ext cx="7977188" cy="68263"/>
            </a:xfrm>
            <a:prstGeom prst="rect">
              <a:avLst/>
            </a:prstGeom>
            <a:solidFill>
              <a:srgbClr val="D7E5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2" name="Rectangle 43"/>
            <p:cNvSpPr>
              <a:spLocks noChangeArrowheads="1"/>
            </p:cNvSpPr>
            <p:nvPr/>
          </p:nvSpPr>
          <p:spPr bwMode="auto">
            <a:xfrm>
              <a:off x="482600" y="3125788"/>
              <a:ext cx="7977188" cy="69850"/>
            </a:xfrm>
            <a:prstGeom prst="rect">
              <a:avLst/>
            </a:prstGeom>
            <a:solidFill>
              <a:srgbClr val="DAE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3" name="Rectangle 44"/>
            <p:cNvSpPr>
              <a:spLocks noChangeArrowheads="1"/>
            </p:cNvSpPr>
            <p:nvPr/>
          </p:nvSpPr>
          <p:spPr bwMode="auto">
            <a:xfrm>
              <a:off x="482600" y="3090863"/>
              <a:ext cx="7977188" cy="69850"/>
            </a:xfrm>
            <a:prstGeom prst="rect">
              <a:avLst/>
            </a:prstGeom>
            <a:solidFill>
              <a:srgbClr val="DDE8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4" name="Rectangle 45"/>
            <p:cNvSpPr>
              <a:spLocks noChangeArrowheads="1"/>
            </p:cNvSpPr>
            <p:nvPr/>
          </p:nvSpPr>
          <p:spPr bwMode="auto">
            <a:xfrm>
              <a:off x="482600" y="3055938"/>
              <a:ext cx="7977188" cy="69850"/>
            </a:xfrm>
            <a:prstGeom prst="rect">
              <a:avLst/>
            </a:prstGeom>
            <a:solidFill>
              <a:srgbClr val="E0EA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5" name="Rectangle 46"/>
            <p:cNvSpPr>
              <a:spLocks noChangeArrowheads="1"/>
            </p:cNvSpPr>
            <p:nvPr/>
          </p:nvSpPr>
          <p:spPr bwMode="auto">
            <a:xfrm>
              <a:off x="482600" y="3021013"/>
              <a:ext cx="7977188" cy="69850"/>
            </a:xfrm>
            <a:prstGeom prst="rect">
              <a:avLst/>
            </a:prstGeom>
            <a:solidFill>
              <a:srgbClr val="E3EC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6" name="Rectangle 47"/>
            <p:cNvSpPr>
              <a:spLocks noChangeArrowheads="1"/>
            </p:cNvSpPr>
            <p:nvPr/>
          </p:nvSpPr>
          <p:spPr bwMode="auto">
            <a:xfrm>
              <a:off x="482600" y="2987676"/>
              <a:ext cx="7977188" cy="68263"/>
            </a:xfrm>
            <a:prstGeom prst="rect">
              <a:avLst/>
            </a:prstGeom>
            <a:solidFill>
              <a:srgbClr val="E5EE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7" name="Rectangle 48"/>
            <p:cNvSpPr>
              <a:spLocks noChangeArrowheads="1"/>
            </p:cNvSpPr>
            <p:nvPr/>
          </p:nvSpPr>
          <p:spPr bwMode="auto">
            <a:xfrm>
              <a:off x="482600" y="2952751"/>
              <a:ext cx="7977188" cy="68263"/>
            </a:xfrm>
            <a:prstGeom prst="rect">
              <a:avLst/>
            </a:prstGeom>
            <a:solidFill>
              <a:srgbClr val="E8F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8" name="Rectangle 49"/>
            <p:cNvSpPr>
              <a:spLocks noChangeArrowheads="1"/>
            </p:cNvSpPr>
            <p:nvPr/>
          </p:nvSpPr>
          <p:spPr bwMode="auto">
            <a:xfrm>
              <a:off x="482600" y="2917826"/>
              <a:ext cx="7977188" cy="69850"/>
            </a:xfrm>
            <a:prstGeom prst="rect">
              <a:avLst/>
            </a:prstGeom>
            <a:solidFill>
              <a:srgbClr val="EAF1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9" name="Rectangle 50"/>
            <p:cNvSpPr>
              <a:spLocks noChangeArrowheads="1"/>
            </p:cNvSpPr>
            <p:nvPr/>
          </p:nvSpPr>
          <p:spPr bwMode="auto">
            <a:xfrm>
              <a:off x="482600" y="2882901"/>
              <a:ext cx="7977188" cy="69850"/>
            </a:xfrm>
            <a:prstGeom prst="rect">
              <a:avLst/>
            </a:prstGeom>
            <a:solidFill>
              <a:srgbClr val="EDF3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0" name="Rectangle 51"/>
            <p:cNvSpPr>
              <a:spLocks noChangeArrowheads="1"/>
            </p:cNvSpPr>
            <p:nvPr/>
          </p:nvSpPr>
          <p:spPr bwMode="auto">
            <a:xfrm>
              <a:off x="482600" y="2847976"/>
              <a:ext cx="7977188" cy="69850"/>
            </a:xfrm>
            <a:prstGeom prst="rect">
              <a:avLst/>
            </a:prstGeom>
            <a:solidFill>
              <a:srgbClr val="F0F4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1" name="Rectangle 52"/>
            <p:cNvSpPr>
              <a:spLocks noChangeArrowheads="1"/>
            </p:cNvSpPr>
            <p:nvPr/>
          </p:nvSpPr>
          <p:spPr bwMode="auto">
            <a:xfrm>
              <a:off x="482600" y="2814638"/>
              <a:ext cx="7977188" cy="68263"/>
            </a:xfrm>
            <a:prstGeom prst="rect">
              <a:avLst/>
            </a:prstGeom>
            <a:solidFill>
              <a:srgbClr val="F2F6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2" name="Rectangle 53"/>
            <p:cNvSpPr>
              <a:spLocks noChangeArrowheads="1"/>
            </p:cNvSpPr>
            <p:nvPr/>
          </p:nvSpPr>
          <p:spPr bwMode="auto">
            <a:xfrm>
              <a:off x="482600" y="2779713"/>
              <a:ext cx="7977188" cy="68263"/>
            </a:xfrm>
            <a:prstGeom prst="rect">
              <a:avLst/>
            </a:prstGeom>
            <a:solidFill>
              <a:srgbClr val="F5F8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3" name="Rectangle 54"/>
            <p:cNvSpPr>
              <a:spLocks noChangeArrowheads="1"/>
            </p:cNvSpPr>
            <p:nvPr/>
          </p:nvSpPr>
          <p:spPr bwMode="auto">
            <a:xfrm>
              <a:off x="482600" y="2744788"/>
              <a:ext cx="7977188" cy="69850"/>
            </a:xfrm>
            <a:prstGeom prst="rect">
              <a:avLst/>
            </a:prstGeom>
            <a:solidFill>
              <a:srgbClr val="F7F9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4" name="Rectangle 55"/>
            <p:cNvSpPr>
              <a:spLocks noChangeArrowheads="1"/>
            </p:cNvSpPr>
            <p:nvPr/>
          </p:nvSpPr>
          <p:spPr bwMode="auto">
            <a:xfrm>
              <a:off x="482600" y="2709863"/>
              <a:ext cx="7977188" cy="69850"/>
            </a:xfrm>
            <a:prstGeom prst="rect">
              <a:avLst/>
            </a:prstGeom>
            <a:solidFill>
              <a:srgbClr val="F9FB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5" name="Rectangle 56"/>
            <p:cNvSpPr>
              <a:spLocks noChangeArrowheads="1"/>
            </p:cNvSpPr>
            <p:nvPr/>
          </p:nvSpPr>
          <p:spPr bwMode="auto">
            <a:xfrm>
              <a:off x="482600" y="2709863"/>
              <a:ext cx="7977188" cy="34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6" name="Freeform 57"/>
            <p:cNvSpPr>
              <a:spLocks/>
            </p:cNvSpPr>
            <p:nvPr/>
          </p:nvSpPr>
          <p:spPr bwMode="auto">
            <a:xfrm>
              <a:off x="482600" y="2709863"/>
              <a:ext cx="7977188" cy="0"/>
            </a:xfrm>
            <a:custGeom>
              <a:avLst/>
              <a:gdLst>
                <a:gd name="T0" fmla="*/ 20100 w 20100"/>
                <a:gd name="T1" fmla="*/ 0 w 20100"/>
                <a:gd name="T2" fmla="*/ 20100 w 2010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0100">
                  <a:moveTo>
                    <a:pt x="20100" y="0"/>
                  </a:moveTo>
                  <a:lnTo>
                    <a:pt x="0" y="0"/>
                  </a:lnTo>
                  <a:lnTo>
                    <a:pt x="201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187" name="Gruppieren 1113"/>
          <p:cNvGrpSpPr/>
          <p:nvPr/>
        </p:nvGrpSpPr>
        <p:grpSpPr>
          <a:xfrm>
            <a:off x="2823986" y="3573106"/>
            <a:ext cx="1356779" cy="721856"/>
            <a:chOff x="2809078" y="3816351"/>
            <a:chExt cx="1356779" cy="721856"/>
          </a:xfrm>
        </p:grpSpPr>
        <p:sp>
          <p:nvSpPr>
            <p:cNvPr id="188" name="Freeform 58"/>
            <p:cNvSpPr>
              <a:spLocks/>
            </p:cNvSpPr>
            <p:nvPr/>
          </p:nvSpPr>
          <p:spPr bwMode="auto">
            <a:xfrm>
              <a:off x="3384550" y="3816351"/>
              <a:ext cx="436563" cy="485775"/>
            </a:xfrm>
            <a:custGeom>
              <a:avLst/>
              <a:gdLst>
                <a:gd name="T0" fmla="*/ 827 w 1102"/>
                <a:gd name="T1" fmla="*/ 1226 h 1226"/>
                <a:gd name="T2" fmla="*/ 827 w 1102"/>
                <a:gd name="T3" fmla="*/ 771 h 1226"/>
                <a:gd name="T4" fmla="*/ 1102 w 1102"/>
                <a:gd name="T5" fmla="*/ 771 h 1226"/>
                <a:gd name="T6" fmla="*/ 552 w 1102"/>
                <a:gd name="T7" fmla="*/ 0 h 1226"/>
                <a:gd name="T8" fmla="*/ 0 w 1102"/>
                <a:gd name="T9" fmla="*/ 771 h 1226"/>
                <a:gd name="T10" fmla="*/ 275 w 1102"/>
                <a:gd name="T11" fmla="*/ 771 h 1226"/>
                <a:gd name="T12" fmla="*/ 275 w 1102"/>
                <a:gd name="T13" fmla="*/ 1226 h 1226"/>
                <a:gd name="T14" fmla="*/ 827 w 1102"/>
                <a:gd name="T15" fmla="*/ 1226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2" h="1226">
                  <a:moveTo>
                    <a:pt x="827" y="1226"/>
                  </a:moveTo>
                  <a:lnTo>
                    <a:pt x="827" y="771"/>
                  </a:lnTo>
                  <a:lnTo>
                    <a:pt x="1102" y="771"/>
                  </a:lnTo>
                  <a:lnTo>
                    <a:pt x="552" y="0"/>
                  </a:lnTo>
                  <a:lnTo>
                    <a:pt x="0" y="771"/>
                  </a:lnTo>
                  <a:lnTo>
                    <a:pt x="275" y="771"/>
                  </a:lnTo>
                  <a:lnTo>
                    <a:pt x="275" y="1226"/>
                  </a:lnTo>
                  <a:lnTo>
                    <a:pt x="827" y="1226"/>
                  </a:lnTo>
                  <a:close/>
                </a:path>
              </a:pathLst>
            </a:custGeom>
            <a:solidFill>
              <a:srgbClr val="E306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9" name="Rectangle 63"/>
            <p:cNvSpPr>
              <a:spLocks noChangeArrowheads="1"/>
            </p:cNvSpPr>
            <p:nvPr/>
          </p:nvSpPr>
          <p:spPr bwMode="auto">
            <a:xfrm>
              <a:off x="2809078" y="4322763"/>
              <a:ext cx="135677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de-DE" altLang="de-DE" sz="1400" b="1" dirty="0">
                  <a:solidFill>
                    <a:srgbClr val="E30617"/>
                  </a:solidFill>
                </a:rPr>
                <a:t>     </a:t>
              </a:r>
              <a:r>
                <a:rPr kumimoji="0" lang="de-DE" altLang="de-DE" sz="1400" b="1" i="0" u="none" strike="noStrike" cap="none" normalizeH="0" baseline="0" dirty="0">
                  <a:ln>
                    <a:noFill/>
                  </a:ln>
                  <a:solidFill>
                    <a:srgbClr val="E30617"/>
                  </a:solidFill>
                  <a:effectLst/>
                  <a:latin typeface="Arial" pitchFamily="34" charset="0"/>
                  <a:cs typeface="Arial" pitchFamily="34" charset="0"/>
                </a:rPr>
                <a:t>STRESSORS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09" name="Rectangle 59"/>
          <p:cNvSpPr>
            <a:spLocks noChangeArrowheads="1"/>
          </p:cNvSpPr>
          <p:nvPr/>
        </p:nvSpPr>
        <p:spPr bwMode="auto">
          <a:xfrm>
            <a:off x="1138858" y="2250718"/>
            <a:ext cx="3508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700" b="1" i="0" u="none" strike="noStrike" cap="none" normalizeH="0" baseline="0" dirty="0">
                <a:ln>
                  <a:noFill/>
                </a:ln>
                <a:solidFill>
                  <a:srgbClr val="1D1D1B"/>
                </a:solidFill>
                <a:effectLst/>
                <a:latin typeface="Arial" pitchFamily="34" charset="0"/>
                <a:cs typeface="Arial" pitchFamily="34" charset="0"/>
              </a:rPr>
              <a:t>T1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0" name="Rectangle 60"/>
          <p:cNvSpPr>
            <a:spLocks noChangeArrowheads="1"/>
          </p:cNvSpPr>
          <p:nvPr/>
        </p:nvSpPr>
        <p:spPr bwMode="auto">
          <a:xfrm>
            <a:off x="5999783" y="2250718"/>
            <a:ext cx="350838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700" b="1" i="0" u="none" strike="noStrike" cap="none" normalizeH="0" baseline="0" dirty="0">
                <a:ln>
                  <a:noFill/>
                </a:ln>
                <a:solidFill>
                  <a:srgbClr val="1D1D1B"/>
                </a:solidFill>
                <a:effectLst/>
                <a:latin typeface="Arial" pitchFamily="34" charset="0"/>
                <a:cs typeface="Arial" pitchFamily="34" charset="0"/>
              </a:rPr>
              <a:t>T2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1" name="Rectangle 89"/>
          <p:cNvSpPr>
            <a:spLocks noChangeArrowheads="1"/>
          </p:cNvSpPr>
          <p:nvPr/>
        </p:nvSpPr>
        <p:spPr bwMode="auto">
          <a:xfrm>
            <a:off x="1043608" y="3195990"/>
            <a:ext cx="2540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700" b="0" i="0" u="none" strike="noStrike" cap="none" normalizeH="0" baseline="0" dirty="0">
                <a:ln>
                  <a:noFill/>
                </a:ln>
                <a:solidFill>
                  <a:srgbClr val="1D1D1B"/>
                </a:solidFill>
                <a:effectLst/>
                <a:latin typeface="Symbol" pitchFamily="18" charset="2"/>
                <a:cs typeface="Arial" pitchFamily="34" charset="0"/>
              </a:rPr>
              <a:t>S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2" name="Rectangle 90"/>
          <p:cNvSpPr>
            <a:spLocks noChangeArrowheads="1"/>
          </p:cNvSpPr>
          <p:nvPr/>
        </p:nvSpPr>
        <p:spPr bwMode="auto">
          <a:xfrm>
            <a:off x="1170608" y="3201631"/>
            <a:ext cx="2476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700" b="0" i="0" u="none" strike="noStrike" cap="none" normalizeH="0" baseline="0">
                <a:ln>
                  <a:noFill/>
                </a:ln>
                <a:solidFill>
                  <a:srgbClr val="1D1D1B"/>
                </a:solidFill>
                <a:effectLst/>
                <a:latin typeface="Arial" pitchFamily="34" charset="0"/>
                <a:cs typeface="Arial" pitchFamily="34" charset="0"/>
              </a:rPr>
              <a:t>D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3" name="Rectangle 91"/>
          <p:cNvSpPr>
            <a:spLocks noChangeArrowheads="1"/>
          </p:cNvSpPr>
          <p:nvPr/>
        </p:nvSpPr>
        <p:spPr bwMode="auto">
          <a:xfrm>
            <a:off x="1324596" y="3320693"/>
            <a:ext cx="2000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rgbClr val="1D1D1B"/>
                </a:solidFill>
                <a:effectLst/>
                <a:latin typeface="Arial" pitchFamily="34" charset="0"/>
                <a:cs typeface="Arial" pitchFamily="34" charset="0"/>
              </a:rPr>
              <a:t>T1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14" name="Gruppierung 213"/>
          <p:cNvGrpSpPr/>
          <p:nvPr/>
        </p:nvGrpSpPr>
        <p:grpSpPr>
          <a:xfrm>
            <a:off x="1635746" y="2796390"/>
            <a:ext cx="4752975" cy="552878"/>
            <a:chOff x="1635746" y="1526400"/>
            <a:chExt cx="4752975" cy="552878"/>
          </a:xfrm>
        </p:grpSpPr>
        <p:sp>
          <p:nvSpPr>
            <p:cNvPr id="215" name="Rectangle 98"/>
            <p:cNvSpPr>
              <a:spLocks noChangeArrowheads="1"/>
            </p:cNvSpPr>
            <p:nvPr/>
          </p:nvSpPr>
          <p:spPr bwMode="auto">
            <a:xfrm>
              <a:off x="5909296" y="1526400"/>
              <a:ext cx="2540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7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Symbol" pitchFamily="18" charset="2"/>
                  <a:cs typeface="Arial" pitchFamily="34" charset="0"/>
                </a:rPr>
                <a:t>S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" name="Rectangle 99"/>
            <p:cNvSpPr>
              <a:spLocks noChangeArrowheads="1"/>
            </p:cNvSpPr>
            <p:nvPr/>
          </p:nvSpPr>
          <p:spPr bwMode="auto">
            <a:xfrm>
              <a:off x="6034708" y="1528416"/>
              <a:ext cx="24765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7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D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" name="Rectangle 100"/>
            <p:cNvSpPr>
              <a:spLocks noChangeArrowheads="1"/>
            </p:cNvSpPr>
            <p:nvPr/>
          </p:nvSpPr>
          <p:spPr bwMode="auto">
            <a:xfrm>
              <a:off x="6188696" y="1647478"/>
              <a:ext cx="20002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0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T2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" name="Freeform 101"/>
            <p:cNvSpPr>
              <a:spLocks/>
            </p:cNvSpPr>
            <p:nvPr/>
          </p:nvSpPr>
          <p:spPr bwMode="auto">
            <a:xfrm>
              <a:off x="1635746" y="2053878"/>
              <a:ext cx="14288" cy="25400"/>
            </a:xfrm>
            <a:custGeom>
              <a:avLst/>
              <a:gdLst>
                <a:gd name="T0" fmla="*/ 29 w 35"/>
                <a:gd name="T1" fmla="*/ 0 h 64"/>
                <a:gd name="T2" fmla="*/ 27 w 35"/>
                <a:gd name="T3" fmla="*/ 1 h 64"/>
                <a:gd name="T4" fmla="*/ 23 w 35"/>
                <a:gd name="T5" fmla="*/ 1 h 64"/>
                <a:gd name="T6" fmla="*/ 20 w 35"/>
                <a:gd name="T7" fmla="*/ 2 h 64"/>
                <a:gd name="T8" fmla="*/ 18 w 35"/>
                <a:gd name="T9" fmla="*/ 3 h 64"/>
                <a:gd name="T10" fmla="*/ 15 w 35"/>
                <a:gd name="T11" fmla="*/ 5 h 64"/>
                <a:gd name="T12" fmla="*/ 13 w 35"/>
                <a:gd name="T13" fmla="*/ 7 h 64"/>
                <a:gd name="T14" fmla="*/ 10 w 35"/>
                <a:gd name="T15" fmla="*/ 8 h 64"/>
                <a:gd name="T16" fmla="*/ 8 w 35"/>
                <a:gd name="T17" fmla="*/ 11 h 64"/>
                <a:gd name="T18" fmla="*/ 7 w 35"/>
                <a:gd name="T19" fmla="*/ 13 h 64"/>
                <a:gd name="T20" fmla="*/ 5 w 35"/>
                <a:gd name="T21" fmla="*/ 16 h 64"/>
                <a:gd name="T22" fmla="*/ 3 w 35"/>
                <a:gd name="T23" fmla="*/ 18 h 64"/>
                <a:gd name="T24" fmla="*/ 3 w 35"/>
                <a:gd name="T25" fmla="*/ 22 h 64"/>
                <a:gd name="T26" fmla="*/ 2 w 35"/>
                <a:gd name="T27" fmla="*/ 25 h 64"/>
                <a:gd name="T28" fmla="*/ 2 w 35"/>
                <a:gd name="T29" fmla="*/ 27 h 64"/>
                <a:gd name="T30" fmla="*/ 0 w 35"/>
                <a:gd name="T31" fmla="*/ 31 h 64"/>
                <a:gd name="T32" fmla="*/ 2 w 35"/>
                <a:gd name="T33" fmla="*/ 35 h 64"/>
                <a:gd name="T34" fmla="*/ 2 w 35"/>
                <a:gd name="T35" fmla="*/ 37 h 64"/>
                <a:gd name="T36" fmla="*/ 2 w 35"/>
                <a:gd name="T37" fmla="*/ 41 h 64"/>
                <a:gd name="T38" fmla="*/ 3 w 35"/>
                <a:gd name="T39" fmla="*/ 44 h 64"/>
                <a:gd name="T40" fmla="*/ 4 w 35"/>
                <a:gd name="T41" fmla="*/ 46 h 64"/>
                <a:gd name="T42" fmla="*/ 7 w 35"/>
                <a:gd name="T43" fmla="*/ 49 h 64"/>
                <a:gd name="T44" fmla="*/ 8 w 35"/>
                <a:gd name="T45" fmla="*/ 51 h 64"/>
                <a:gd name="T46" fmla="*/ 10 w 35"/>
                <a:gd name="T47" fmla="*/ 54 h 64"/>
                <a:gd name="T48" fmla="*/ 12 w 35"/>
                <a:gd name="T49" fmla="*/ 56 h 64"/>
                <a:gd name="T50" fmla="*/ 14 w 35"/>
                <a:gd name="T51" fmla="*/ 57 h 64"/>
                <a:gd name="T52" fmla="*/ 17 w 35"/>
                <a:gd name="T53" fmla="*/ 59 h 64"/>
                <a:gd name="T54" fmla="*/ 20 w 35"/>
                <a:gd name="T55" fmla="*/ 60 h 64"/>
                <a:gd name="T56" fmla="*/ 23 w 35"/>
                <a:gd name="T57" fmla="*/ 61 h 64"/>
                <a:gd name="T58" fmla="*/ 25 w 35"/>
                <a:gd name="T59" fmla="*/ 62 h 64"/>
                <a:gd name="T60" fmla="*/ 29 w 35"/>
                <a:gd name="T61" fmla="*/ 62 h 64"/>
                <a:gd name="T62" fmla="*/ 32 w 35"/>
                <a:gd name="T63" fmla="*/ 64 h 64"/>
                <a:gd name="T64" fmla="*/ 35 w 35"/>
                <a:gd name="T65" fmla="*/ 62 h 64"/>
                <a:gd name="T66" fmla="*/ 29 w 35"/>
                <a:gd name="T6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64">
                  <a:moveTo>
                    <a:pt x="29" y="0"/>
                  </a:moveTo>
                  <a:lnTo>
                    <a:pt x="27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7"/>
                  </a:lnTo>
                  <a:lnTo>
                    <a:pt x="10" y="8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5" y="16"/>
                  </a:lnTo>
                  <a:lnTo>
                    <a:pt x="3" y="18"/>
                  </a:lnTo>
                  <a:lnTo>
                    <a:pt x="3" y="22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0" y="31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41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7" y="49"/>
                  </a:lnTo>
                  <a:lnTo>
                    <a:pt x="8" y="51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4" y="57"/>
                  </a:lnTo>
                  <a:lnTo>
                    <a:pt x="17" y="59"/>
                  </a:lnTo>
                  <a:lnTo>
                    <a:pt x="20" y="60"/>
                  </a:lnTo>
                  <a:lnTo>
                    <a:pt x="23" y="61"/>
                  </a:lnTo>
                  <a:lnTo>
                    <a:pt x="25" y="62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35" y="6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9" name="Freeform 102"/>
            <p:cNvSpPr>
              <a:spLocks/>
            </p:cNvSpPr>
            <p:nvPr/>
          </p:nvSpPr>
          <p:spPr bwMode="auto">
            <a:xfrm>
              <a:off x="1648446" y="1698278"/>
              <a:ext cx="3956050" cy="379413"/>
            </a:xfrm>
            <a:custGeom>
              <a:avLst/>
              <a:gdLst>
                <a:gd name="T0" fmla="*/ 9965 w 9970"/>
                <a:gd name="T1" fmla="*/ 0 h 957"/>
                <a:gd name="T2" fmla="*/ 0 w 9970"/>
                <a:gd name="T3" fmla="*/ 895 h 957"/>
                <a:gd name="T4" fmla="*/ 6 w 9970"/>
                <a:gd name="T5" fmla="*/ 957 h 957"/>
                <a:gd name="T6" fmla="*/ 9970 w 9970"/>
                <a:gd name="T7" fmla="*/ 63 h 957"/>
                <a:gd name="T8" fmla="*/ 9965 w 9970"/>
                <a:gd name="T9" fmla="*/ 0 h 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70" h="957">
                  <a:moveTo>
                    <a:pt x="9965" y="0"/>
                  </a:moveTo>
                  <a:lnTo>
                    <a:pt x="0" y="895"/>
                  </a:lnTo>
                  <a:lnTo>
                    <a:pt x="6" y="957"/>
                  </a:lnTo>
                  <a:lnTo>
                    <a:pt x="9970" y="63"/>
                  </a:lnTo>
                  <a:lnTo>
                    <a:pt x="9965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0" name="Freeform 103"/>
            <p:cNvSpPr>
              <a:spLocks/>
            </p:cNvSpPr>
            <p:nvPr/>
          </p:nvSpPr>
          <p:spPr bwMode="auto">
            <a:xfrm>
              <a:off x="5572746" y="1685578"/>
              <a:ext cx="123825" cy="57150"/>
            </a:xfrm>
            <a:custGeom>
              <a:avLst/>
              <a:gdLst>
                <a:gd name="T0" fmla="*/ 315 w 315"/>
                <a:gd name="T1" fmla="*/ 44 h 145"/>
                <a:gd name="T2" fmla="*/ 0 w 315"/>
                <a:gd name="T3" fmla="*/ 0 h 145"/>
                <a:gd name="T4" fmla="*/ 14 w 315"/>
                <a:gd name="T5" fmla="*/ 145 h 145"/>
                <a:gd name="T6" fmla="*/ 315 w 315"/>
                <a:gd name="T7" fmla="*/ 4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" h="145">
                  <a:moveTo>
                    <a:pt x="315" y="44"/>
                  </a:moveTo>
                  <a:lnTo>
                    <a:pt x="0" y="0"/>
                  </a:lnTo>
                  <a:lnTo>
                    <a:pt x="14" y="145"/>
                  </a:lnTo>
                  <a:lnTo>
                    <a:pt x="315" y="44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1" name="Freeform 104"/>
            <p:cNvSpPr>
              <a:spLocks/>
            </p:cNvSpPr>
            <p:nvPr/>
          </p:nvSpPr>
          <p:spPr bwMode="auto">
            <a:xfrm>
              <a:off x="5602908" y="1698278"/>
              <a:ext cx="12700" cy="25400"/>
            </a:xfrm>
            <a:custGeom>
              <a:avLst/>
              <a:gdLst>
                <a:gd name="T0" fmla="*/ 5 w 34"/>
                <a:gd name="T1" fmla="*/ 63 h 63"/>
                <a:gd name="T2" fmla="*/ 7 w 34"/>
                <a:gd name="T3" fmla="*/ 63 h 63"/>
                <a:gd name="T4" fmla="*/ 11 w 34"/>
                <a:gd name="T5" fmla="*/ 62 h 63"/>
                <a:gd name="T6" fmla="*/ 14 w 34"/>
                <a:gd name="T7" fmla="*/ 62 h 63"/>
                <a:gd name="T8" fmla="*/ 17 w 34"/>
                <a:gd name="T9" fmla="*/ 61 h 63"/>
                <a:gd name="T10" fmla="*/ 20 w 34"/>
                <a:gd name="T11" fmla="*/ 58 h 63"/>
                <a:gd name="T12" fmla="*/ 22 w 34"/>
                <a:gd name="T13" fmla="*/ 57 h 63"/>
                <a:gd name="T14" fmla="*/ 24 w 34"/>
                <a:gd name="T15" fmla="*/ 54 h 63"/>
                <a:gd name="T16" fmla="*/ 26 w 34"/>
                <a:gd name="T17" fmla="*/ 53 h 63"/>
                <a:gd name="T18" fmla="*/ 27 w 34"/>
                <a:gd name="T19" fmla="*/ 51 h 63"/>
                <a:gd name="T20" fmla="*/ 30 w 34"/>
                <a:gd name="T21" fmla="*/ 48 h 63"/>
                <a:gd name="T22" fmla="*/ 31 w 34"/>
                <a:gd name="T23" fmla="*/ 44 h 63"/>
                <a:gd name="T24" fmla="*/ 32 w 34"/>
                <a:gd name="T25" fmla="*/ 42 h 63"/>
                <a:gd name="T26" fmla="*/ 32 w 34"/>
                <a:gd name="T27" fmla="*/ 39 h 63"/>
                <a:gd name="T28" fmla="*/ 34 w 34"/>
                <a:gd name="T29" fmla="*/ 35 h 63"/>
                <a:gd name="T30" fmla="*/ 34 w 34"/>
                <a:gd name="T31" fmla="*/ 33 h 63"/>
                <a:gd name="T32" fmla="*/ 34 w 34"/>
                <a:gd name="T33" fmla="*/ 29 h 63"/>
                <a:gd name="T34" fmla="*/ 32 w 34"/>
                <a:gd name="T35" fmla="*/ 27 h 63"/>
                <a:gd name="T36" fmla="*/ 32 w 34"/>
                <a:gd name="T37" fmla="*/ 23 h 63"/>
                <a:gd name="T38" fmla="*/ 31 w 34"/>
                <a:gd name="T39" fmla="*/ 20 h 63"/>
                <a:gd name="T40" fmla="*/ 30 w 34"/>
                <a:gd name="T41" fmla="*/ 18 h 63"/>
                <a:gd name="T42" fmla="*/ 29 w 34"/>
                <a:gd name="T43" fmla="*/ 14 h 63"/>
                <a:gd name="T44" fmla="*/ 26 w 34"/>
                <a:gd name="T45" fmla="*/ 12 h 63"/>
                <a:gd name="T46" fmla="*/ 25 w 34"/>
                <a:gd name="T47" fmla="*/ 10 h 63"/>
                <a:gd name="T48" fmla="*/ 22 w 34"/>
                <a:gd name="T49" fmla="*/ 8 h 63"/>
                <a:gd name="T50" fmla="*/ 20 w 34"/>
                <a:gd name="T51" fmla="*/ 7 h 63"/>
                <a:gd name="T52" fmla="*/ 17 w 34"/>
                <a:gd name="T53" fmla="*/ 4 h 63"/>
                <a:gd name="T54" fmla="*/ 15 w 34"/>
                <a:gd name="T55" fmla="*/ 3 h 63"/>
                <a:gd name="T56" fmla="*/ 12 w 34"/>
                <a:gd name="T57" fmla="*/ 2 h 63"/>
                <a:gd name="T58" fmla="*/ 9 w 34"/>
                <a:gd name="T59" fmla="*/ 2 h 63"/>
                <a:gd name="T60" fmla="*/ 6 w 34"/>
                <a:gd name="T61" fmla="*/ 0 h 63"/>
                <a:gd name="T62" fmla="*/ 2 w 34"/>
                <a:gd name="T63" fmla="*/ 0 h 63"/>
                <a:gd name="T64" fmla="*/ 0 w 34"/>
                <a:gd name="T65" fmla="*/ 0 h 63"/>
                <a:gd name="T66" fmla="*/ 5 w 34"/>
                <a:gd name="T67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63">
                  <a:moveTo>
                    <a:pt x="5" y="63"/>
                  </a:moveTo>
                  <a:lnTo>
                    <a:pt x="7" y="63"/>
                  </a:lnTo>
                  <a:lnTo>
                    <a:pt x="11" y="62"/>
                  </a:lnTo>
                  <a:lnTo>
                    <a:pt x="14" y="62"/>
                  </a:lnTo>
                  <a:lnTo>
                    <a:pt x="17" y="61"/>
                  </a:lnTo>
                  <a:lnTo>
                    <a:pt x="20" y="58"/>
                  </a:lnTo>
                  <a:lnTo>
                    <a:pt x="22" y="57"/>
                  </a:lnTo>
                  <a:lnTo>
                    <a:pt x="24" y="54"/>
                  </a:lnTo>
                  <a:lnTo>
                    <a:pt x="26" y="53"/>
                  </a:lnTo>
                  <a:lnTo>
                    <a:pt x="27" y="51"/>
                  </a:lnTo>
                  <a:lnTo>
                    <a:pt x="30" y="48"/>
                  </a:lnTo>
                  <a:lnTo>
                    <a:pt x="31" y="44"/>
                  </a:lnTo>
                  <a:lnTo>
                    <a:pt x="32" y="42"/>
                  </a:lnTo>
                  <a:lnTo>
                    <a:pt x="32" y="39"/>
                  </a:lnTo>
                  <a:lnTo>
                    <a:pt x="34" y="35"/>
                  </a:lnTo>
                  <a:lnTo>
                    <a:pt x="34" y="33"/>
                  </a:lnTo>
                  <a:lnTo>
                    <a:pt x="34" y="29"/>
                  </a:lnTo>
                  <a:lnTo>
                    <a:pt x="32" y="27"/>
                  </a:lnTo>
                  <a:lnTo>
                    <a:pt x="32" y="23"/>
                  </a:lnTo>
                  <a:lnTo>
                    <a:pt x="31" y="20"/>
                  </a:lnTo>
                  <a:lnTo>
                    <a:pt x="30" y="18"/>
                  </a:lnTo>
                  <a:lnTo>
                    <a:pt x="29" y="14"/>
                  </a:lnTo>
                  <a:lnTo>
                    <a:pt x="26" y="12"/>
                  </a:lnTo>
                  <a:lnTo>
                    <a:pt x="25" y="10"/>
                  </a:lnTo>
                  <a:lnTo>
                    <a:pt x="22" y="8"/>
                  </a:lnTo>
                  <a:lnTo>
                    <a:pt x="20" y="7"/>
                  </a:lnTo>
                  <a:lnTo>
                    <a:pt x="17" y="4"/>
                  </a:lnTo>
                  <a:lnTo>
                    <a:pt x="15" y="3"/>
                  </a:lnTo>
                  <a:lnTo>
                    <a:pt x="12" y="2"/>
                  </a:lnTo>
                  <a:lnTo>
                    <a:pt x="9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63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2" name="Freeform 105"/>
            <p:cNvSpPr>
              <a:spLocks/>
            </p:cNvSpPr>
            <p:nvPr/>
          </p:nvSpPr>
          <p:spPr bwMode="auto">
            <a:xfrm>
              <a:off x="1635746" y="2053878"/>
              <a:ext cx="14288" cy="23813"/>
            </a:xfrm>
            <a:custGeom>
              <a:avLst/>
              <a:gdLst>
                <a:gd name="T0" fmla="*/ 35 w 35"/>
                <a:gd name="T1" fmla="*/ 0 h 62"/>
                <a:gd name="T2" fmla="*/ 32 w 35"/>
                <a:gd name="T3" fmla="*/ 0 h 62"/>
                <a:gd name="T4" fmla="*/ 29 w 35"/>
                <a:gd name="T5" fmla="*/ 0 h 62"/>
                <a:gd name="T6" fmla="*/ 25 w 35"/>
                <a:gd name="T7" fmla="*/ 1 h 62"/>
                <a:gd name="T8" fmla="*/ 23 w 35"/>
                <a:gd name="T9" fmla="*/ 1 h 62"/>
                <a:gd name="T10" fmla="*/ 20 w 35"/>
                <a:gd name="T11" fmla="*/ 2 h 62"/>
                <a:gd name="T12" fmla="*/ 17 w 35"/>
                <a:gd name="T13" fmla="*/ 3 h 62"/>
                <a:gd name="T14" fmla="*/ 14 w 35"/>
                <a:gd name="T15" fmla="*/ 6 h 62"/>
                <a:gd name="T16" fmla="*/ 12 w 35"/>
                <a:gd name="T17" fmla="*/ 7 h 62"/>
                <a:gd name="T18" fmla="*/ 10 w 35"/>
                <a:gd name="T19" fmla="*/ 10 h 62"/>
                <a:gd name="T20" fmla="*/ 8 w 35"/>
                <a:gd name="T21" fmla="*/ 12 h 62"/>
                <a:gd name="T22" fmla="*/ 7 w 35"/>
                <a:gd name="T23" fmla="*/ 15 h 62"/>
                <a:gd name="T24" fmla="*/ 4 w 35"/>
                <a:gd name="T25" fmla="*/ 17 h 62"/>
                <a:gd name="T26" fmla="*/ 3 w 35"/>
                <a:gd name="T27" fmla="*/ 20 h 62"/>
                <a:gd name="T28" fmla="*/ 2 w 35"/>
                <a:gd name="T29" fmla="*/ 22 h 62"/>
                <a:gd name="T30" fmla="*/ 2 w 35"/>
                <a:gd name="T31" fmla="*/ 26 h 62"/>
                <a:gd name="T32" fmla="*/ 2 w 35"/>
                <a:gd name="T33" fmla="*/ 29 h 62"/>
                <a:gd name="T34" fmla="*/ 0 w 35"/>
                <a:gd name="T35" fmla="*/ 32 h 62"/>
                <a:gd name="T36" fmla="*/ 2 w 35"/>
                <a:gd name="T37" fmla="*/ 35 h 62"/>
                <a:gd name="T38" fmla="*/ 2 w 35"/>
                <a:gd name="T39" fmla="*/ 39 h 62"/>
                <a:gd name="T40" fmla="*/ 3 w 35"/>
                <a:gd name="T41" fmla="*/ 41 h 62"/>
                <a:gd name="T42" fmla="*/ 3 w 35"/>
                <a:gd name="T43" fmla="*/ 44 h 62"/>
                <a:gd name="T44" fmla="*/ 5 w 35"/>
                <a:gd name="T45" fmla="*/ 47 h 62"/>
                <a:gd name="T46" fmla="*/ 7 w 35"/>
                <a:gd name="T47" fmla="*/ 50 h 62"/>
                <a:gd name="T48" fmla="*/ 8 w 35"/>
                <a:gd name="T49" fmla="*/ 52 h 62"/>
                <a:gd name="T50" fmla="*/ 10 w 35"/>
                <a:gd name="T51" fmla="*/ 54 h 62"/>
                <a:gd name="T52" fmla="*/ 13 w 35"/>
                <a:gd name="T53" fmla="*/ 56 h 62"/>
                <a:gd name="T54" fmla="*/ 15 w 35"/>
                <a:gd name="T55" fmla="*/ 57 h 62"/>
                <a:gd name="T56" fmla="*/ 18 w 35"/>
                <a:gd name="T57" fmla="*/ 60 h 62"/>
                <a:gd name="T58" fmla="*/ 20 w 35"/>
                <a:gd name="T59" fmla="*/ 61 h 62"/>
                <a:gd name="T60" fmla="*/ 23 w 35"/>
                <a:gd name="T61" fmla="*/ 62 h 62"/>
                <a:gd name="T62" fmla="*/ 27 w 35"/>
                <a:gd name="T63" fmla="*/ 62 h 62"/>
                <a:gd name="T64" fmla="*/ 29 w 35"/>
                <a:gd name="T65" fmla="*/ 62 h 62"/>
                <a:gd name="T66" fmla="*/ 35 w 35"/>
                <a:gd name="T6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62">
                  <a:moveTo>
                    <a:pt x="35" y="0"/>
                  </a:moveTo>
                  <a:lnTo>
                    <a:pt x="32" y="0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7" y="3"/>
                  </a:lnTo>
                  <a:lnTo>
                    <a:pt x="14" y="6"/>
                  </a:lnTo>
                  <a:lnTo>
                    <a:pt x="12" y="7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7" y="15"/>
                  </a:lnTo>
                  <a:lnTo>
                    <a:pt x="4" y="17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9"/>
                  </a:lnTo>
                  <a:lnTo>
                    <a:pt x="3" y="41"/>
                  </a:lnTo>
                  <a:lnTo>
                    <a:pt x="3" y="44"/>
                  </a:lnTo>
                  <a:lnTo>
                    <a:pt x="5" y="47"/>
                  </a:lnTo>
                  <a:lnTo>
                    <a:pt x="7" y="50"/>
                  </a:lnTo>
                  <a:lnTo>
                    <a:pt x="8" y="52"/>
                  </a:lnTo>
                  <a:lnTo>
                    <a:pt x="10" y="54"/>
                  </a:lnTo>
                  <a:lnTo>
                    <a:pt x="13" y="56"/>
                  </a:lnTo>
                  <a:lnTo>
                    <a:pt x="15" y="57"/>
                  </a:lnTo>
                  <a:lnTo>
                    <a:pt x="18" y="60"/>
                  </a:lnTo>
                  <a:lnTo>
                    <a:pt x="20" y="61"/>
                  </a:lnTo>
                  <a:lnTo>
                    <a:pt x="23" y="62"/>
                  </a:lnTo>
                  <a:lnTo>
                    <a:pt x="27" y="62"/>
                  </a:lnTo>
                  <a:lnTo>
                    <a:pt x="29" y="62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3" name="Freeform 109"/>
            <p:cNvSpPr>
              <a:spLocks/>
            </p:cNvSpPr>
            <p:nvPr/>
          </p:nvSpPr>
          <p:spPr bwMode="auto">
            <a:xfrm>
              <a:off x="1635746" y="2053878"/>
              <a:ext cx="12700" cy="25400"/>
            </a:xfrm>
            <a:custGeom>
              <a:avLst/>
              <a:gdLst>
                <a:gd name="T0" fmla="*/ 33 w 33"/>
                <a:gd name="T1" fmla="*/ 0 h 64"/>
                <a:gd name="T2" fmla="*/ 29 w 33"/>
                <a:gd name="T3" fmla="*/ 0 h 64"/>
                <a:gd name="T4" fmla="*/ 25 w 33"/>
                <a:gd name="T5" fmla="*/ 1 h 64"/>
                <a:gd name="T6" fmla="*/ 23 w 33"/>
                <a:gd name="T7" fmla="*/ 1 h 64"/>
                <a:gd name="T8" fmla="*/ 20 w 33"/>
                <a:gd name="T9" fmla="*/ 2 h 64"/>
                <a:gd name="T10" fmla="*/ 18 w 33"/>
                <a:gd name="T11" fmla="*/ 3 h 64"/>
                <a:gd name="T12" fmla="*/ 14 w 33"/>
                <a:gd name="T13" fmla="*/ 5 h 64"/>
                <a:gd name="T14" fmla="*/ 13 w 33"/>
                <a:gd name="T15" fmla="*/ 7 h 64"/>
                <a:gd name="T16" fmla="*/ 10 w 33"/>
                <a:gd name="T17" fmla="*/ 10 h 64"/>
                <a:gd name="T18" fmla="*/ 8 w 33"/>
                <a:gd name="T19" fmla="*/ 11 h 64"/>
                <a:gd name="T20" fmla="*/ 7 w 33"/>
                <a:gd name="T21" fmla="*/ 13 h 64"/>
                <a:gd name="T22" fmla="*/ 4 w 33"/>
                <a:gd name="T23" fmla="*/ 16 h 64"/>
                <a:gd name="T24" fmla="*/ 3 w 33"/>
                <a:gd name="T25" fmla="*/ 20 h 64"/>
                <a:gd name="T26" fmla="*/ 2 w 33"/>
                <a:gd name="T27" fmla="*/ 22 h 64"/>
                <a:gd name="T28" fmla="*/ 2 w 33"/>
                <a:gd name="T29" fmla="*/ 25 h 64"/>
                <a:gd name="T30" fmla="*/ 0 w 33"/>
                <a:gd name="T31" fmla="*/ 29 h 64"/>
                <a:gd name="T32" fmla="*/ 0 w 33"/>
                <a:gd name="T33" fmla="*/ 31 h 64"/>
                <a:gd name="T34" fmla="*/ 0 w 33"/>
                <a:gd name="T35" fmla="*/ 35 h 64"/>
                <a:gd name="T36" fmla="*/ 2 w 33"/>
                <a:gd name="T37" fmla="*/ 37 h 64"/>
                <a:gd name="T38" fmla="*/ 2 w 33"/>
                <a:gd name="T39" fmla="*/ 41 h 64"/>
                <a:gd name="T40" fmla="*/ 3 w 33"/>
                <a:gd name="T41" fmla="*/ 44 h 64"/>
                <a:gd name="T42" fmla="*/ 4 w 33"/>
                <a:gd name="T43" fmla="*/ 46 h 64"/>
                <a:gd name="T44" fmla="*/ 7 w 33"/>
                <a:gd name="T45" fmla="*/ 50 h 64"/>
                <a:gd name="T46" fmla="*/ 8 w 33"/>
                <a:gd name="T47" fmla="*/ 51 h 64"/>
                <a:gd name="T48" fmla="*/ 10 w 33"/>
                <a:gd name="T49" fmla="*/ 54 h 64"/>
                <a:gd name="T50" fmla="*/ 13 w 33"/>
                <a:gd name="T51" fmla="*/ 56 h 64"/>
                <a:gd name="T52" fmla="*/ 14 w 33"/>
                <a:gd name="T53" fmla="*/ 57 h 64"/>
                <a:gd name="T54" fmla="*/ 18 w 33"/>
                <a:gd name="T55" fmla="*/ 60 h 64"/>
                <a:gd name="T56" fmla="*/ 20 w 33"/>
                <a:gd name="T57" fmla="*/ 61 h 64"/>
                <a:gd name="T58" fmla="*/ 23 w 33"/>
                <a:gd name="T59" fmla="*/ 62 h 64"/>
                <a:gd name="T60" fmla="*/ 25 w 33"/>
                <a:gd name="T61" fmla="*/ 62 h 64"/>
                <a:gd name="T62" fmla="*/ 29 w 33"/>
                <a:gd name="T63" fmla="*/ 64 h 64"/>
                <a:gd name="T64" fmla="*/ 33 w 33"/>
                <a:gd name="T65" fmla="*/ 64 h 64"/>
                <a:gd name="T66" fmla="*/ 33 w 33"/>
                <a:gd name="T6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64">
                  <a:moveTo>
                    <a:pt x="33" y="0"/>
                  </a:moveTo>
                  <a:lnTo>
                    <a:pt x="29" y="0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8" y="3"/>
                  </a:lnTo>
                  <a:lnTo>
                    <a:pt x="14" y="5"/>
                  </a:lnTo>
                  <a:lnTo>
                    <a:pt x="13" y="7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4" y="16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41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7" y="50"/>
                  </a:lnTo>
                  <a:lnTo>
                    <a:pt x="8" y="51"/>
                  </a:lnTo>
                  <a:lnTo>
                    <a:pt x="10" y="54"/>
                  </a:lnTo>
                  <a:lnTo>
                    <a:pt x="13" y="56"/>
                  </a:lnTo>
                  <a:lnTo>
                    <a:pt x="14" y="57"/>
                  </a:lnTo>
                  <a:lnTo>
                    <a:pt x="18" y="60"/>
                  </a:lnTo>
                  <a:lnTo>
                    <a:pt x="20" y="61"/>
                  </a:lnTo>
                  <a:lnTo>
                    <a:pt x="23" y="62"/>
                  </a:lnTo>
                  <a:lnTo>
                    <a:pt x="25" y="62"/>
                  </a:lnTo>
                  <a:lnTo>
                    <a:pt x="29" y="64"/>
                  </a:lnTo>
                  <a:lnTo>
                    <a:pt x="33" y="6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224" name="Gruppieren 1115"/>
          <p:cNvGrpSpPr/>
          <p:nvPr/>
        </p:nvGrpSpPr>
        <p:grpSpPr>
          <a:xfrm>
            <a:off x="6718921" y="2068156"/>
            <a:ext cx="1760537" cy="1881188"/>
            <a:chOff x="6704013" y="2311401"/>
            <a:chExt cx="1760537" cy="1881188"/>
          </a:xfrm>
        </p:grpSpPr>
        <p:sp>
          <p:nvSpPr>
            <p:cNvPr id="225" name="Rectangle 83"/>
            <p:cNvSpPr>
              <a:spLocks noChangeArrowheads="1"/>
            </p:cNvSpPr>
            <p:nvPr/>
          </p:nvSpPr>
          <p:spPr bwMode="auto">
            <a:xfrm>
              <a:off x="7029450" y="2311401"/>
              <a:ext cx="1143000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400" b="1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T2 outcome: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6" name="Rectangle 84"/>
            <p:cNvSpPr>
              <a:spLocks noChangeArrowheads="1"/>
            </p:cNvSpPr>
            <p:nvPr/>
          </p:nvSpPr>
          <p:spPr bwMode="auto">
            <a:xfrm>
              <a:off x="6999288" y="2563813"/>
              <a:ext cx="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7" name="Rectangle 85"/>
            <p:cNvSpPr>
              <a:spLocks noChangeArrowheads="1"/>
            </p:cNvSpPr>
            <p:nvPr/>
          </p:nvSpPr>
          <p:spPr bwMode="auto">
            <a:xfrm>
              <a:off x="7005364" y="2552701"/>
              <a:ext cx="391640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de-DE" altLang="de-DE" sz="1100" dirty="0">
                  <a:solidFill>
                    <a:srgbClr val="1D1D1B"/>
                  </a:solidFill>
                  <a:latin typeface="Symbol" pitchFamily="18" charset="2"/>
                </a:rPr>
                <a:t>ΔS</a:t>
              </a:r>
              <a:r>
                <a:rPr kumimoji="0" lang="de-DE" altLang="de-DE" sz="11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D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8" name="Rectangle 86"/>
            <p:cNvSpPr>
              <a:spLocks noChangeArrowheads="1"/>
            </p:cNvSpPr>
            <p:nvPr/>
          </p:nvSpPr>
          <p:spPr bwMode="auto">
            <a:xfrm>
              <a:off x="6704013" y="2724151"/>
              <a:ext cx="949325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1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(</a:t>
              </a:r>
              <a:r>
                <a:rPr kumimoji="0" lang="de-DE" altLang="de-DE" sz="1100" b="0" i="0" u="none" strike="noStrike" cap="none" normalizeH="0" baseline="0" dirty="0" err="1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dysfunctions</a:t>
              </a:r>
              <a:r>
                <a:rPr kumimoji="0" lang="de-DE" altLang="de-DE" sz="11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)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9" name="Rectangle 87"/>
            <p:cNvSpPr>
              <a:spLocks noChangeArrowheads="1"/>
            </p:cNvSpPr>
            <p:nvPr/>
          </p:nvSpPr>
          <p:spPr bwMode="auto">
            <a:xfrm>
              <a:off x="8002588" y="2552701"/>
              <a:ext cx="165100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100" b="0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R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0" name="Rectangle 88"/>
            <p:cNvSpPr>
              <a:spLocks noChangeArrowheads="1"/>
            </p:cNvSpPr>
            <p:nvPr/>
          </p:nvSpPr>
          <p:spPr bwMode="auto">
            <a:xfrm>
              <a:off x="7705725" y="2711451"/>
              <a:ext cx="758825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100" b="0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(resilience)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1" name="Freeform 113"/>
            <p:cNvSpPr>
              <a:spLocks/>
            </p:cNvSpPr>
            <p:nvPr/>
          </p:nvSpPr>
          <p:spPr bwMode="auto">
            <a:xfrm>
              <a:off x="6951663" y="2978151"/>
              <a:ext cx="384175" cy="1214438"/>
            </a:xfrm>
            <a:custGeom>
              <a:avLst/>
              <a:gdLst>
                <a:gd name="T0" fmla="*/ 0 w 969"/>
                <a:gd name="T1" fmla="*/ 0 h 3058"/>
                <a:gd name="T2" fmla="*/ 969 w 969"/>
                <a:gd name="T3" fmla="*/ 0 h 3058"/>
                <a:gd name="T4" fmla="*/ 0 w 969"/>
                <a:gd name="T5" fmla="*/ 3058 h 3058"/>
                <a:gd name="T6" fmla="*/ 0 w 969"/>
                <a:gd name="T7" fmla="*/ 0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9" h="3058">
                  <a:moveTo>
                    <a:pt x="0" y="0"/>
                  </a:moveTo>
                  <a:lnTo>
                    <a:pt x="969" y="0"/>
                  </a:lnTo>
                  <a:lnTo>
                    <a:pt x="0" y="30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2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2" name="Freeform 114"/>
            <p:cNvSpPr>
              <a:spLocks/>
            </p:cNvSpPr>
            <p:nvPr/>
          </p:nvSpPr>
          <p:spPr bwMode="auto">
            <a:xfrm>
              <a:off x="7858125" y="2978151"/>
              <a:ext cx="385763" cy="1214438"/>
            </a:xfrm>
            <a:custGeom>
              <a:avLst/>
              <a:gdLst>
                <a:gd name="T0" fmla="*/ 0 w 970"/>
                <a:gd name="T1" fmla="*/ 3058 h 3058"/>
                <a:gd name="T2" fmla="*/ 970 w 970"/>
                <a:gd name="T3" fmla="*/ 3058 h 3058"/>
                <a:gd name="T4" fmla="*/ 0 w 970"/>
                <a:gd name="T5" fmla="*/ 0 h 3058"/>
                <a:gd name="T6" fmla="*/ 0 w 970"/>
                <a:gd name="T7" fmla="*/ 3058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70" h="3058">
                  <a:moveTo>
                    <a:pt x="0" y="3058"/>
                  </a:moveTo>
                  <a:lnTo>
                    <a:pt x="970" y="3058"/>
                  </a:lnTo>
                  <a:lnTo>
                    <a:pt x="0" y="0"/>
                  </a:lnTo>
                  <a:lnTo>
                    <a:pt x="0" y="3058"/>
                  </a:lnTo>
                  <a:close/>
                </a:path>
              </a:pathLst>
            </a:custGeom>
            <a:solidFill>
              <a:srgbClr val="52A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grpSp>
        <p:nvGrpSpPr>
          <p:cNvPr id="233" name="Gruppierung 232"/>
          <p:cNvGrpSpPr/>
          <p:nvPr/>
        </p:nvGrpSpPr>
        <p:grpSpPr>
          <a:xfrm>
            <a:off x="1635746" y="3199590"/>
            <a:ext cx="4752975" cy="717950"/>
            <a:chOff x="1635746" y="1929600"/>
            <a:chExt cx="4752975" cy="717950"/>
          </a:xfrm>
        </p:grpSpPr>
        <p:sp>
          <p:nvSpPr>
            <p:cNvPr id="234" name="Rectangle 92"/>
            <p:cNvSpPr>
              <a:spLocks noChangeArrowheads="1"/>
            </p:cNvSpPr>
            <p:nvPr/>
          </p:nvSpPr>
          <p:spPr bwMode="auto">
            <a:xfrm>
              <a:off x="5909296" y="2336400"/>
              <a:ext cx="2540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7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Symbol" pitchFamily="18" charset="2"/>
                  <a:cs typeface="Arial" pitchFamily="34" charset="0"/>
                </a:rPr>
                <a:t>S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5" name="Rectangle 93"/>
            <p:cNvSpPr>
              <a:spLocks noChangeArrowheads="1"/>
            </p:cNvSpPr>
            <p:nvPr/>
          </p:nvSpPr>
          <p:spPr bwMode="auto">
            <a:xfrm>
              <a:off x="6034708" y="2334866"/>
              <a:ext cx="24765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7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D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6" name="Rectangle 94"/>
            <p:cNvSpPr>
              <a:spLocks noChangeArrowheads="1"/>
            </p:cNvSpPr>
            <p:nvPr/>
          </p:nvSpPr>
          <p:spPr bwMode="auto">
            <a:xfrm>
              <a:off x="6188696" y="2453928"/>
              <a:ext cx="20002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000" b="0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T2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7" name="Rectangle 95"/>
            <p:cNvSpPr>
              <a:spLocks noChangeArrowheads="1"/>
            </p:cNvSpPr>
            <p:nvPr/>
          </p:nvSpPr>
          <p:spPr bwMode="auto">
            <a:xfrm>
              <a:off x="5909296" y="1929600"/>
              <a:ext cx="25400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700" b="0" i="0" u="none" strike="noStrike" cap="none" normalizeH="0" baseline="0" dirty="0">
                  <a:ln>
                    <a:noFill/>
                  </a:ln>
                  <a:solidFill>
                    <a:srgbClr val="1D1D1B"/>
                  </a:solidFill>
                  <a:effectLst/>
                  <a:latin typeface="Symbol" pitchFamily="18" charset="2"/>
                  <a:cs typeface="Arial" pitchFamily="34" charset="0"/>
                </a:rPr>
                <a:t>S</a:t>
              </a:r>
              <a:endPara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8" name="Rectangle 96"/>
            <p:cNvSpPr>
              <a:spLocks noChangeArrowheads="1"/>
            </p:cNvSpPr>
            <p:nvPr/>
          </p:nvSpPr>
          <p:spPr bwMode="auto">
            <a:xfrm>
              <a:off x="6034708" y="1931641"/>
              <a:ext cx="24765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700" b="0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D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9" name="Rectangle 97"/>
            <p:cNvSpPr>
              <a:spLocks noChangeArrowheads="1"/>
            </p:cNvSpPr>
            <p:nvPr/>
          </p:nvSpPr>
          <p:spPr bwMode="auto">
            <a:xfrm>
              <a:off x="6188696" y="2050703"/>
              <a:ext cx="20002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e-DE" altLang="de-DE" sz="1000" b="0" i="0" u="none" strike="noStrike" cap="none" normalizeH="0" baseline="0">
                  <a:ln>
                    <a:noFill/>
                  </a:ln>
                  <a:solidFill>
                    <a:srgbClr val="1D1D1B"/>
                  </a:solidFill>
                  <a:effectLst/>
                  <a:latin typeface="Arial" pitchFamily="34" charset="0"/>
                  <a:cs typeface="Arial" pitchFamily="34" charset="0"/>
                </a:rPr>
                <a:t>T2</a:t>
              </a:r>
              <a:endPara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0" name="Freeform 101"/>
            <p:cNvSpPr>
              <a:spLocks/>
            </p:cNvSpPr>
            <p:nvPr/>
          </p:nvSpPr>
          <p:spPr bwMode="auto">
            <a:xfrm>
              <a:off x="1635746" y="2053878"/>
              <a:ext cx="14288" cy="25400"/>
            </a:xfrm>
            <a:custGeom>
              <a:avLst/>
              <a:gdLst>
                <a:gd name="T0" fmla="*/ 29 w 35"/>
                <a:gd name="T1" fmla="*/ 0 h 64"/>
                <a:gd name="T2" fmla="*/ 27 w 35"/>
                <a:gd name="T3" fmla="*/ 1 h 64"/>
                <a:gd name="T4" fmla="*/ 23 w 35"/>
                <a:gd name="T5" fmla="*/ 1 h 64"/>
                <a:gd name="T6" fmla="*/ 20 w 35"/>
                <a:gd name="T7" fmla="*/ 2 h 64"/>
                <a:gd name="T8" fmla="*/ 18 w 35"/>
                <a:gd name="T9" fmla="*/ 3 h 64"/>
                <a:gd name="T10" fmla="*/ 15 w 35"/>
                <a:gd name="T11" fmla="*/ 5 h 64"/>
                <a:gd name="T12" fmla="*/ 13 w 35"/>
                <a:gd name="T13" fmla="*/ 7 h 64"/>
                <a:gd name="T14" fmla="*/ 10 w 35"/>
                <a:gd name="T15" fmla="*/ 8 h 64"/>
                <a:gd name="T16" fmla="*/ 8 w 35"/>
                <a:gd name="T17" fmla="*/ 11 h 64"/>
                <a:gd name="T18" fmla="*/ 7 w 35"/>
                <a:gd name="T19" fmla="*/ 13 h 64"/>
                <a:gd name="T20" fmla="*/ 5 w 35"/>
                <a:gd name="T21" fmla="*/ 16 h 64"/>
                <a:gd name="T22" fmla="*/ 3 w 35"/>
                <a:gd name="T23" fmla="*/ 18 h 64"/>
                <a:gd name="T24" fmla="*/ 3 w 35"/>
                <a:gd name="T25" fmla="*/ 22 h 64"/>
                <a:gd name="T26" fmla="*/ 2 w 35"/>
                <a:gd name="T27" fmla="*/ 25 h 64"/>
                <a:gd name="T28" fmla="*/ 2 w 35"/>
                <a:gd name="T29" fmla="*/ 27 h 64"/>
                <a:gd name="T30" fmla="*/ 0 w 35"/>
                <a:gd name="T31" fmla="*/ 31 h 64"/>
                <a:gd name="T32" fmla="*/ 2 w 35"/>
                <a:gd name="T33" fmla="*/ 35 h 64"/>
                <a:gd name="T34" fmla="*/ 2 w 35"/>
                <a:gd name="T35" fmla="*/ 37 h 64"/>
                <a:gd name="T36" fmla="*/ 2 w 35"/>
                <a:gd name="T37" fmla="*/ 41 h 64"/>
                <a:gd name="T38" fmla="*/ 3 w 35"/>
                <a:gd name="T39" fmla="*/ 44 h 64"/>
                <a:gd name="T40" fmla="*/ 4 w 35"/>
                <a:gd name="T41" fmla="*/ 46 h 64"/>
                <a:gd name="T42" fmla="*/ 7 w 35"/>
                <a:gd name="T43" fmla="*/ 49 h 64"/>
                <a:gd name="T44" fmla="*/ 8 w 35"/>
                <a:gd name="T45" fmla="*/ 51 h 64"/>
                <a:gd name="T46" fmla="*/ 10 w 35"/>
                <a:gd name="T47" fmla="*/ 54 h 64"/>
                <a:gd name="T48" fmla="*/ 12 w 35"/>
                <a:gd name="T49" fmla="*/ 56 h 64"/>
                <a:gd name="T50" fmla="*/ 14 w 35"/>
                <a:gd name="T51" fmla="*/ 57 h 64"/>
                <a:gd name="T52" fmla="*/ 17 w 35"/>
                <a:gd name="T53" fmla="*/ 59 h 64"/>
                <a:gd name="T54" fmla="*/ 20 w 35"/>
                <a:gd name="T55" fmla="*/ 60 h 64"/>
                <a:gd name="T56" fmla="*/ 23 w 35"/>
                <a:gd name="T57" fmla="*/ 61 h 64"/>
                <a:gd name="T58" fmla="*/ 25 w 35"/>
                <a:gd name="T59" fmla="*/ 62 h 64"/>
                <a:gd name="T60" fmla="*/ 29 w 35"/>
                <a:gd name="T61" fmla="*/ 62 h 64"/>
                <a:gd name="T62" fmla="*/ 32 w 35"/>
                <a:gd name="T63" fmla="*/ 64 h 64"/>
                <a:gd name="T64" fmla="*/ 35 w 35"/>
                <a:gd name="T65" fmla="*/ 62 h 64"/>
                <a:gd name="T66" fmla="*/ 29 w 35"/>
                <a:gd name="T6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64">
                  <a:moveTo>
                    <a:pt x="29" y="0"/>
                  </a:moveTo>
                  <a:lnTo>
                    <a:pt x="27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7"/>
                  </a:lnTo>
                  <a:lnTo>
                    <a:pt x="10" y="8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5" y="16"/>
                  </a:lnTo>
                  <a:lnTo>
                    <a:pt x="3" y="18"/>
                  </a:lnTo>
                  <a:lnTo>
                    <a:pt x="3" y="22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0" y="31"/>
                  </a:lnTo>
                  <a:lnTo>
                    <a:pt x="2" y="35"/>
                  </a:lnTo>
                  <a:lnTo>
                    <a:pt x="2" y="37"/>
                  </a:lnTo>
                  <a:lnTo>
                    <a:pt x="2" y="41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7" y="49"/>
                  </a:lnTo>
                  <a:lnTo>
                    <a:pt x="8" y="51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4" y="57"/>
                  </a:lnTo>
                  <a:lnTo>
                    <a:pt x="17" y="59"/>
                  </a:lnTo>
                  <a:lnTo>
                    <a:pt x="20" y="60"/>
                  </a:lnTo>
                  <a:lnTo>
                    <a:pt x="23" y="61"/>
                  </a:lnTo>
                  <a:lnTo>
                    <a:pt x="25" y="62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35" y="6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1" name="Freeform 105"/>
            <p:cNvSpPr>
              <a:spLocks/>
            </p:cNvSpPr>
            <p:nvPr/>
          </p:nvSpPr>
          <p:spPr bwMode="auto">
            <a:xfrm>
              <a:off x="1635746" y="2053878"/>
              <a:ext cx="14288" cy="23813"/>
            </a:xfrm>
            <a:custGeom>
              <a:avLst/>
              <a:gdLst>
                <a:gd name="T0" fmla="*/ 35 w 35"/>
                <a:gd name="T1" fmla="*/ 0 h 62"/>
                <a:gd name="T2" fmla="*/ 32 w 35"/>
                <a:gd name="T3" fmla="*/ 0 h 62"/>
                <a:gd name="T4" fmla="*/ 29 w 35"/>
                <a:gd name="T5" fmla="*/ 0 h 62"/>
                <a:gd name="T6" fmla="*/ 25 w 35"/>
                <a:gd name="T7" fmla="*/ 1 h 62"/>
                <a:gd name="T8" fmla="*/ 23 w 35"/>
                <a:gd name="T9" fmla="*/ 1 h 62"/>
                <a:gd name="T10" fmla="*/ 20 w 35"/>
                <a:gd name="T11" fmla="*/ 2 h 62"/>
                <a:gd name="T12" fmla="*/ 17 w 35"/>
                <a:gd name="T13" fmla="*/ 3 h 62"/>
                <a:gd name="T14" fmla="*/ 14 w 35"/>
                <a:gd name="T15" fmla="*/ 6 h 62"/>
                <a:gd name="T16" fmla="*/ 12 w 35"/>
                <a:gd name="T17" fmla="*/ 7 h 62"/>
                <a:gd name="T18" fmla="*/ 10 w 35"/>
                <a:gd name="T19" fmla="*/ 10 h 62"/>
                <a:gd name="T20" fmla="*/ 8 w 35"/>
                <a:gd name="T21" fmla="*/ 12 h 62"/>
                <a:gd name="T22" fmla="*/ 7 w 35"/>
                <a:gd name="T23" fmla="*/ 15 h 62"/>
                <a:gd name="T24" fmla="*/ 4 w 35"/>
                <a:gd name="T25" fmla="*/ 17 h 62"/>
                <a:gd name="T26" fmla="*/ 3 w 35"/>
                <a:gd name="T27" fmla="*/ 20 h 62"/>
                <a:gd name="T28" fmla="*/ 2 w 35"/>
                <a:gd name="T29" fmla="*/ 22 h 62"/>
                <a:gd name="T30" fmla="*/ 2 w 35"/>
                <a:gd name="T31" fmla="*/ 26 h 62"/>
                <a:gd name="T32" fmla="*/ 2 w 35"/>
                <a:gd name="T33" fmla="*/ 29 h 62"/>
                <a:gd name="T34" fmla="*/ 0 w 35"/>
                <a:gd name="T35" fmla="*/ 32 h 62"/>
                <a:gd name="T36" fmla="*/ 2 w 35"/>
                <a:gd name="T37" fmla="*/ 35 h 62"/>
                <a:gd name="T38" fmla="*/ 2 w 35"/>
                <a:gd name="T39" fmla="*/ 39 h 62"/>
                <a:gd name="T40" fmla="*/ 3 w 35"/>
                <a:gd name="T41" fmla="*/ 41 h 62"/>
                <a:gd name="T42" fmla="*/ 3 w 35"/>
                <a:gd name="T43" fmla="*/ 44 h 62"/>
                <a:gd name="T44" fmla="*/ 5 w 35"/>
                <a:gd name="T45" fmla="*/ 47 h 62"/>
                <a:gd name="T46" fmla="*/ 7 w 35"/>
                <a:gd name="T47" fmla="*/ 50 h 62"/>
                <a:gd name="T48" fmla="*/ 8 w 35"/>
                <a:gd name="T49" fmla="*/ 52 h 62"/>
                <a:gd name="T50" fmla="*/ 10 w 35"/>
                <a:gd name="T51" fmla="*/ 54 h 62"/>
                <a:gd name="T52" fmla="*/ 13 w 35"/>
                <a:gd name="T53" fmla="*/ 56 h 62"/>
                <a:gd name="T54" fmla="*/ 15 w 35"/>
                <a:gd name="T55" fmla="*/ 57 h 62"/>
                <a:gd name="T56" fmla="*/ 18 w 35"/>
                <a:gd name="T57" fmla="*/ 60 h 62"/>
                <a:gd name="T58" fmla="*/ 20 w 35"/>
                <a:gd name="T59" fmla="*/ 61 h 62"/>
                <a:gd name="T60" fmla="*/ 23 w 35"/>
                <a:gd name="T61" fmla="*/ 62 h 62"/>
                <a:gd name="T62" fmla="*/ 27 w 35"/>
                <a:gd name="T63" fmla="*/ 62 h 62"/>
                <a:gd name="T64" fmla="*/ 29 w 35"/>
                <a:gd name="T65" fmla="*/ 62 h 62"/>
                <a:gd name="T66" fmla="*/ 35 w 35"/>
                <a:gd name="T67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62">
                  <a:moveTo>
                    <a:pt x="35" y="0"/>
                  </a:moveTo>
                  <a:lnTo>
                    <a:pt x="32" y="0"/>
                  </a:lnTo>
                  <a:lnTo>
                    <a:pt x="29" y="0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7" y="3"/>
                  </a:lnTo>
                  <a:lnTo>
                    <a:pt x="14" y="6"/>
                  </a:lnTo>
                  <a:lnTo>
                    <a:pt x="12" y="7"/>
                  </a:lnTo>
                  <a:lnTo>
                    <a:pt x="10" y="10"/>
                  </a:lnTo>
                  <a:lnTo>
                    <a:pt x="8" y="12"/>
                  </a:lnTo>
                  <a:lnTo>
                    <a:pt x="7" y="15"/>
                  </a:lnTo>
                  <a:lnTo>
                    <a:pt x="4" y="17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0" y="32"/>
                  </a:lnTo>
                  <a:lnTo>
                    <a:pt x="2" y="35"/>
                  </a:lnTo>
                  <a:lnTo>
                    <a:pt x="2" y="39"/>
                  </a:lnTo>
                  <a:lnTo>
                    <a:pt x="3" y="41"/>
                  </a:lnTo>
                  <a:lnTo>
                    <a:pt x="3" y="44"/>
                  </a:lnTo>
                  <a:lnTo>
                    <a:pt x="5" y="47"/>
                  </a:lnTo>
                  <a:lnTo>
                    <a:pt x="7" y="50"/>
                  </a:lnTo>
                  <a:lnTo>
                    <a:pt x="8" y="52"/>
                  </a:lnTo>
                  <a:lnTo>
                    <a:pt x="10" y="54"/>
                  </a:lnTo>
                  <a:lnTo>
                    <a:pt x="13" y="56"/>
                  </a:lnTo>
                  <a:lnTo>
                    <a:pt x="15" y="57"/>
                  </a:lnTo>
                  <a:lnTo>
                    <a:pt x="18" y="60"/>
                  </a:lnTo>
                  <a:lnTo>
                    <a:pt x="20" y="61"/>
                  </a:lnTo>
                  <a:lnTo>
                    <a:pt x="23" y="62"/>
                  </a:lnTo>
                  <a:lnTo>
                    <a:pt x="27" y="62"/>
                  </a:lnTo>
                  <a:lnTo>
                    <a:pt x="29" y="62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2" name="Freeform 106"/>
            <p:cNvSpPr>
              <a:spLocks/>
            </p:cNvSpPr>
            <p:nvPr/>
          </p:nvSpPr>
          <p:spPr bwMode="auto">
            <a:xfrm>
              <a:off x="1648446" y="2053878"/>
              <a:ext cx="3956050" cy="379413"/>
            </a:xfrm>
            <a:custGeom>
              <a:avLst/>
              <a:gdLst>
                <a:gd name="T0" fmla="*/ 9970 w 9970"/>
                <a:gd name="T1" fmla="*/ 894 h 958"/>
                <a:gd name="T2" fmla="*/ 6 w 9970"/>
                <a:gd name="T3" fmla="*/ 0 h 958"/>
                <a:gd name="T4" fmla="*/ 0 w 9970"/>
                <a:gd name="T5" fmla="*/ 62 h 958"/>
                <a:gd name="T6" fmla="*/ 9965 w 9970"/>
                <a:gd name="T7" fmla="*/ 958 h 958"/>
                <a:gd name="T8" fmla="*/ 9970 w 9970"/>
                <a:gd name="T9" fmla="*/ 894 h 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70" h="958">
                  <a:moveTo>
                    <a:pt x="9970" y="894"/>
                  </a:moveTo>
                  <a:lnTo>
                    <a:pt x="6" y="0"/>
                  </a:lnTo>
                  <a:lnTo>
                    <a:pt x="0" y="62"/>
                  </a:lnTo>
                  <a:lnTo>
                    <a:pt x="9965" y="958"/>
                  </a:lnTo>
                  <a:lnTo>
                    <a:pt x="9970" y="894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3" name="Freeform 107"/>
            <p:cNvSpPr>
              <a:spLocks/>
            </p:cNvSpPr>
            <p:nvPr/>
          </p:nvSpPr>
          <p:spPr bwMode="auto">
            <a:xfrm>
              <a:off x="5572746" y="2390428"/>
              <a:ext cx="123825" cy="57150"/>
            </a:xfrm>
            <a:custGeom>
              <a:avLst/>
              <a:gdLst>
                <a:gd name="T0" fmla="*/ 315 w 315"/>
                <a:gd name="T1" fmla="*/ 100 h 145"/>
                <a:gd name="T2" fmla="*/ 14 w 315"/>
                <a:gd name="T3" fmla="*/ 0 h 145"/>
                <a:gd name="T4" fmla="*/ 0 w 315"/>
                <a:gd name="T5" fmla="*/ 145 h 145"/>
                <a:gd name="T6" fmla="*/ 315 w 315"/>
                <a:gd name="T7" fmla="*/ 10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5" h="145">
                  <a:moveTo>
                    <a:pt x="315" y="100"/>
                  </a:moveTo>
                  <a:lnTo>
                    <a:pt x="14" y="0"/>
                  </a:lnTo>
                  <a:lnTo>
                    <a:pt x="0" y="145"/>
                  </a:lnTo>
                  <a:lnTo>
                    <a:pt x="315" y="10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4" name="Freeform 108"/>
            <p:cNvSpPr>
              <a:spLocks/>
            </p:cNvSpPr>
            <p:nvPr/>
          </p:nvSpPr>
          <p:spPr bwMode="auto">
            <a:xfrm>
              <a:off x="5602908" y="2407891"/>
              <a:ext cx="12700" cy="25400"/>
            </a:xfrm>
            <a:custGeom>
              <a:avLst/>
              <a:gdLst>
                <a:gd name="T0" fmla="*/ 0 w 34"/>
                <a:gd name="T1" fmla="*/ 64 h 64"/>
                <a:gd name="T2" fmla="*/ 2 w 34"/>
                <a:gd name="T3" fmla="*/ 64 h 64"/>
                <a:gd name="T4" fmla="*/ 6 w 34"/>
                <a:gd name="T5" fmla="*/ 63 h 64"/>
                <a:gd name="T6" fmla="*/ 9 w 34"/>
                <a:gd name="T7" fmla="*/ 63 h 64"/>
                <a:gd name="T8" fmla="*/ 12 w 34"/>
                <a:gd name="T9" fmla="*/ 61 h 64"/>
                <a:gd name="T10" fmla="*/ 15 w 34"/>
                <a:gd name="T11" fmla="*/ 61 h 64"/>
                <a:gd name="T12" fmla="*/ 17 w 34"/>
                <a:gd name="T13" fmla="*/ 59 h 64"/>
                <a:gd name="T14" fmla="*/ 20 w 34"/>
                <a:gd name="T15" fmla="*/ 58 h 64"/>
                <a:gd name="T16" fmla="*/ 22 w 34"/>
                <a:gd name="T17" fmla="*/ 56 h 64"/>
                <a:gd name="T18" fmla="*/ 25 w 34"/>
                <a:gd name="T19" fmla="*/ 54 h 64"/>
                <a:gd name="T20" fmla="*/ 26 w 34"/>
                <a:gd name="T21" fmla="*/ 51 h 64"/>
                <a:gd name="T22" fmla="*/ 29 w 34"/>
                <a:gd name="T23" fmla="*/ 49 h 64"/>
                <a:gd name="T24" fmla="*/ 30 w 34"/>
                <a:gd name="T25" fmla="*/ 46 h 64"/>
                <a:gd name="T26" fmla="*/ 31 w 34"/>
                <a:gd name="T27" fmla="*/ 44 h 64"/>
                <a:gd name="T28" fmla="*/ 32 w 34"/>
                <a:gd name="T29" fmla="*/ 41 h 64"/>
                <a:gd name="T30" fmla="*/ 32 w 34"/>
                <a:gd name="T31" fmla="*/ 38 h 64"/>
                <a:gd name="T32" fmla="*/ 34 w 34"/>
                <a:gd name="T33" fmla="*/ 35 h 64"/>
                <a:gd name="T34" fmla="*/ 34 w 34"/>
                <a:gd name="T35" fmla="*/ 31 h 64"/>
                <a:gd name="T36" fmla="*/ 34 w 34"/>
                <a:gd name="T37" fmla="*/ 29 h 64"/>
                <a:gd name="T38" fmla="*/ 32 w 34"/>
                <a:gd name="T39" fmla="*/ 25 h 64"/>
                <a:gd name="T40" fmla="*/ 32 w 34"/>
                <a:gd name="T41" fmla="*/ 23 h 64"/>
                <a:gd name="T42" fmla="*/ 31 w 34"/>
                <a:gd name="T43" fmla="*/ 19 h 64"/>
                <a:gd name="T44" fmla="*/ 30 w 34"/>
                <a:gd name="T45" fmla="*/ 16 h 64"/>
                <a:gd name="T46" fmla="*/ 27 w 34"/>
                <a:gd name="T47" fmla="*/ 14 h 64"/>
                <a:gd name="T48" fmla="*/ 26 w 34"/>
                <a:gd name="T49" fmla="*/ 11 h 64"/>
                <a:gd name="T50" fmla="*/ 24 w 34"/>
                <a:gd name="T51" fmla="*/ 9 h 64"/>
                <a:gd name="T52" fmla="*/ 22 w 34"/>
                <a:gd name="T53" fmla="*/ 7 h 64"/>
                <a:gd name="T54" fmla="*/ 20 w 34"/>
                <a:gd name="T55" fmla="*/ 5 h 64"/>
                <a:gd name="T56" fmla="*/ 17 w 34"/>
                <a:gd name="T57" fmla="*/ 4 h 64"/>
                <a:gd name="T58" fmla="*/ 14 w 34"/>
                <a:gd name="T59" fmla="*/ 2 h 64"/>
                <a:gd name="T60" fmla="*/ 11 w 34"/>
                <a:gd name="T61" fmla="*/ 1 h 64"/>
                <a:gd name="T62" fmla="*/ 7 w 34"/>
                <a:gd name="T63" fmla="*/ 1 h 64"/>
                <a:gd name="T64" fmla="*/ 5 w 34"/>
                <a:gd name="T65" fmla="*/ 0 h 64"/>
                <a:gd name="T66" fmla="*/ 0 w 34"/>
                <a:gd name="T6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64">
                  <a:moveTo>
                    <a:pt x="0" y="64"/>
                  </a:moveTo>
                  <a:lnTo>
                    <a:pt x="2" y="64"/>
                  </a:lnTo>
                  <a:lnTo>
                    <a:pt x="6" y="63"/>
                  </a:lnTo>
                  <a:lnTo>
                    <a:pt x="9" y="63"/>
                  </a:lnTo>
                  <a:lnTo>
                    <a:pt x="12" y="61"/>
                  </a:lnTo>
                  <a:lnTo>
                    <a:pt x="15" y="61"/>
                  </a:lnTo>
                  <a:lnTo>
                    <a:pt x="17" y="59"/>
                  </a:lnTo>
                  <a:lnTo>
                    <a:pt x="20" y="58"/>
                  </a:lnTo>
                  <a:lnTo>
                    <a:pt x="22" y="56"/>
                  </a:lnTo>
                  <a:lnTo>
                    <a:pt x="25" y="54"/>
                  </a:lnTo>
                  <a:lnTo>
                    <a:pt x="26" y="51"/>
                  </a:lnTo>
                  <a:lnTo>
                    <a:pt x="29" y="49"/>
                  </a:lnTo>
                  <a:lnTo>
                    <a:pt x="30" y="46"/>
                  </a:lnTo>
                  <a:lnTo>
                    <a:pt x="31" y="44"/>
                  </a:lnTo>
                  <a:lnTo>
                    <a:pt x="32" y="41"/>
                  </a:lnTo>
                  <a:lnTo>
                    <a:pt x="32" y="38"/>
                  </a:lnTo>
                  <a:lnTo>
                    <a:pt x="34" y="35"/>
                  </a:lnTo>
                  <a:lnTo>
                    <a:pt x="34" y="31"/>
                  </a:lnTo>
                  <a:lnTo>
                    <a:pt x="34" y="29"/>
                  </a:lnTo>
                  <a:lnTo>
                    <a:pt x="32" y="25"/>
                  </a:lnTo>
                  <a:lnTo>
                    <a:pt x="32" y="23"/>
                  </a:lnTo>
                  <a:lnTo>
                    <a:pt x="31" y="19"/>
                  </a:lnTo>
                  <a:lnTo>
                    <a:pt x="30" y="16"/>
                  </a:lnTo>
                  <a:lnTo>
                    <a:pt x="27" y="14"/>
                  </a:lnTo>
                  <a:lnTo>
                    <a:pt x="26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7" y="4"/>
                  </a:lnTo>
                  <a:lnTo>
                    <a:pt x="14" y="2"/>
                  </a:lnTo>
                  <a:lnTo>
                    <a:pt x="11" y="1"/>
                  </a:lnTo>
                  <a:lnTo>
                    <a:pt x="7" y="1"/>
                  </a:lnTo>
                  <a:lnTo>
                    <a:pt x="5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5" name="Freeform 109"/>
            <p:cNvSpPr>
              <a:spLocks/>
            </p:cNvSpPr>
            <p:nvPr/>
          </p:nvSpPr>
          <p:spPr bwMode="auto">
            <a:xfrm>
              <a:off x="1635746" y="2053878"/>
              <a:ext cx="12700" cy="25400"/>
            </a:xfrm>
            <a:custGeom>
              <a:avLst/>
              <a:gdLst>
                <a:gd name="T0" fmla="*/ 33 w 33"/>
                <a:gd name="T1" fmla="*/ 0 h 64"/>
                <a:gd name="T2" fmla="*/ 29 w 33"/>
                <a:gd name="T3" fmla="*/ 0 h 64"/>
                <a:gd name="T4" fmla="*/ 25 w 33"/>
                <a:gd name="T5" fmla="*/ 1 h 64"/>
                <a:gd name="T6" fmla="*/ 23 w 33"/>
                <a:gd name="T7" fmla="*/ 1 h 64"/>
                <a:gd name="T8" fmla="*/ 20 w 33"/>
                <a:gd name="T9" fmla="*/ 2 h 64"/>
                <a:gd name="T10" fmla="*/ 18 w 33"/>
                <a:gd name="T11" fmla="*/ 3 h 64"/>
                <a:gd name="T12" fmla="*/ 14 w 33"/>
                <a:gd name="T13" fmla="*/ 5 h 64"/>
                <a:gd name="T14" fmla="*/ 13 w 33"/>
                <a:gd name="T15" fmla="*/ 7 h 64"/>
                <a:gd name="T16" fmla="*/ 10 w 33"/>
                <a:gd name="T17" fmla="*/ 10 h 64"/>
                <a:gd name="T18" fmla="*/ 8 w 33"/>
                <a:gd name="T19" fmla="*/ 11 h 64"/>
                <a:gd name="T20" fmla="*/ 7 w 33"/>
                <a:gd name="T21" fmla="*/ 13 h 64"/>
                <a:gd name="T22" fmla="*/ 4 w 33"/>
                <a:gd name="T23" fmla="*/ 16 h 64"/>
                <a:gd name="T24" fmla="*/ 3 w 33"/>
                <a:gd name="T25" fmla="*/ 20 h 64"/>
                <a:gd name="T26" fmla="*/ 2 w 33"/>
                <a:gd name="T27" fmla="*/ 22 h 64"/>
                <a:gd name="T28" fmla="*/ 2 w 33"/>
                <a:gd name="T29" fmla="*/ 25 h 64"/>
                <a:gd name="T30" fmla="*/ 0 w 33"/>
                <a:gd name="T31" fmla="*/ 29 h 64"/>
                <a:gd name="T32" fmla="*/ 0 w 33"/>
                <a:gd name="T33" fmla="*/ 31 h 64"/>
                <a:gd name="T34" fmla="*/ 0 w 33"/>
                <a:gd name="T35" fmla="*/ 35 h 64"/>
                <a:gd name="T36" fmla="*/ 2 w 33"/>
                <a:gd name="T37" fmla="*/ 37 h 64"/>
                <a:gd name="T38" fmla="*/ 2 w 33"/>
                <a:gd name="T39" fmla="*/ 41 h 64"/>
                <a:gd name="T40" fmla="*/ 3 w 33"/>
                <a:gd name="T41" fmla="*/ 44 h 64"/>
                <a:gd name="T42" fmla="*/ 4 w 33"/>
                <a:gd name="T43" fmla="*/ 46 h 64"/>
                <a:gd name="T44" fmla="*/ 7 w 33"/>
                <a:gd name="T45" fmla="*/ 50 h 64"/>
                <a:gd name="T46" fmla="*/ 8 w 33"/>
                <a:gd name="T47" fmla="*/ 51 h 64"/>
                <a:gd name="T48" fmla="*/ 10 w 33"/>
                <a:gd name="T49" fmla="*/ 54 h 64"/>
                <a:gd name="T50" fmla="*/ 13 w 33"/>
                <a:gd name="T51" fmla="*/ 56 h 64"/>
                <a:gd name="T52" fmla="*/ 14 w 33"/>
                <a:gd name="T53" fmla="*/ 57 h 64"/>
                <a:gd name="T54" fmla="*/ 18 w 33"/>
                <a:gd name="T55" fmla="*/ 60 h 64"/>
                <a:gd name="T56" fmla="*/ 20 w 33"/>
                <a:gd name="T57" fmla="*/ 61 h 64"/>
                <a:gd name="T58" fmla="*/ 23 w 33"/>
                <a:gd name="T59" fmla="*/ 62 h 64"/>
                <a:gd name="T60" fmla="*/ 25 w 33"/>
                <a:gd name="T61" fmla="*/ 62 h 64"/>
                <a:gd name="T62" fmla="*/ 29 w 33"/>
                <a:gd name="T63" fmla="*/ 64 h 64"/>
                <a:gd name="T64" fmla="*/ 33 w 33"/>
                <a:gd name="T65" fmla="*/ 64 h 64"/>
                <a:gd name="T66" fmla="*/ 33 w 33"/>
                <a:gd name="T6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64">
                  <a:moveTo>
                    <a:pt x="33" y="0"/>
                  </a:moveTo>
                  <a:lnTo>
                    <a:pt x="29" y="0"/>
                  </a:lnTo>
                  <a:lnTo>
                    <a:pt x="25" y="1"/>
                  </a:lnTo>
                  <a:lnTo>
                    <a:pt x="23" y="1"/>
                  </a:lnTo>
                  <a:lnTo>
                    <a:pt x="20" y="2"/>
                  </a:lnTo>
                  <a:lnTo>
                    <a:pt x="18" y="3"/>
                  </a:lnTo>
                  <a:lnTo>
                    <a:pt x="14" y="5"/>
                  </a:lnTo>
                  <a:lnTo>
                    <a:pt x="13" y="7"/>
                  </a:lnTo>
                  <a:lnTo>
                    <a:pt x="10" y="10"/>
                  </a:lnTo>
                  <a:lnTo>
                    <a:pt x="8" y="11"/>
                  </a:lnTo>
                  <a:lnTo>
                    <a:pt x="7" y="13"/>
                  </a:lnTo>
                  <a:lnTo>
                    <a:pt x="4" y="16"/>
                  </a:lnTo>
                  <a:lnTo>
                    <a:pt x="3" y="20"/>
                  </a:lnTo>
                  <a:lnTo>
                    <a:pt x="2" y="22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41"/>
                  </a:lnTo>
                  <a:lnTo>
                    <a:pt x="3" y="44"/>
                  </a:lnTo>
                  <a:lnTo>
                    <a:pt x="4" y="46"/>
                  </a:lnTo>
                  <a:lnTo>
                    <a:pt x="7" y="50"/>
                  </a:lnTo>
                  <a:lnTo>
                    <a:pt x="8" y="51"/>
                  </a:lnTo>
                  <a:lnTo>
                    <a:pt x="10" y="54"/>
                  </a:lnTo>
                  <a:lnTo>
                    <a:pt x="13" y="56"/>
                  </a:lnTo>
                  <a:lnTo>
                    <a:pt x="14" y="57"/>
                  </a:lnTo>
                  <a:lnTo>
                    <a:pt x="18" y="60"/>
                  </a:lnTo>
                  <a:lnTo>
                    <a:pt x="20" y="61"/>
                  </a:lnTo>
                  <a:lnTo>
                    <a:pt x="23" y="62"/>
                  </a:lnTo>
                  <a:lnTo>
                    <a:pt x="25" y="62"/>
                  </a:lnTo>
                  <a:lnTo>
                    <a:pt x="29" y="64"/>
                  </a:lnTo>
                  <a:lnTo>
                    <a:pt x="33" y="6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6" name="Rectangle 110"/>
            <p:cNvSpPr>
              <a:spLocks noChangeArrowheads="1"/>
            </p:cNvSpPr>
            <p:nvPr/>
          </p:nvSpPr>
          <p:spPr bwMode="auto">
            <a:xfrm>
              <a:off x="1648446" y="2053878"/>
              <a:ext cx="3954463" cy="25400"/>
            </a:xfrm>
            <a:prstGeom prst="rect">
              <a:avLst/>
            </a:pr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7" name="Freeform 111"/>
            <p:cNvSpPr>
              <a:spLocks/>
            </p:cNvSpPr>
            <p:nvPr/>
          </p:nvSpPr>
          <p:spPr bwMode="auto">
            <a:xfrm>
              <a:off x="5574333" y="2036416"/>
              <a:ext cx="123825" cy="58738"/>
            </a:xfrm>
            <a:custGeom>
              <a:avLst/>
              <a:gdLst>
                <a:gd name="T0" fmla="*/ 312 w 312"/>
                <a:gd name="T1" fmla="*/ 73 h 147"/>
                <a:gd name="T2" fmla="*/ 0 w 312"/>
                <a:gd name="T3" fmla="*/ 0 h 147"/>
                <a:gd name="T4" fmla="*/ 0 w 312"/>
                <a:gd name="T5" fmla="*/ 147 h 147"/>
                <a:gd name="T6" fmla="*/ 312 w 312"/>
                <a:gd name="T7" fmla="*/ 7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2" h="147">
                  <a:moveTo>
                    <a:pt x="312" y="73"/>
                  </a:moveTo>
                  <a:lnTo>
                    <a:pt x="0" y="0"/>
                  </a:lnTo>
                  <a:lnTo>
                    <a:pt x="0" y="147"/>
                  </a:lnTo>
                  <a:lnTo>
                    <a:pt x="312" y="73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8" name="Freeform 112"/>
            <p:cNvSpPr>
              <a:spLocks/>
            </p:cNvSpPr>
            <p:nvPr/>
          </p:nvSpPr>
          <p:spPr bwMode="auto">
            <a:xfrm>
              <a:off x="5602908" y="2053878"/>
              <a:ext cx="12700" cy="25400"/>
            </a:xfrm>
            <a:custGeom>
              <a:avLst/>
              <a:gdLst>
                <a:gd name="T0" fmla="*/ 0 w 31"/>
                <a:gd name="T1" fmla="*/ 64 h 64"/>
                <a:gd name="T2" fmla="*/ 3 w 31"/>
                <a:gd name="T3" fmla="*/ 64 h 64"/>
                <a:gd name="T4" fmla="*/ 6 w 31"/>
                <a:gd name="T5" fmla="*/ 62 h 64"/>
                <a:gd name="T6" fmla="*/ 9 w 31"/>
                <a:gd name="T7" fmla="*/ 62 h 64"/>
                <a:gd name="T8" fmla="*/ 13 w 31"/>
                <a:gd name="T9" fmla="*/ 61 h 64"/>
                <a:gd name="T10" fmla="*/ 15 w 31"/>
                <a:gd name="T11" fmla="*/ 60 h 64"/>
                <a:gd name="T12" fmla="*/ 18 w 31"/>
                <a:gd name="T13" fmla="*/ 57 h 64"/>
                <a:gd name="T14" fmla="*/ 20 w 31"/>
                <a:gd name="T15" fmla="*/ 56 h 64"/>
                <a:gd name="T16" fmla="*/ 23 w 31"/>
                <a:gd name="T17" fmla="*/ 54 h 64"/>
                <a:gd name="T18" fmla="*/ 24 w 31"/>
                <a:gd name="T19" fmla="*/ 51 h 64"/>
                <a:gd name="T20" fmla="*/ 26 w 31"/>
                <a:gd name="T21" fmla="*/ 50 h 64"/>
                <a:gd name="T22" fmla="*/ 28 w 31"/>
                <a:gd name="T23" fmla="*/ 46 h 64"/>
                <a:gd name="T24" fmla="*/ 29 w 31"/>
                <a:gd name="T25" fmla="*/ 44 h 64"/>
                <a:gd name="T26" fmla="*/ 30 w 31"/>
                <a:gd name="T27" fmla="*/ 41 h 64"/>
                <a:gd name="T28" fmla="*/ 30 w 31"/>
                <a:gd name="T29" fmla="*/ 37 h 64"/>
                <a:gd name="T30" fmla="*/ 31 w 31"/>
                <a:gd name="T31" fmla="*/ 35 h 64"/>
                <a:gd name="T32" fmla="*/ 31 w 31"/>
                <a:gd name="T33" fmla="*/ 31 h 64"/>
                <a:gd name="T34" fmla="*/ 31 w 31"/>
                <a:gd name="T35" fmla="*/ 29 h 64"/>
                <a:gd name="T36" fmla="*/ 30 w 31"/>
                <a:gd name="T37" fmla="*/ 25 h 64"/>
                <a:gd name="T38" fmla="*/ 30 w 31"/>
                <a:gd name="T39" fmla="*/ 22 h 64"/>
                <a:gd name="T40" fmla="*/ 29 w 31"/>
                <a:gd name="T41" fmla="*/ 20 h 64"/>
                <a:gd name="T42" fmla="*/ 28 w 31"/>
                <a:gd name="T43" fmla="*/ 16 h 64"/>
                <a:gd name="T44" fmla="*/ 26 w 31"/>
                <a:gd name="T45" fmla="*/ 13 h 64"/>
                <a:gd name="T46" fmla="*/ 24 w 31"/>
                <a:gd name="T47" fmla="*/ 11 h 64"/>
                <a:gd name="T48" fmla="*/ 23 w 31"/>
                <a:gd name="T49" fmla="*/ 10 h 64"/>
                <a:gd name="T50" fmla="*/ 20 w 31"/>
                <a:gd name="T51" fmla="*/ 7 h 64"/>
                <a:gd name="T52" fmla="*/ 18 w 31"/>
                <a:gd name="T53" fmla="*/ 5 h 64"/>
                <a:gd name="T54" fmla="*/ 15 w 31"/>
                <a:gd name="T55" fmla="*/ 3 h 64"/>
                <a:gd name="T56" fmla="*/ 13 w 31"/>
                <a:gd name="T57" fmla="*/ 2 h 64"/>
                <a:gd name="T58" fmla="*/ 9 w 31"/>
                <a:gd name="T59" fmla="*/ 1 h 64"/>
                <a:gd name="T60" fmla="*/ 6 w 31"/>
                <a:gd name="T61" fmla="*/ 1 h 64"/>
                <a:gd name="T62" fmla="*/ 3 w 31"/>
                <a:gd name="T63" fmla="*/ 0 h 64"/>
                <a:gd name="T64" fmla="*/ 0 w 31"/>
                <a:gd name="T65" fmla="*/ 0 h 64"/>
                <a:gd name="T66" fmla="*/ 0 w 31"/>
                <a:gd name="T6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" h="64">
                  <a:moveTo>
                    <a:pt x="0" y="64"/>
                  </a:moveTo>
                  <a:lnTo>
                    <a:pt x="3" y="64"/>
                  </a:lnTo>
                  <a:lnTo>
                    <a:pt x="6" y="62"/>
                  </a:lnTo>
                  <a:lnTo>
                    <a:pt x="9" y="62"/>
                  </a:lnTo>
                  <a:lnTo>
                    <a:pt x="13" y="61"/>
                  </a:lnTo>
                  <a:lnTo>
                    <a:pt x="15" y="60"/>
                  </a:lnTo>
                  <a:lnTo>
                    <a:pt x="18" y="57"/>
                  </a:lnTo>
                  <a:lnTo>
                    <a:pt x="20" y="56"/>
                  </a:lnTo>
                  <a:lnTo>
                    <a:pt x="23" y="54"/>
                  </a:lnTo>
                  <a:lnTo>
                    <a:pt x="24" y="51"/>
                  </a:lnTo>
                  <a:lnTo>
                    <a:pt x="26" y="50"/>
                  </a:lnTo>
                  <a:lnTo>
                    <a:pt x="28" y="46"/>
                  </a:lnTo>
                  <a:lnTo>
                    <a:pt x="29" y="44"/>
                  </a:lnTo>
                  <a:lnTo>
                    <a:pt x="30" y="41"/>
                  </a:lnTo>
                  <a:lnTo>
                    <a:pt x="30" y="37"/>
                  </a:lnTo>
                  <a:lnTo>
                    <a:pt x="31" y="35"/>
                  </a:lnTo>
                  <a:lnTo>
                    <a:pt x="31" y="31"/>
                  </a:lnTo>
                  <a:lnTo>
                    <a:pt x="31" y="29"/>
                  </a:lnTo>
                  <a:lnTo>
                    <a:pt x="30" y="25"/>
                  </a:lnTo>
                  <a:lnTo>
                    <a:pt x="30" y="22"/>
                  </a:lnTo>
                  <a:lnTo>
                    <a:pt x="29" y="20"/>
                  </a:lnTo>
                  <a:lnTo>
                    <a:pt x="28" y="16"/>
                  </a:lnTo>
                  <a:lnTo>
                    <a:pt x="26" y="13"/>
                  </a:lnTo>
                  <a:lnTo>
                    <a:pt x="24" y="11"/>
                  </a:lnTo>
                  <a:lnTo>
                    <a:pt x="23" y="10"/>
                  </a:lnTo>
                  <a:lnTo>
                    <a:pt x="20" y="7"/>
                  </a:lnTo>
                  <a:lnTo>
                    <a:pt x="18" y="5"/>
                  </a:lnTo>
                  <a:lnTo>
                    <a:pt x="15" y="3"/>
                  </a:lnTo>
                  <a:lnTo>
                    <a:pt x="13" y="2"/>
                  </a:lnTo>
                  <a:lnTo>
                    <a:pt x="9" y="1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49" name="Oval 248"/>
          <p:cNvSpPr/>
          <p:nvPr/>
        </p:nvSpPr>
        <p:spPr>
          <a:xfrm>
            <a:off x="7452320" y="2250718"/>
            <a:ext cx="1296144" cy="1872208"/>
          </a:xfrm>
          <a:prstGeom prst="ellipse">
            <a:avLst/>
          </a:prstGeom>
          <a:noFill/>
          <a:ln w="38100">
            <a:solidFill>
              <a:srgbClr val="1EA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0" name="Textfeld 249"/>
          <p:cNvSpPr txBox="1"/>
          <p:nvPr/>
        </p:nvSpPr>
        <p:spPr>
          <a:xfrm>
            <a:off x="3016033" y="5045487"/>
            <a:ext cx="3172663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tabLst>
                <a:tab pos="627063" algn="l"/>
              </a:tabLst>
            </a:pPr>
            <a:r>
              <a:rPr lang="en-US" b="1" dirty="0">
                <a:solidFill>
                  <a:schemeClr val="bg1"/>
                </a:solidFill>
                <a:latin typeface="Arial"/>
                <a:cs typeface="Arial"/>
              </a:rPr>
              <a:t>Normalization to stressors!</a:t>
            </a:r>
            <a:endParaRPr lang="de-DE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180BB8A-4A45-2808-D34B-52038F095404}"/>
              </a:ext>
            </a:extLst>
          </p:cNvPr>
          <p:cNvSpPr txBox="1"/>
          <p:nvPr/>
        </p:nvSpPr>
        <p:spPr>
          <a:xfrm rot="16200000">
            <a:off x="-172047" y="3072808"/>
            <a:ext cx="13756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Mental </a:t>
            </a:r>
            <a:r>
              <a:rPr lang="de-DE" sz="1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</a:t>
            </a:r>
            <a:r>
              <a:rPr lang="de-DE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de-DE" sz="1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problems</a:t>
            </a:r>
            <a:endParaRPr lang="de-DE" sz="1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812138-A164-C18C-56E8-564ABF4793CA}"/>
              </a:ext>
            </a:extLst>
          </p:cNvPr>
          <p:cNvSpPr txBox="1"/>
          <p:nvPr/>
        </p:nvSpPr>
        <p:spPr>
          <a:xfrm>
            <a:off x="6034708" y="6277464"/>
            <a:ext cx="290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Nat Ment Health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, in press </a:t>
            </a:r>
          </a:p>
        </p:txBody>
      </p:sp>
    </p:spTree>
    <p:extLst>
      <p:ext uri="{BB962C8B-B14F-4D97-AF65-F5344CB8AC3E}">
        <p14:creationId xmlns:p14="http://schemas.microsoft.com/office/powerpoint/2010/main" val="834142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049CEC4-9C46-4F62-A4CA-6D2D012230C5}"/>
              </a:ext>
            </a:extLst>
          </p:cNvPr>
          <p:cNvSpPr/>
          <p:nvPr/>
        </p:nvSpPr>
        <p:spPr>
          <a:xfrm>
            <a:off x="970260" y="1883096"/>
            <a:ext cx="7408498" cy="8720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1: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unpredictability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2: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heterogeneity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878908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049CEC4-9C46-4F62-A4CA-6D2D012230C5}"/>
              </a:ext>
            </a:extLst>
          </p:cNvPr>
          <p:cNvSpPr/>
          <p:nvPr/>
        </p:nvSpPr>
        <p:spPr>
          <a:xfrm>
            <a:off x="970260" y="1883096"/>
            <a:ext cx="7408498" cy="154914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1: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unpredictability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2: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heterogeneity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3: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individuality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693881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049CEC4-9C46-4F62-A4CA-6D2D012230C5}"/>
              </a:ext>
            </a:extLst>
          </p:cNvPr>
          <p:cNvSpPr/>
          <p:nvPr/>
        </p:nvSpPr>
        <p:spPr>
          <a:xfrm>
            <a:off x="970260" y="1883096"/>
            <a:ext cx="7408498" cy="18774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1: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unpredictability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2: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heterogeneity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3: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individuality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4: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subjectivity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576920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What is resilience?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2285998" y="2332334"/>
            <a:ext cx="4572000" cy="1477328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“Except for the main idea of facing challenges, it is somewhat difficult to guess that all of those definitions concern the same subject.”</a:t>
            </a:r>
          </a:p>
          <a:p>
            <a:pPr algn="ctr"/>
            <a:r>
              <a:rPr lang="en-US" dirty="0">
                <a:latin typeface="Arial"/>
                <a:cs typeface="Arial"/>
              </a:rPr>
              <a:t> (M. </a:t>
            </a:r>
            <a:r>
              <a:rPr lang="en-US" dirty="0" err="1">
                <a:latin typeface="Arial"/>
                <a:cs typeface="Arial"/>
              </a:rPr>
              <a:t>Pecillo</a:t>
            </a:r>
            <a:r>
              <a:rPr lang="en-US" dirty="0">
                <a:latin typeface="Arial"/>
                <a:cs typeface="Arial"/>
              </a:rPr>
              <a:t>, 2016)</a:t>
            </a:r>
            <a:endParaRPr lang="de-DE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4328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What is resilience?</a:t>
            </a: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2285998" y="2332334"/>
            <a:ext cx="4572000" cy="1477328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 algn="ctr"/>
            <a:r>
              <a:rPr lang="en-US" dirty="0">
                <a:latin typeface="Arial"/>
                <a:cs typeface="Arial"/>
              </a:rPr>
              <a:t>“Except for the main idea of having to quantify challenges, it is somewhat difficult to guess how all of those aspects could be satisfactorily addressed.”</a:t>
            </a:r>
          </a:p>
          <a:p>
            <a:pPr algn="ctr"/>
            <a:r>
              <a:rPr lang="en-US" dirty="0">
                <a:latin typeface="Arial"/>
                <a:cs typeface="Arial"/>
              </a:rPr>
              <a:t> (R. Kalisch, 2023)</a:t>
            </a:r>
            <a:endParaRPr lang="de-DE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4056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049CEC4-9C46-4F62-A4CA-6D2D012230C5}"/>
              </a:ext>
            </a:extLst>
          </p:cNvPr>
          <p:cNvSpPr/>
          <p:nvPr/>
        </p:nvSpPr>
        <p:spPr>
          <a:xfrm>
            <a:off x="970260" y="1883096"/>
            <a:ext cx="7408498" cy="5437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Solution 1: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take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an at-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risk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population</a:t>
            </a:r>
            <a:endParaRPr lang="de-DE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1767F61-9238-426A-BFC4-6C8FD56ADD8F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</p:spTree>
    <p:extLst>
      <p:ext uri="{BB962C8B-B14F-4D97-AF65-F5344CB8AC3E}">
        <p14:creationId xmlns:p14="http://schemas.microsoft.com/office/powerpoint/2010/main" val="3723221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619066" y="2595535"/>
            <a:ext cx="7116417" cy="71561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40A03D82-AF4E-40C5-BADE-3EF4E2803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860" y="3051663"/>
            <a:ext cx="3387757" cy="713490"/>
          </a:xfrm>
          <a:prstGeom prst="rect">
            <a:avLst/>
          </a:prstGeom>
        </p:spPr>
      </p:pic>
      <p:sp>
        <p:nvSpPr>
          <p:cNvPr id="42" name="Textfeld 41">
            <a:extLst>
              <a:ext uri="{FF2B5EF4-FFF2-40B4-BE49-F238E27FC236}">
                <a16:creationId xmlns:a16="http://schemas.microsoft.com/office/drawing/2014/main" id="{EB9C97EC-9B4A-4486-972D-B8EA5BE048AA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</p:spTree>
    <p:extLst>
      <p:ext uri="{BB962C8B-B14F-4D97-AF65-F5344CB8AC3E}">
        <p14:creationId xmlns:p14="http://schemas.microsoft.com/office/powerpoint/2010/main" val="2128854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049CEC4-9C46-4F62-A4CA-6D2D012230C5}"/>
              </a:ext>
            </a:extLst>
          </p:cNvPr>
          <p:cNvSpPr/>
          <p:nvPr/>
        </p:nvSpPr>
        <p:spPr>
          <a:xfrm>
            <a:off x="970260" y="1883096"/>
            <a:ext cx="7408498" cy="8720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Solution 1: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take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an at-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risk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population</a:t>
            </a:r>
            <a:endParaRPr lang="de-DE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Solution 2: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frequently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monitor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stressors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and mental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health</a:t>
            </a:r>
            <a:endParaRPr lang="de-DE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878DEF4-8D28-42CC-8CE2-43B9B0C6BEBA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</p:spTree>
    <p:extLst>
      <p:ext uri="{BB962C8B-B14F-4D97-AF65-F5344CB8AC3E}">
        <p14:creationId xmlns:p14="http://schemas.microsoft.com/office/powerpoint/2010/main" val="88301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1143394" y="1654308"/>
            <a:ext cx="6503031" cy="1993657"/>
            <a:chOff x="1260850" y="2481794"/>
            <a:chExt cx="6503031" cy="1993657"/>
          </a:xfrm>
        </p:grpSpPr>
        <p:pic>
          <p:nvPicPr>
            <p:cNvPr id="121" name="Grafik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9696" y="2507515"/>
              <a:ext cx="6296729" cy="1866689"/>
            </a:xfrm>
            <a:prstGeom prst="rect">
              <a:avLst/>
            </a:prstGeom>
          </p:spPr>
        </p:pic>
        <p:sp>
          <p:nvSpPr>
            <p:cNvPr id="6" name="Textfeld 5"/>
            <p:cNvSpPr txBox="1"/>
            <p:nvPr/>
          </p:nvSpPr>
          <p:spPr>
            <a:xfrm flipH="1">
              <a:off x="2446148" y="2481794"/>
              <a:ext cx="360620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Online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stressor</a:t>
              </a:r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&amp; mental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health</a:t>
              </a:r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monitoring</a:t>
              </a:r>
              <a:endParaRPr lang="en-US" sz="1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1260850" y="3947257"/>
              <a:ext cx="6503031" cy="528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en-US" u="sng" dirty="0" err="1">
                <a:latin typeface="Arial"/>
                <a:cs typeface="Arial"/>
              </a:endParaRPr>
            </a:p>
          </p:txBody>
        </p:sp>
        <p:grpSp>
          <p:nvGrpSpPr>
            <p:cNvPr id="15" name="Gruppieren 14"/>
            <p:cNvGrpSpPr/>
            <p:nvPr/>
          </p:nvGrpSpPr>
          <p:grpSpPr>
            <a:xfrm>
              <a:off x="1499388" y="3444674"/>
              <a:ext cx="1169978" cy="485543"/>
              <a:chOff x="1499388" y="3444674"/>
              <a:chExt cx="1169978" cy="485543"/>
            </a:xfrm>
          </p:grpSpPr>
          <p:sp>
            <p:nvSpPr>
              <p:cNvPr id="11" name="Ellipse 10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14" name="Gruppieren 13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8" name="Ellipse 7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12" name="Textfeld 11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4" name="Gruppieren 23"/>
            <p:cNvGrpSpPr/>
            <p:nvPr/>
          </p:nvGrpSpPr>
          <p:grpSpPr>
            <a:xfrm>
              <a:off x="3060514" y="3443508"/>
              <a:ext cx="1169978" cy="485543"/>
              <a:chOff x="1499388" y="3444674"/>
              <a:chExt cx="1169978" cy="485543"/>
            </a:xfrm>
          </p:grpSpPr>
          <p:sp>
            <p:nvSpPr>
              <p:cNvPr id="25" name="Ellipse 24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26" name="Gruppieren 25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27" name="Ellipse 26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28" name="Textfeld 27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9" name="Gruppieren 28"/>
            <p:cNvGrpSpPr/>
            <p:nvPr/>
          </p:nvGrpSpPr>
          <p:grpSpPr>
            <a:xfrm>
              <a:off x="4621640" y="3455325"/>
              <a:ext cx="1169978" cy="485543"/>
              <a:chOff x="1499388" y="3444674"/>
              <a:chExt cx="1169978" cy="485543"/>
            </a:xfrm>
          </p:grpSpPr>
          <p:sp>
            <p:nvSpPr>
              <p:cNvPr id="30" name="Ellipse 29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31" name="Gruppieren 30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32" name="Ellipse 31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33" name="Textfeld 32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4" name="Gruppieren 33"/>
            <p:cNvGrpSpPr/>
            <p:nvPr/>
          </p:nvGrpSpPr>
          <p:grpSpPr>
            <a:xfrm>
              <a:off x="6182766" y="3455325"/>
              <a:ext cx="1169978" cy="485543"/>
              <a:chOff x="1499388" y="3444674"/>
              <a:chExt cx="1169978" cy="485543"/>
            </a:xfrm>
          </p:grpSpPr>
          <p:sp>
            <p:nvSpPr>
              <p:cNvPr id="35" name="Ellipse 34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36" name="Gruppieren 35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37" name="Ellipse 36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38" name="Textfeld 37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730619" y="4566320"/>
            <a:ext cx="954156" cy="374848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619066" y="2595535"/>
            <a:ext cx="7116417" cy="71561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pic>
        <p:nvPicPr>
          <p:cNvPr id="39" name="Grafik 3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0" t="-21642" r="-4470" b="35150"/>
          <a:stretch/>
        </p:blipFill>
        <p:spPr bwMode="auto">
          <a:xfrm>
            <a:off x="1225389" y="188519"/>
            <a:ext cx="7299545" cy="35506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0A03D82-AF4E-40C5-BADE-3EF4E2803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60" y="3051663"/>
            <a:ext cx="3387757" cy="713490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30E326CD-D955-478B-ABCF-2C82ACBEAE68}"/>
              </a:ext>
            </a:extLst>
          </p:cNvPr>
          <p:cNvSpPr/>
          <p:nvPr/>
        </p:nvSpPr>
        <p:spPr>
          <a:xfrm>
            <a:off x="1143394" y="2785163"/>
            <a:ext cx="7116417" cy="281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9E6BB60-A204-4A79-93AF-9D77C935DB0E}"/>
              </a:ext>
            </a:extLst>
          </p:cNvPr>
          <p:cNvSpPr/>
          <p:nvPr/>
        </p:nvSpPr>
        <p:spPr>
          <a:xfrm>
            <a:off x="1295795" y="2969988"/>
            <a:ext cx="3276206" cy="1225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7CF46041-FE70-42CD-8C76-CF72804629AE}"/>
              </a:ext>
            </a:extLst>
          </p:cNvPr>
          <p:cNvSpPr/>
          <p:nvPr/>
        </p:nvSpPr>
        <p:spPr>
          <a:xfrm>
            <a:off x="1448195" y="3122388"/>
            <a:ext cx="3156598" cy="1225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85E955E-C2FF-4E45-9478-DA6A223C7DF9}"/>
              </a:ext>
            </a:extLst>
          </p:cNvPr>
          <p:cNvSpPr/>
          <p:nvPr/>
        </p:nvSpPr>
        <p:spPr>
          <a:xfrm>
            <a:off x="4570636" y="2984219"/>
            <a:ext cx="383986" cy="23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CA6DDA4-FC87-4069-8BB3-2663C8F8242F}"/>
              </a:ext>
            </a:extLst>
          </p:cNvPr>
          <p:cNvSpPr/>
          <p:nvPr/>
        </p:nvSpPr>
        <p:spPr>
          <a:xfrm>
            <a:off x="151881" y="725100"/>
            <a:ext cx="88375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b="1" i="1" dirty="0">
                <a:solidFill>
                  <a:prstClr val="black"/>
                </a:solidFill>
                <a:latin typeface="Arial"/>
                <a:cs typeface="Arial"/>
              </a:rPr>
              <a:t>Frequent Stressor and Health Monitoring paradigm (FRESHMO)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DE185121-96A4-4643-9BEB-C0F7FDC65F75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2414D82-BDA4-48DF-A03C-15401C7CDF77}"/>
              </a:ext>
            </a:extLst>
          </p:cNvPr>
          <p:cNvSpPr/>
          <p:nvPr/>
        </p:nvSpPr>
        <p:spPr>
          <a:xfrm>
            <a:off x="2556326" y="1426671"/>
            <a:ext cx="854839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2912438-559D-4E84-8CB9-E8E13B5D6CB0}"/>
              </a:ext>
            </a:extLst>
          </p:cNvPr>
          <p:cNvSpPr txBox="1"/>
          <p:nvPr/>
        </p:nvSpPr>
        <p:spPr>
          <a:xfrm>
            <a:off x="2487019" y="1376998"/>
            <a:ext cx="350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280971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1143394" y="1654308"/>
            <a:ext cx="6503031" cy="1993657"/>
            <a:chOff x="1260850" y="2481794"/>
            <a:chExt cx="6503031" cy="1993657"/>
          </a:xfrm>
        </p:grpSpPr>
        <p:pic>
          <p:nvPicPr>
            <p:cNvPr id="121" name="Grafik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9696" y="2507515"/>
              <a:ext cx="6296729" cy="1866689"/>
            </a:xfrm>
            <a:prstGeom prst="rect">
              <a:avLst/>
            </a:prstGeom>
          </p:spPr>
        </p:pic>
        <p:sp>
          <p:nvSpPr>
            <p:cNvPr id="6" name="Textfeld 5"/>
            <p:cNvSpPr txBox="1"/>
            <p:nvPr/>
          </p:nvSpPr>
          <p:spPr>
            <a:xfrm flipH="1">
              <a:off x="2446148" y="2481794"/>
              <a:ext cx="360620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Online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stressor</a:t>
              </a:r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&amp; mental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health</a:t>
              </a:r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monitoring</a:t>
              </a:r>
              <a:endParaRPr lang="en-US" sz="1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1260850" y="3947257"/>
              <a:ext cx="6503031" cy="528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en-US" u="sng" dirty="0" err="1">
                <a:latin typeface="Arial"/>
                <a:cs typeface="Arial"/>
              </a:endParaRPr>
            </a:p>
          </p:txBody>
        </p:sp>
        <p:grpSp>
          <p:nvGrpSpPr>
            <p:cNvPr id="15" name="Gruppieren 14"/>
            <p:cNvGrpSpPr/>
            <p:nvPr/>
          </p:nvGrpSpPr>
          <p:grpSpPr>
            <a:xfrm>
              <a:off x="1499388" y="3444674"/>
              <a:ext cx="1169978" cy="485543"/>
              <a:chOff x="1499388" y="3444674"/>
              <a:chExt cx="1169978" cy="485543"/>
            </a:xfrm>
          </p:grpSpPr>
          <p:sp>
            <p:nvSpPr>
              <p:cNvPr id="11" name="Ellipse 10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14" name="Gruppieren 13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8" name="Ellipse 7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12" name="Textfeld 11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4" name="Gruppieren 23"/>
            <p:cNvGrpSpPr/>
            <p:nvPr/>
          </p:nvGrpSpPr>
          <p:grpSpPr>
            <a:xfrm>
              <a:off x="3060514" y="3443508"/>
              <a:ext cx="1169978" cy="485543"/>
              <a:chOff x="1499388" y="3444674"/>
              <a:chExt cx="1169978" cy="485543"/>
            </a:xfrm>
          </p:grpSpPr>
          <p:sp>
            <p:nvSpPr>
              <p:cNvPr id="25" name="Ellipse 24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26" name="Gruppieren 25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27" name="Ellipse 26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28" name="Textfeld 27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9" name="Gruppieren 28"/>
            <p:cNvGrpSpPr/>
            <p:nvPr/>
          </p:nvGrpSpPr>
          <p:grpSpPr>
            <a:xfrm>
              <a:off x="4621640" y="3455325"/>
              <a:ext cx="1169978" cy="485543"/>
              <a:chOff x="1499388" y="3444674"/>
              <a:chExt cx="1169978" cy="485543"/>
            </a:xfrm>
          </p:grpSpPr>
          <p:sp>
            <p:nvSpPr>
              <p:cNvPr id="30" name="Ellipse 29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31" name="Gruppieren 30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32" name="Ellipse 31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33" name="Textfeld 32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4" name="Gruppieren 33"/>
            <p:cNvGrpSpPr/>
            <p:nvPr/>
          </p:nvGrpSpPr>
          <p:grpSpPr>
            <a:xfrm>
              <a:off x="6182766" y="3455325"/>
              <a:ext cx="1169978" cy="485543"/>
              <a:chOff x="1499388" y="3444674"/>
              <a:chExt cx="1169978" cy="485543"/>
            </a:xfrm>
          </p:grpSpPr>
          <p:sp>
            <p:nvSpPr>
              <p:cNvPr id="35" name="Ellipse 34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36" name="Gruppieren 35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37" name="Ellipse 36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38" name="Textfeld 37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730619" y="4566320"/>
            <a:ext cx="954156" cy="374848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619066" y="2595535"/>
            <a:ext cx="7116417" cy="71561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pic>
        <p:nvPicPr>
          <p:cNvPr id="39" name="Grafik 3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0" t="-21642" r="-4470" b="35150"/>
          <a:stretch/>
        </p:blipFill>
        <p:spPr bwMode="auto">
          <a:xfrm>
            <a:off x="1225389" y="188519"/>
            <a:ext cx="7299545" cy="35506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0A03D82-AF4E-40C5-BADE-3EF4E2803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60" y="3051663"/>
            <a:ext cx="3387757" cy="713490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30E326CD-D955-478B-ABCF-2C82ACBEAE68}"/>
              </a:ext>
            </a:extLst>
          </p:cNvPr>
          <p:cNvSpPr/>
          <p:nvPr/>
        </p:nvSpPr>
        <p:spPr>
          <a:xfrm>
            <a:off x="1143394" y="2785163"/>
            <a:ext cx="7116417" cy="281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9E6BB60-A204-4A79-93AF-9D77C935DB0E}"/>
              </a:ext>
            </a:extLst>
          </p:cNvPr>
          <p:cNvSpPr/>
          <p:nvPr/>
        </p:nvSpPr>
        <p:spPr>
          <a:xfrm>
            <a:off x="1295795" y="2969988"/>
            <a:ext cx="3276206" cy="1225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7CF46041-FE70-42CD-8C76-CF72804629AE}"/>
              </a:ext>
            </a:extLst>
          </p:cNvPr>
          <p:cNvSpPr/>
          <p:nvPr/>
        </p:nvSpPr>
        <p:spPr>
          <a:xfrm>
            <a:off x="1448195" y="3122388"/>
            <a:ext cx="3156598" cy="1225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85E955E-C2FF-4E45-9478-DA6A223C7DF9}"/>
              </a:ext>
            </a:extLst>
          </p:cNvPr>
          <p:cNvSpPr/>
          <p:nvPr/>
        </p:nvSpPr>
        <p:spPr>
          <a:xfrm>
            <a:off x="4570636" y="2984219"/>
            <a:ext cx="383986" cy="23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CA6DDA4-FC87-4069-8BB3-2663C8F8242F}"/>
              </a:ext>
            </a:extLst>
          </p:cNvPr>
          <p:cNvSpPr/>
          <p:nvPr/>
        </p:nvSpPr>
        <p:spPr>
          <a:xfrm>
            <a:off x="151881" y="725100"/>
            <a:ext cx="88375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b="1" i="1" dirty="0">
                <a:solidFill>
                  <a:prstClr val="black"/>
                </a:solidFill>
                <a:latin typeface="Arial"/>
                <a:cs typeface="Arial"/>
              </a:rPr>
              <a:t>Frequent Stressor and Health Monitoring paradigm (FRESHMO)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DE185121-96A4-4643-9BEB-C0F7FDC65F75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2414D82-BDA4-48DF-A03C-15401C7CDF77}"/>
              </a:ext>
            </a:extLst>
          </p:cNvPr>
          <p:cNvSpPr/>
          <p:nvPr/>
        </p:nvSpPr>
        <p:spPr>
          <a:xfrm>
            <a:off x="2556326" y="1426671"/>
            <a:ext cx="854839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D3E9332B-1E12-448A-ADC1-B6E12E1D7497}"/>
              </a:ext>
            </a:extLst>
          </p:cNvPr>
          <p:cNvSpPr/>
          <p:nvPr/>
        </p:nvSpPr>
        <p:spPr>
          <a:xfrm>
            <a:off x="1191737" y="4128951"/>
            <a:ext cx="6137593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>
              <a:tabLst>
                <a:tab pos="1971675" algn="l"/>
              </a:tabLst>
            </a:pPr>
            <a:r>
              <a:rPr lang="en-GB" i="1" dirty="0">
                <a:solidFill>
                  <a:prstClr val="black"/>
                </a:solidFill>
                <a:latin typeface="Arial"/>
                <a:cs typeface="Arial"/>
              </a:rPr>
              <a:t>Stressors (E)</a:t>
            </a:r>
            <a:r>
              <a:rPr lang="de-DE" i="1" dirty="0">
                <a:latin typeface="Arial"/>
                <a:cs typeface="Arial"/>
              </a:rPr>
              <a:t>:</a:t>
            </a:r>
            <a:r>
              <a:rPr lang="de-DE" dirty="0">
                <a:latin typeface="Arial"/>
                <a:cs typeface="Arial"/>
              </a:rPr>
              <a:t> 	</a:t>
            </a:r>
            <a:r>
              <a:rPr lang="en-GB" b="1" dirty="0">
                <a:solidFill>
                  <a:prstClr val="black"/>
                </a:solidFill>
                <a:latin typeface="Arial"/>
                <a:cs typeface="Arial"/>
              </a:rPr>
              <a:t>Life Events (LE) list</a:t>
            </a:r>
          </a:p>
          <a:p>
            <a:pPr hangingPunct="0">
              <a:tabLst>
                <a:tab pos="1971675" algn="l"/>
              </a:tabLst>
            </a:pPr>
            <a:r>
              <a:rPr lang="en-GB" dirty="0">
                <a:solidFill>
                  <a:prstClr val="black"/>
                </a:solidFill>
                <a:latin typeface="Arial"/>
                <a:cs typeface="Arial"/>
              </a:rPr>
              <a:t>	- 27 items</a:t>
            </a:r>
          </a:p>
          <a:p>
            <a:pPr hangingPunct="0">
              <a:tabLst>
                <a:tab pos="1971675" algn="l"/>
              </a:tabLst>
            </a:pPr>
            <a:r>
              <a:rPr lang="en-GB" dirty="0">
                <a:solidFill>
                  <a:prstClr val="black"/>
                </a:solidFill>
                <a:latin typeface="Arial"/>
                <a:cs typeface="Arial"/>
              </a:rPr>
              <a:t>	- occurrence in past 3 months?</a:t>
            </a:r>
          </a:p>
          <a:p>
            <a:pPr hangingPunct="0">
              <a:tabLst>
                <a:tab pos="1971675" algn="l"/>
              </a:tabLst>
            </a:pPr>
            <a:r>
              <a:rPr lang="en-GB" dirty="0">
                <a:solidFill>
                  <a:prstClr val="black"/>
                </a:solidFill>
                <a:latin typeface="Arial"/>
                <a:cs typeface="Arial"/>
              </a:rPr>
              <a:t>	- how many times?</a:t>
            </a:r>
          </a:p>
          <a:p>
            <a:pPr hangingPunct="0">
              <a:tabLst>
                <a:tab pos="1971675" algn="l"/>
              </a:tabLst>
            </a:pPr>
            <a:r>
              <a:rPr lang="en-GB" dirty="0">
                <a:solidFill>
                  <a:prstClr val="black"/>
                </a:solidFill>
                <a:latin typeface="Arial"/>
                <a:cs typeface="Arial"/>
              </a:rPr>
              <a:t>	- severity (appraisal)?</a:t>
            </a:r>
          </a:p>
          <a:p>
            <a:pPr hangingPunct="0">
              <a:tabLst>
                <a:tab pos="1971675" algn="l"/>
              </a:tabLst>
            </a:pPr>
            <a:endParaRPr lang="en-GB" b="1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>
              <a:tabLst>
                <a:tab pos="1971675" algn="l"/>
              </a:tabLst>
            </a:pPr>
            <a:r>
              <a:rPr lang="en-GB" b="1" dirty="0">
                <a:solidFill>
                  <a:prstClr val="black"/>
                </a:solidFill>
                <a:latin typeface="Arial"/>
                <a:cs typeface="Arial"/>
              </a:rPr>
              <a:t>                 	</a:t>
            </a:r>
          </a:p>
          <a:p>
            <a:pPr hangingPunct="0">
              <a:tabLst>
                <a:tab pos="1971675" algn="l"/>
              </a:tabLst>
            </a:pPr>
            <a:endParaRPr lang="en-GB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FDEED7C-1132-42B7-A1D6-55DF07BAD3AB}"/>
              </a:ext>
            </a:extLst>
          </p:cNvPr>
          <p:cNvSpPr txBox="1"/>
          <p:nvPr/>
        </p:nvSpPr>
        <p:spPr>
          <a:xfrm>
            <a:off x="2487019" y="1376998"/>
            <a:ext cx="350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21401496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1143394" y="1654308"/>
            <a:ext cx="6503031" cy="1993657"/>
            <a:chOff x="1260850" y="2481794"/>
            <a:chExt cx="6503031" cy="1993657"/>
          </a:xfrm>
        </p:grpSpPr>
        <p:pic>
          <p:nvPicPr>
            <p:cNvPr id="121" name="Grafik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9696" y="2507515"/>
              <a:ext cx="6296729" cy="1866689"/>
            </a:xfrm>
            <a:prstGeom prst="rect">
              <a:avLst/>
            </a:prstGeom>
          </p:spPr>
        </p:pic>
        <p:sp>
          <p:nvSpPr>
            <p:cNvPr id="6" name="Textfeld 5"/>
            <p:cNvSpPr txBox="1"/>
            <p:nvPr/>
          </p:nvSpPr>
          <p:spPr>
            <a:xfrm flipH="1">
              <a:off x="2446148" y="2481794"/>
              <a:ext cx="360620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Online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stressor</a:t>
              </a:r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&amp; mental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health</a:t>
              </a:r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monitoring</a:t>
              </a:r>
              <a:endParaRPr lang="en-US" sz="1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1260850" y="3947257"/>
              <a:ext cx="6503031" cy="528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en-US" u="sng" dirty="0" err="1">
                <a:latin typeface="Arial"/>
                <a:cs typeface="Arial"/>
              </a:endParaRPr>
            </a:p>
          </p:txBody>
        </p:sp>
        <p:grpSp>
          <p:nvGrpSpPr>
            <p:cNvPr id="15" name="Gruppieren 14"/>
            <p:cNvGrpSpPr/>
            <p:nvPr/>
          </p:nvGrpSpPr>
          <p:grpSpPr>
            <a:xfrm>
              <a:off x="1499388" y="3444674"/>
              <a:ext cx="1169978" cy="485543"/>
              <a:chOff x="1499388" y="3444674"/>
              <a:chExt cx="1169978" cy="485543"/>
            </a:xfrm>
          </p:grpSpPr>
          <p:sp>
            <p:nvSpPr>
              <p:cNvPr id="11" name="Ellipse 10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14" name="Gruppieren 13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8" name="Ellipse 7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12" name="Textfeld 11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4" name="Gruppieren 23"/>
            <p:cNvGrpSpPr/>
            <p:nvPr/>
          </p:nvGrpSpPr>
          <p:grpSpPr>
            <a:xfrm>
              <a:off x="3060514" y="3443508"/>
              <a:ext cx="1169978" cy="485543"/>
              <a:chOff x="1499388" y="3444674"/>
              <a:chExt cx="1169978" cy="485543"/>
            </a:xfrm>
          </p:grpSpPr>
          <p:sp>
            <p:nvSpPr>
              <p:cNvPr id="25" name="Ellipse 24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26" name="Gruppieren 25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27" name="Ellipse 26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28" name="Textfeld 27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9" name="Gruppieren 28"/>
            <p:cNvGrpSpPr/>
            <p:nvPr/>
          </p:nvGrpSpPr>
          <p:grpSpPr>
            <a:xfrm>
              <a:off x="4621640" y="3455325"/>
              <a:ext cx="1169978" cy="485543"/>
              <a:chOff x="1499388" y="3444674"/>
              <a:chExt cx="1169978" cy="485543"/>
            </a:xfrm>
          </p:grpSpPr>
          <p:sp>
            <p:nvSpPr>
              <p:cNvPr id="30" name="Ellipse 29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31" name="Gruppieren 30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32" name="Ellipse 31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33" name="Textfeld 32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4" name="Gruppieren 33"/>
            <p:cNvGrpSpPr/>
            <p:nvPr/>
          </p:nvGrpSpPr>
          <p:grpSpPr>
            <a:xfrm>
              <a:off x="6182766" y="3455325"/>
              <a:ext cx="1169978" cy="485543"/>
              <a:chOff x="1499388" y="3444674"/>
              <a:chExt cx="1169978" cy="485543"/>
            </a:xfrm>
          </p:grpSpPr>
          <p:sp>
            <p:nvSpPr>
              <p:cNvPr id="35" name="Ellipse 34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36" name="Gruppieren 35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37" name="Ellipse 36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38" name="Textfeld 37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730619" y="4566320"/>
            <a:ext cx="954156" cy="374848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619066" y="2595535"/>
            <a:ext cx="7116417" cy="71561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pic>
        <p:nvPicPr>
          <p:cNvPr id="39" name="Grafik 3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0" t="-21642" r="-4470" b="35150"/>
          <a:stretch/>
        </p:blipFill>
        <p:spPr bwMode="auto">
          <a:xfrm>
            <a:off x="1225389" y="188519"/>
            <a:ext cx="7299545" cy="35506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0A03D82-AF4E-40C5-BADE-3EF4E2803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60" y="3051663"/>
            <a:ext cx="3387757" cy="713490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30E326CD-D955-478B-ABCF-2C82ACBEAE68}"/>
              </a:ext>
            </a:extLst>
          </p:cNvPr>
          <p:cNvSpPr/>
          <p:nvPr/>
        </p:nvSpPr>
        <p:spPr>
          <a:xfrm>
            <a:off x="1143394" y="2785163"/>
            <a:ext cx="7116417" cy="281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9E6BB60-A204-4A79-93AF-9D77C935DB0E}"/>
              </a:ext>
            </a:extLst>
          </p:cNvPr>
          <p:cNvSpPr/>
          <p:nvPr/>
        </p:nvSpPr>
        <p:spPr>
          <a:xfrm>
            <a:off x="1295795" y="2969988"/>
            <a:ext cx="3276206" cy="1225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7CF46041-FE70-42CD-8C76-CF72804629AE}"/>
              </a:ext>
            </a:extLst>
          </p:cNvPr>
          <p:cNvSpPr/>
          <p:nvPr/>
        </p:nvSpPr>
        <p:spPr>
          <a:xfrm>
            <a:off x="1448195" y="3122388"/>
            <a:ext cx="3156598" cy="1225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85E955E-C2FF-4E45-9478-DA6A223C7DF9}"/>
              </a:ext>
            </a:extLst>
          </p:cNvPr>
          <p:cNvSpPr/>
          <p:nvPr/>
        </p:nvSpPr>
        <p:spPr>
          <a:xfrm>
            <a:off x="4570636" y="2984219"/>
            <a:ext cx="383986" cy="23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CA6DDA4-FC87-4069-8BB3-2663C8F8242F}"/>
              </a:ext>
            </a:extLst>
          </p:cNvPr>
          <p:cNvSpPr/>
          <p:nvPr/>
        </p:nvSpPr>
        <p:spPr>
          <a:xfrm>
            <a:off x="151881" y="725100"/>
            <a:ext cx="88375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b="1" i="1" dirty="0">
                <a:solidFill>
                  <a:prstClr val="black"/>
                </a:solidFill>
                <a:latin typeface="Arial"/>
                <a:cs typeface="Arial"/>
              </a:rPr>
              <a:t>Frequent Stressor and Health Monitoring paradigm (FRESHMO)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DE185121-96A4-4643-9BEB-C0F7FDC65F75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2414D82-BDA4-48DF-A03C-15401C7CDF77}"/>
              </a:ext>
            </a:extLst>
          </p:cNvPr>
          <p:cNvSpPr/>
          <p:nvPr/>
        </p:nvSpPr>
        <p:spPr>
          <a:xfrm>
            <a:off x="2556326" y="1426671"/>
            <a:ext cx="854839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D3E9332B-1E12-448A-ADC1-B6E12E1D7497}"/>
              </a:ext>
            </a:extLst>
          </p:cNvPr>
          <p:cNvSpPr/>
          <p:nvPr/>
        </p:nvSpPr>
        <p:spPr>
          <a:xfrm>
            <a:off x="1191737" y="4128951"/>
            <a:ext cx="6137593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>
              <a:tabLst>
                <a:tab pos="1971675" algn="l"/>
              </a:tabLst>
            </a:pPr>
            <a:r>
              <a:rPr lang="en-GB" i="1" dirty="0">
                <a:solidFill>
                  <a:prstClr val="black"/>
                </a:solidFill>
                <a:latin typeface="Arial"/>
                <a:cs typeface="Arial"/>
              </a:rPr>
              <a:t>Stressors (E)</a:t>
            </a:r>
            <a:r>
              <a:rPr lang="de-DE" i="1" dirty="0">
                <a:latin typeface="Arial"/>
                <a:cs typeface="Arial"/>
              </a:rPr>
              <a:t>:</a:t>
            </a:r>
            <a:r>
              <a:rPr lang="de-DE" dirty="0">
                <a:latin typeface="Arial"/>
                <a:cs typeface="Arial"/>
              </a:rPr>
              <a:t> 	</a:t>
            </a:r>
            <a:r>
              <a:rPr lang="en-GB" b="1" dirty="0">
                <a:solidFill>
                  <a:prstClr val="black"/>
                </a:solidFill>
                <a:latin typeface="Arial"/>
                <a:cs typeface="Arial"/>
              </a:rPr>
              <a:t>Life Events (LE) list</a:t>
            </a:r>
          </a:p>
          <a:p>
            <a:pPr hangingPunct="0">
              <a:tabLst>
                <a:tab pos="1971675" algn="l"/>
              </a:tabLst>
            </a:pPr>
            <a:r>
              <a:rPr lang="en-GB" b="1" dirty="0">
                <a:solidFill>
                  <a:prstClr val="black"/>
                </a:solidFill>
                <a:latin typeface="Arial"/>
                <a:cs typeface="Arial"/>
              </a:rPr>
              <a:t>                 	Daily Hassles (DH) list</a:t>
            </a:r>
          </a:p>
          <a:p>
            <a:pPr hangingPunct="0">
              <a:tabLst>
                <a:tab pos="1971675" algn="l"/>
              </a:tabLst>
            </a:pPr>
            <a:r>
              <a:rPr lang="en-GB" dirty="0">
                <a:solidFill>
                  <a:prstClr val="black"/>
                </a:solidFill>
                <a:latin typeface="Arial"/>
                <a:cs typeface="Arial"/>
              </a:rPr>
              <a:t>	- 58 items</a:t>
            </a:r>
          </a:p>
          <a:p>
            <a:pPr hangingPunct="0">
              <a:tabLst>
                <a:tab pos="1971675" algn="l"/>
              </a:tabLst>
            </a:pPr>
            <a:r>
              <a:rPr lang="en-GB" dirty="0">
                <a:solidFill>
                  <a:prstClr val="black"/>
                </a:solidFill>
                <a:latin typeface="Arial"/>
                <a:cs typeface="Arial"/>
              </a:rPr>
              <a:t>	- occurrence in past week?</a:t>
            </a:r>
          </a:p>
          <a:p>
            <a:pPr hangingPunct="0">
              <a:tabLst>
                <a:tab pos="1971675" algn="l"/>
              </a:tabLst>
            </a:pPr>
            <a:r>
              <a:rPr lang="en-GB" dirty="0">
                <a:solidFill>
                  <a:prstClr val="black"/>
                </a:solidFill>
                <a:latin typeface="Arial"/>
                <a:cs typeface="Arial"/>
              </a:rPr>
              <a:t>	- how many days?</a:t>
            </a:r>
          </a:p>
          <a:p>
            <a:pPr hangingPunct="0">
              <a:tabLst>
                <a:tab pos="1971675" algn="l"/>
              </a:tabLst>
            </a:pPr>
            <a:r>
              <a:rPr lang="en-GB" dirty="0">
                <a:solidFill>
                  <a:prstClr val="black"/>
                </a:solidFill>
                <a:latin typeface="Arial"/>
                <a:cs typeface="Arial"/>
              </a:rPr>
              <a:t>	- severity (appraisal)?</a:t>
            </a:r>
          </a:p>
          <a:p>
            <a:pPr hangingPunct="0">
              <a:tabLst>
                <a:tab pos="1971675" algn="l"/>
              </a:tabLst>
            </a:pPr>
            <a:endParaRPr lang="en-GB" b="1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>
              <a:tabLst>
                <a:tab pos="1971675" algn="l"/>
              </a:tabLst>
            </a:pPr>
            <a:endParaRPr lang="en-GB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FDEED7C-1132-42B7-A1D6-55DF07BAD3AB}"/>
              </a:ext>
            </a:extLst>
          </p:cNvPr>
          <p:cNvSpPr txBox="1"/>
          <p:nvPr/>
        </p:nvSpPr>
        <p:spPr>
          <a:xfrm>
            <a:off x="2487019" y="1376998"/>
            <a:ext cx="350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2383920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/>
        </p:nvGrpSpPr>
        <p:grpSpPr>
          <a:xfrm>
            <a:off x="1143394" y="1654308"/>
            <a:ext cx="6503031" cy="1993657"/>
            <a:chOff x="1260850" y="2481794"/>
            <a:chExt cx="6503031" cy="1993657"/>
          </a:xfrm>
        </p:grpSpPr>
        <p:pic>
          <p:nvPicPr>
            <p:cNvPr id="121" name="Grafik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9696" y="2507515"/>
              <a:ext cx="6296729" cy="1866689"/>
            </a:xfrm>
            <a:prstGeom prst="rect">
              <a:avLst/>
            </a:prstGeom>
          </p:spPr>
        </p:pic>
        <p:sp>
          <p:nvSpPr>
            <p:cNvPr id="6" name="Textfeld 5"/>
            <p:cNvSpPr txBox="1"/>
            <p:nvPr/>
          </p:nvSpPr>
          <p:spPr>
            <a:xfrm flipH="1">
              <a:off x="2446148" y="2481794"/>
              <a:ext cx="360620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Online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stressor</a:t>
              </a:r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&amp; mental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health</a:t>
              </a:r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monitoring</a:t>
              </a:r>
              <a:endParaRPr lang="en-US" sz="1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1260850" y="3947257"/>
              <a:ext cx="6503031" cy="528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en-US" u="sng" dirty="0" err="1">
                <a:latin typeface="Arial"/>
                <a:cs typeface="Arial"/>
              </a:endParaRPr>
            </a:p>
          </p:txBody>
        </p:sp>
        <p:grpSp>
          <p:nvGrpSpPr>
            <p:cNvPr id="15" name="Gruppieren 14"/>
            <p:cNvGrpSpPr/>
            <p:nvPr/>
          </p:nvGrpSpPr>
          <p:grpSpPr>
            <a:xfrm>
              <a:off x="1499388" y="3444674"/>
              <a:ext cx="1169978" cy="485543"/>
              <a:chOff x="1499388" y="3444674"/>
              <a:chExt cx="1169978" cy="485543"/>
            </a:xfrm>
          </p:grpSpPr>
          <p:sp>
            <p:nvSpPr>
              <p:cNvPr id="11" name="Ellipse 10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14" name="Gruppieren 13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8" name="Ellipse 7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12" name="Textfeld 11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4" name="Gruppieren 23"/>
            <p:cNvGrpSpPr/>
            <p:nvPr/>
          </p:nvGrpSpPr>
          <p:grpSpPr>
            <a:xfrm>
              <a:off x="3060514" y="3443508"/>
              <a:ext cx="1169978" cy="485543"/>
              <a:chOff x="1499388" y="3444674"/>
              <a:chExt cx="1169978" cy="485543"/>
            </a:xfrm>
          </p:grpSpPr>
          <p:sp>
            <p:nvSpPr>
              <p:cNvPr id="25" name="Ellipse 24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26" name="Gruppieren 25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27" name="Ellipse 26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28" name="Textfeld 27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9" name="Gruppieren 28"/>
            <p:cNvGrpSpPr/>
            <p:nvPr/>
          </p:nvGrpSpPr>
          <p:grpSpPr>
            <a:xfrm>
              <a:off x="4621640" y="3455325"/>
              <a:ext cx="1169978" cy="485543"/>
              <a:chOff x="1499388" y="3444674"/>
              <a:chExt cx="1169978" cy="485543"/>
            </a:xfrm>
          </p:grpSpPr>
          <p:sp>
            <p:nvSpPr>
              <p:cNvPr id="30" name="Ellipse 29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31" name="Gruppieren 30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32" name="Ellipse 31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33" name="Textfeld 32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4" name="Gruppieren 33"/>
            <p:cNvGrpSpPr/>
            <p:nvPr/>
          </p:nvGrpSpPr>
          <p:grpSpPr>
            <a:xfrm>
              <a:off x="6182766" y="3455325"/>
              <a:ext cx="1169978" cy="485543"/>
              <a:chOff x="1499388" y="3444674"/>
              <a:chExt cx="1169978" cy="485543"/>
            </a:xfrm>
          </p:grpSpPr>
          <p:sp>
            <p:nvSpPr>
              <p:cNvPr id="35" name="Ellipse 34"/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36" name="Gruppieren 35"/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37" name="Ellipse 36"/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38" name="Textfeld 37"/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730619" y="4566320"/>
            <a:ext cx="954156" cy="374848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619066" y="2595535"/>
            <a:ext cx="7116417" cy="71561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pic>
        <p:nvPicPr>
          <p:cNvPr id="39" name="Grafik 3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0" t="-21642" r="-4470" b="35150"/>
          <a:stretch/>
        </p:blipFill>
        <p:spPr bwMode="auto">
          <a:xfrm>
            <a:off x="1225389" y="188519"/>
            <a:ext cx="7299545" cy="35506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0A03D82-AF4E-40C5-BADE-3EF4E2803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860" y="3051663"/>
            <a:ext cx="3387757" cy="713490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30E326CD-D955-478B-ABCF-2C82ACBEAE68}"/>
              </a:ext>
            </a:extLst>
          </p:cNvPr>
          <p:cNvSpPr/>
          <p:nvPr/>
        </p:nvSpPr>
        <p:spPr>
          <a:xfrm>
            <a:off x="1143394" y="2785163"/>
            <a:ext cx="7116417" cy="2816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9E6BB60-A204-4A79-93AF-9D77C935DB0E}"/>
              </a:ext>
            </a:extLst>
          </p:cNvPr>
          <p:cNvSpPr/>
          <p:nvPr/>
        </p:nvSpPr>
        <p:spPr>
          <a:xfrm>
            <a:off x="1295795" y="2969988"/>
            <a:ext cx="3276206" cy="1225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7CF46041-FE70-42CD-8C76-CF72804629AE}"/>
              </a:ext>
            </a:extLst>
          </p:cNvPr>
          <p:cNvSpPr/>
          <p:nvPr/>
        </p:nvSpPr>
        <p:spPr>
          <a:xfrm>
            <a:off x="1448195" y="3122388"/>
            <a:ext cx="3156598" cy="1225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85E955E-C2FF-4E45-9478-DA6A223C7DF9}"/>
              </a:ext>
            </a:extLst>
          </p:cNvPr>
          <p:cNvSpPr/>
          <p:nvPr/>
        </p:nvSpPr>
        <p:spPr>
          <a:xfrm>
            <a:off x="4570636" y="2984219"/>
            <a:ext cx="383986" cy="2354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2CA6DDA4-FC87-4069-8BB3-2663C8F8242F}"/>
              </a:ext>
            </a:extLst>
          </p:cNvPr>
          <p:cNvSpPr/>
          <p:nvPr/>
        </p:nvSpPr>
        <p:spPr>
          <a:xfrm>
            <a:off x="151881" y="725100"/>
            <a:ext cx="88375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b="1" i="1" dirty="0">
                <a:solidFill>
                  <a:prstClr val="black"/>
                </a:solidFill>
                <a:latin typeface="Arial"/>
                <a:cs typeface="Arial"/>
              </a:rPr>
              <a:t>Frequent Stressor and Health Monitoring paradigm (FRESHMO)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DE185121-96A4-4643-9BEB-C0F7FDC65F75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2414D82-BDA4-48DF-A03C-15401C7CDF77}"/>
              </a:ext>
            </a:extLst>
          </p:cNvPr>
          <p:cNvSpPr/>
          <p:nvPr/>
        </p:nvSpPr>
        <p:spPr>
          <a:xfrm>
            <a:off x="2556326" y="1426671"/>
            <a:ext cx="854839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D3E9332B-1E12-448A-ADC1-B6E12E1D7497}"/>
              </a:ext>
            </a:extLst>
          </p:cNvPr>
          <p:cNvSpPr/>
          <p:nvPr/>
        </p:nvSpPr>
        <p:spPr>
          <a:xfrm>
            <a:off x="1191737" y="4128951"/>
            <a:ext cx="613759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>
              <a:tabLst>
                <a:tab pos="1971675" algn="l"/>
              </a:tabLst>
            </a:pPr>
            <a:r>
              <a:rPr lang="en-GB" i="1" dirty="0">
                <a:solidFill>
                  <a:prstClr val="black"/>
                </a:solidFill>
                <a:latin typeface="Arial"/>
                <a:cs typeface="Arial"/>
              </a:rPr>
              <a:t>Stressors (E)</a:t>
            </a:r>
            <a:r>
              <a:rPr lang="de-DE" i="1" dirty="0">
                <a:latin typeface="Arial"/>
                <a:cs typeface="Arial"/>
              </a:rPr>
              <a:t>:</a:t>
            </a:r>
            <a:r>
              <a:rPr lang="de-DE" dirty="0">
                <a:latin typeface="Arial"/>
                <a:cs typeface="Arial"/>
              </a:rPr>
              <a:t> 	</a:t>
            </a:r>
            <a:r>
              <a:rPr lang="en-GB" b="1" dirty="0">
                <a:solidFill>
                  <a:prstClr val="black"/>
                </a:solidFill>
                <a:latin typeface="Arial"/>
                <a:cs typeface="Arial"/>
              </a:rPr>
              <a:t>Life Events (LE) list</a:t>
            </a:r>
          </a:p>
          <a:p>
            <a:pPr hangingPunct="0">
              <a:tabLst>
                <a:tab pos="1971675" algn="l"/>
              </a:tabLst>
            </a:pPr>
            <a:r>
              <a:rPr lang="en-GB" b="1" dirty="0">
                <a:solidFill>
                  <a:prstClr val="black"/>
                </a:solidFill>
                <a:latin typeface="Arial"/>
                <a:cs typeface="Arial"/>
              </a:rPr>
              <a:t>                 	Daily Hassles (DH) list</a:t>
            </a:r>
          </a:p>
          <a:p>
            <a:pPr hangingPunct="0">
              <a:tabLst>
                <a:tab pos="1971675" algn="l"/>
              </a:tabLst>
            </a:pPr>
            <a:r>
              <a:rPr lang="en-GB" i="1" dirty="0">
                <a:solidFill>
                  <a:prstClr val="black"/>
                </a:solidFill>
                <a:latin typeface="Arial"/>
                <a:cs typeface="Arial"/>
              </a:rPr>
              <a:t>Mental health (P)</a:t>
            </a:r>
            <a:r>
              <a:rPr lang="de-DE" i="1" dirty="0">
                <a:latin typeface="Arial"/>
                <a:cs typeface="Arial"/>
              </a:rPr>
              <a:t>:</a:t>
            </a:r>
            <a:r>
              <a:rPr lang="de-DE" dirty="0">
                <a:latin typeface="Arial"/>
                <a:cs typeface="Arial"/>
              </a:rPr>
              <a:t> 	</a:t>
            </a:r>
            <a:r>
              <a:rPr lang="en-GB" b="1" dirty="0">
                <a:solidFill>
                  <a:prstClr val="black"/>
                </a:solidFill>
                <a:latin typeface="Arial"/>
                <a:cs typeface="Arial"/>
              </a:rPr>
              <a:t>Internalizing symptoms</a:t>
            </a:r>
          </a:p>
          <a:p>
            <a:pPr hangingPunct="0">
              <a:tabLst>
                <a:tab pos="1971675" algn="l"/>
              </a:tabLst>
            </a:pPr>
            <a:endParaRPr lang="en-GB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FDEED7C-1132-42B7-A1D6-55DF07BAD3AB}"/>
              </a:ext>
            </a:extLst>
          </p:cNvPr>
          <p:cNvSpPr txBox="1"/>
          <p:nvPr/>
        </p:nvSpPr>
        <p:spPr>
          <a:xfrm>
            <a:off x="2487019" y="1376998"/>
            <a:ext cx="3501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3537135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393395" y="4822352"/>
            <a:ext cx="954156" cy="374848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grpSp>
        <p:nvGrpSpPr>
          <p:cNvPr id="9" name="Gruppieren 8"/>
          <p:cNvGrpSpPr/>
          <p:nvPr/>
        </p:nvGrpSpPr>
        <p:grpSpPr>
          <a:xfrm>
            <a:off x="4436321" y="2093977"/>
            <a:ext cx="752578" cy="475863"/>
            <a:chOff x="4436321" y="2093977"/>
            <a:chExt cx="752578" cy="475863"/>
          </a:xfrm>
        </p:grpSpPr>
        <p:sp>
          <p:nvSpPr>
            <p:cNvPr id="2" name="Rechteck 1"/>
            <p:cNvSpPr/>
            <p:nvPr/>
          </p:nvSpPr>
          <p:spPr>
            <a:xfrm>
              <a:off x="4572000" y="2093977"/>
              <a:ext cx="475488" cy="4571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de-DE" u="sng" dirty="0" err="1">
                <a:latin typeface="Arial"/>
                <a:cs typeface="Arial"/>
              </a:endParaRPr>
            </a:p>
          </p:txBody>
        </p:sp>
        <p:sp>
          <p:nvSpPr>
            <p:cNvPr id="4" name="Textfeld 3"/>
            <p:cNvSpPr txBox="1"/>
            <p:nvPr/>
          </p:nvSpPr>
          <p:spPr>
            <a:xfrm>
              <a:off x="4436321" y="2108175"/>
              <a:ext cx="7525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Average</a:t>
              </a:r>
            </a:p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T1…T3</a:t>
              </a:r>
              <a:endParaRPr lang="de-DE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0" b="58449"/>
          <a:stretch/>
        </p:blipFill>
        <p:spPr bwMode="auto">
          <a:xfrm>
            <a:off x="4403386" y="1008170"/>
            <a:ext cx="4453633" cy="10858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6720945E-4A60-4091-864E-E787B3C84F6E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035F7BA-3A2F-41BE-BFCB-C29976ACA928}"/>
              </a:ext>
            </a:extLst>
          </p:cNvPr>
          <p:cNvSpPr/>
          <p:nvPr/>
        </p:nvSpPr>
        <p:spPr>
          <a:xfrm>
            <a:off x="1551958" y="2765232"/>
            <a:ext cx="4453633" cy="30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B42EAB-C4A1-46DE-9C9D-902B5974C4F0}"/>
              </a:ext>
            </a:extLst>
          </p:cNvPr>
          <p:cNvSpPr txBox="1"/>
          <p:nvPr/>
        </p:nvSpPr>
        <p:spPr>
          <a:xfrm>
            <a:off x="2731454" y="3089818"/>
            <a:ext cx="3495099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u="sng" dirty="0" err="1">
                <a:latin typeface="Arial" panose="020B0604020202020204" pitchFamily="34" charset="0"/>
                <a:cs typeface="Arial" panose="020B0604020202020204" pitchFamily="34" charset="0"/>
              </a:rPr>
              <a:t>Occurrence</a:t>
            </a:r>
            <a:r>
              <a:rPr lang="pt-BR" u="sng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pt-BR" u="sng" dirty="0" err="1">
                <a:latin typeface="Arial" panose="020B0604020202020204" pitchFamily="34" charset="0"/>
                <a:cs typeface="Arial" panose="020B0604020202020204" pitchFamily="34" charset="0"/>
              </a:rPr>
              <a:t>stressors</a:t>
            </a:r>
            <a:r>
              <a:rPr lang="pt-BR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baseline="-25000" dirty="0">
                <a:latin typeface="Arial" panose="020B0604020202020204" pitchFamily="34" charset="0"/>
                <a:cs typeface="Arial" panose="020B0604020202020204" pitchFamily="34" charset="0"/>
              </a:rPr>
              <a:t>DH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~ E</a:t>
            </a:r>
            <a:r>
              <a:rPr lang="pt-BR" baseline="-2500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R=0.38, p=2e-06</a:t>
            </a:r>
          </a:p>
          <a:p>
            <a:endParaRPr lang="pt-B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(N=148)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Grafik 15" descr="Ein Bild, das Menschliches Gesicht, Person, Bart, Mann enthält.&#10;&#10;Automatisch generierte Beschreibung">
            <a:extLst>
              <a:ext uri="{FF2B5EF4-FFF2-40B4-BE49-F238E27FC236}">
                <a16:creationId xmlns:a16="http://schemas.microsoft.com/office/drawing/2014/main" id="{29724C7C-4787-4068-BDC4-79F1BCF32F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819" r="18100" b="22082"/>
          <a:stretch/>
        </p:blipFill>
        <p:spPr>
          <a:xfrm>
            <a:off x="7556744" y="4610288"/>
            <a:ext cx="1200560" cy="1506808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9FBFE4C5-452E-4D34-95A6-9F8E691BB25D}"/>
              </a:ext>
            </a:extLst>
          </p:cNvPr>
          <p:cNvSpPr txBox="1"/>
          <p:nvPr/>
        </p:nvSpPr>
        <p:spPr>
          <a:xfrm>
            <a:off x="7556744" y="5850894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Haakon Engen</a:t>
            </a:r>
          </a:p>
        </p:txBody>
      </p:sp>
    </p:spTree>
    <p:extLst>
      <p:ext uri="{BB962C8B-B14F-4D97-AF65-F5344CB8AC3E}">
        <p14:creationId xmlns:p14="http://schemas.microsoft.com/office/powerpoint/2010/main" val="145848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393395" y="4822352"/>
            <a:ext cx="954156" cy="374848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grpSp>
        <p:nvGrpSpPr>
          <p:cNvPr id="9" name="Gruppieren 8"/>
          <p:cNvGrpSpPr/>
          <p:nvPr/>
        </p:nvGrpSpPr>
        <p:grpSpPr>
          <a:xfrm>
            <a:off x="4436321" y="2093977"/>
            <a:ext cx="752578" cy="475863"/>
            <a:chOff x="4436321" y="2093977"/>
            <a:chExt cx="752578" cy="475863"/>
          </a:xfrm>
        </p:grpSpPr>
        <p:sp>
          <p:nvSpPr>
            <p:cNvPr id="2" name="Rechteck 1"/>
            <p:cNvSpPr/>
            <p:nvPr/>
          </p:nvSpPr>
          <p:spPr>
            <a:xfrm>
              <a:off x="4572000" y="2093977"/>
              <a:ext cx="475488" cy="4571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de-DE" u="sng" dirty="0" err="1">
                <a:latin typeface="Arial"/>
                <a:cs typeface="Arial"/>
              </a:endParaRPr>
            </a:p>
          </p:txBody>
        </p:sp>
        <p:sp>
          <p:nvSpPr>
            <p:cNvPr id="4" name="Textfeld 3"/>
            <p:cNvSpPr txBox="1"/>
            <p:nvPr/>
          </p:nvSpPr>
          <p:spPr>
            <a:xfrm>
              <a:off x="4436321" y="2108175"/>
              <a:ext cx="7525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Average</a:t>
              </a:r>
            </a:p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T1…T3</a:t>
              </a:r>
              <a:endParaRPr lang="de-DE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0" b="58449"/>
          <a:stretch/>
        </p:blipFill>
        <p:spPr bwMode="auto">
          <a:xfrm>
            <a:off x="4403386" y="1008170"/>
            <a:ext cx="4453633" cy="10858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6720945E-4A60-4091-864E-E787B3C84F6E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035F7BA-3A2F-41BE-BFCB-C29976ACA928}"/>
              </a:ext>
            </a:extLst>
          </p:cNvPr>
          <p:cNvSpPr/>
          <p:nvPr/>
        </p:nvSpPr>
        <p:spPr>
          <a:xfrm>
            <a:off x="1551958" y="2765232"/>
            <a:ext cx="4453633" cy="30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FB42EAB-C4A1-46DE-9C9D-902B5974C4F0}"/>
              </a:ext>
            </a:extLst>
          </p:cNvPr>
          <p:cNvSpPr txBox="1"/>
          <p:nvPr/>
        </p:nvSpPr>
        <p:spPr>
          <a:xfrm>
            <a:off x="3299938" y="3086241"/>
            <a:ext cx="34950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u="sng" dirty="0" err="1">
                <a:latin typeface="Arial" panose="020B0604020202020204" pitchFamily="34" charset="0"/>
                <a:cs typeface="Arial" panose="020B0604020202020204" pitchFamily="34" charset="0"/>
              </a:rPr>
              <a:t>Occurrence</a:t>
            </a:r>
            <a:r>
              <a:rPr lang="pt-BR" u="sng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pt-BR" u="sng" dirty="0" err="1">
                <a:latin typeface="Arial" panose="020B0604020202020204" pitchFamily="34" charset="0"/>
                <a:cs typeface="Arial" panose="020B0604020202020204" pitchFamily="34" charset="0"/>
              </a:rPr>
              <a:t>stressors</a:t>
            </a:r>
            <a:r>
              <a:rPr lang="pt-BR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baseline="-25000" dirty="0">
                <a:latin typeface="Arial" panose="020B0604020202020204" pitchFamily="34" charset="0"/>
                <a:cs typeface="Arial" panose="020B0604020202020204" pitchFamily="34" charset="0"/>
              </a:rPr>
              <a:t>DH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~ E</a:t>
            </a:r>
            <a:r>
              <a:rPr lang="pt-BR" baseline="-25000" dirty="0"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 R=0.38, p=2e-06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(N=148)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2672094-7C38-4E5B-A2E9-6135B99B5452}"/>
              </a:ext>
            </a:extLst>
          </p:cNvPr>
          <p:cNvGrpSpPr/>
          <p:nvPr/>
        </p:nvGrpSpPr>
        <p:grpSpPr>
          <a:xfrm>
            <a:off x="1385450" y="2765232"/>
            <a:ext cx="5974293" cy="2089080"/>
            <a:chOff x="1385450" y="2765232"/>
            <a:chExt cx="5974293" cy="2089080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DBFA6D5D-AF1E-4CD2-8FF9-7E012FEAA884}"/>
                </a:ext>
              </a:extLst>
            </p:cNvPr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1583" r="50001"/>
            <a:stretch/>
          </p:blipFill>
          <p:spPr bwMode="auto">
            <a:xfrm>
              <a:off x="1385450" y="4288161"/>
              <a:ext cx="5969792" cy="56615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5" name="Grafik 44"/>
            <p:cNvPicPr/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506" r="50001" b="28853"/>
            <a:stretch/>
          </p:blipFill>
          <p:spPr bwMode="auto">
            <a:xfrm>
              <a:off x="1389951" y="2765232"/>
              <a:ext cx="5969792" cy="152292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5" name="Rechteck 14">
            <a:extLst>
              <a:ext uri="{FF2B5EF4-FFF2-40B4-BE49-F238E27FC236}">
                <a16:creationId xmlns:a16="http://schemas.microsoft.com/office/drawing/2014/main" id="{09182248-8091-418E-9E5E-9938496365F1}"/>
              </a:ext>
            </a:extLst>
          </p:cNvPr>
          <p:cNvSpPr/>
          <p:nvPr/>
        </p:nvSpPr>
        <p:spPr>
          <a:xfrm>
            <a:off x="1704358" y="2774962"/>
            <a:ext cx="4453633" cy="306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pic>
        <p:nvPicPr>
          <p:cNvPr id="16" name="Grafik 15" descr="Ein Bild, das Menschliches Gesicht, Person, Bart, Mann enthält.&#10;&#10;Automatisch generierte Beschreibung">
            <a:extLst>
              <a:ext uri="{FF2B5EF4-FFF2-40B4-BE49-F238E27FC236}">
                <a16:creationId xmlns:a16="http://schemas.microsoft.com/office/drawing/2014/main" id="{0B612B63-269D-4A32-A7F1-A530E32865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819" r="18100" b="22082"/>
          <a:stretch/>
        </p:blipFill>
        <p:spPr>
          <a:xfrm>
            <a:off x="7556744" y="4610288"/>
            <a:ext cx="1200560" cy="1506808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9530851A-0C86-46D8-BE56-8C421B2EFC50}"/>
              </a:ext>
            </a:extLst>
          </p:cNvPr>
          <p:cNvSpPr txBox="1"/>
          <p:nvPr/>
        </p:nvSpPr>
        <p:spPr>
          <a:xfrm>
            <a:off x="7556744" y="5850894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Haakon Engen</a:t>
            </a:r>
          </a:p>
        </p:txBody>
      </p:sp>
    </p:spTree>
    <p:extLst>
      <p:ext uri="{BB962C8B-B14F-4D97-AF65-F5344CB8AC3E}">
        <p14:creationId xmlns:p14="http://schemas.microsoft.com/office/powerpoint/2010/main" val="3313906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049CEC4-9C46-4F62-A4CA-6D2D012230C5}"/>
              </a:ext>
            </a:extLst>
          </p:cNvPr>
          <p:cNvSpPr/>
          <p:nvPr/>
        </p:nvSpPr>
        <p:spPr>
          <a:xfrm>
            <a:off x="970259" y="1883096"/>
            <a:ext cx="7791119" cy="13747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Solution 1: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take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an at-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risk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population</a:t>
            </a:r>
            <a:endParaRPr lang="de-DE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Solution 2: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frequently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monitor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stressors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and mental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health</a:t>
            </a:r>
            <a:endParaRPr lang="de-DE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Solution 3: express mental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health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as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a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function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stressor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exposure</a:t>
            </a:r>
            <a:endParaRPr lang="de-DE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878DEF4-8D28-42CC-8CE2-43B9B0C6BEBA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</p:spTree>
    <p:extLst>
      <p:ext uri="{BB962C8B-B14F-4D97-AF65-F5344CB8AC3E}">
        <p14:creationId xmlns:p14="http://schemas.microsoft.com/office/powerpoint/2010/main" val="4601995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t="5626" r="252" b="10377"/>
          <a:stretch/>
        </p:blipFill>
        <p:spPr>
          <a:xfrm>
            <a:off x="1042526" y="2177221"/>
            <a:ext cx="7263000" cy="3915000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3666192" y="6059103"/>
            <a:ext cx="229101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Stressor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exposure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</a:t>
            </a:r>
            <a:r>
              <a:rPr lang="de-DE" sz="1350" b="1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C,T1-T3</a:t>
            </a:r>
            <a:endParaRPr lang="en-US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 23"/>
          <p:cNvSpPr/>
          <p:nvPr/>
        </p:nvSpPr>
        <p:spPr>
          <a:xfrm rot="16200000">
            <a:off x="-419050" y="3800144"/>
            <a:ext cx="258917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Mental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health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problems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</a:t>
            </a:r>
            <a:r>
              <a:rPr lang="de-DE" sz="1350" b="1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T1-T3</a:t>
            </a:r>
            <a:endParaRPr lang="en-US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hteck 37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grpSp>
        <p:nvGrpSpPr>
          <p:cNvPr id="39" name="Gruppieren 38"/>
          <p:cNvGrpSpPr/>
          <p:nvPr/>
        </p:nvGrpSpPr>
        <p:grpSpPr>
          <a:xfrm>
            <a:off x="4436321" y="2093977"/>
            <a:ext cx="752578" cy="475863"/>
            <a:chOff x="4436321" y="2093977"/>
            <a:chExt cx="752578" cy="475863"/>
          </a:xfrm>
        </p:grpSpPr>
        <p:sp>
          <p:nvSpPr>
            <p:cNvPr id="40" name="Rechteck 39"/>
            <p:cNvSpPr/>
            <p:nvPr/>
          </p:nvSpPr>
          <p:spPr>
            <a:xfrm>
              <a:off x="4572000" y="2093977"/>
              <a:ext cx="475488" cy="4571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de-DE" u="sng" dirty="0" err="1">
                <a:latin typeface="Arial"/>
                <a:cs typeface="Arial"/>
              </a:endParaRPr>
            </a:p>
          </p:txBody>
        </p:sp>
        <p:sp>
          <p:nvSpPr>
            <p:cNvPr id="41" name="Textfeld 40"/>
            <p:cNvSpPr txBox="1"/>
            <p:nvPr/>
          </p:nvSpPr>
          <p:spPr>
            <a:xfrm>
              <a:off x="4436321" y="2108175"/>
              <a:ext cx="7525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Average</a:t>
              </a:r>
            </a:p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T1…T3</a:t>
              </a:r>
              <a:endParaRPr lang="de-DE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0" b="58449"/>
          <a:stretch/>
        </p:blipFill>
        <p:spPr bwMode="auto">
          <a:xfrm>
            <a:off x="4409872" y="1008170"/>
            <a:ext cx="4447148" cy="10858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390C48C-68F8-4EC1-8E26-1AE098EADCF2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  <p:pic>
        <p:nvPicPr>
          <p:cNvPr id="14" name="Grafik 13" descr="Ein Bild, das Menschliches Gesicht, Person, Bart, Mann enthält.&#10;&#10;Automatisch generierte Beschreibung">
            <a:extLst>
              <a:ext uri="{FF2B5EF4-FFF2-40B4-BE49-F238E27FC236}">
                <a16:creationId xmlns:a16="http://schemas.microsoft.com/office/drawing/2014/main" id="{9437D788-D762-447A-9D44-7C9D7D62AD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819" r="18100" b="22082"/>
          <a:stretch/>
        </p:blipFill>
        <p:spPr>
          <a:xfrm>
            <a:off x="7556744" y="4610288"/>
            <a:ext cx="1200560" cy="1506808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91CBB1F8-84A9-473B-8064-4E134BF89015}"/>
              </a:ext>
            </a:extLst>
          </p:cNvPr>
          <p:cNvSpPr txBox="1"/>
          <p:nvPr/>
        </p:nvSpPr>
        <p:spPr>
          <a:xfrm>
            <a:off x="7556744" y="5850894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Haakon Engen</a:t>
            </a:r>
          </a:p>
        </p:txBody>
      </p:sp>
    </p:spTree>
    <p:extLst>
      <p:ext uri="{BB962C8B-B14F-4D97-AF65-F5344CB8AC3E}">
        <p14:creationId xmlns:p14="http://schemas.microsoft.com/office/powerpoint/2010/main" val="3223123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t="5626" r="252" b="10377"/>
          <a:stretch/>
        </p:blipFill>
        <p:spPr>
          <a:xfrm>
            <a:off x="1042526" y="2177221"/>
            <a:ext cx="7263000" cy="3915000"/>
          </a:xfrm>
          <a:prstGeom prst="rect">
            <a:avLst/>
          </a:prstGeom>
        </p:spPr>
      </p:pic>
      <p:sp>
        <p:nvSpPr>
          <p:cNvPr id="10" name="Ellipse 9"/>
          <p:cNvSpPr/>
          <p:nvPr/>
        </p:nvSpPr>
        <p:spPr>
          <a:xfrm>
            <a:off x="5790594" y="4088443"/>
            <a:ext cx="715617" cy="421972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450"/>
              </a:spcAft>
            </a:pPr>
            <a:endParaRPr lang="en-US" sz="1350" u="sng" dirty="0" err="1">
              <a:latin typeface="Arial"/>
              <a:cs typeface="Arial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666192" y="6059103"/>
            <a:ext cx="229101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Stressor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exposure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</a:t>
            </a:r>
            <a:r>
              <a:rPr lang="de-DE" sz="1350" b="1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C,T1-T3</a:t>
            </a:r>
            <a:endParaRPr lang="en-US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 23"/>
          <p:cNvSpPr/>
          <p:nvPr/>
        </p:nvSpPr>
        <p:spPr>
          <a:xfrm rot="16200000">
            <a:off x="-419050" y="3800144"/>
            <a:ext cx="258917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Mental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health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problems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</a:t>
            </a:r>
            <a:r>
              <a:rPr lang="de-DE" sz="1350" b="1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T1-T3</a:t>
            </a:r>
            <a:endParaRPr lang="en-US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6166755" y="3244549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35" name="Gerader Verbinder 34"/>
          <p:cNvCxnSpPr/>
          <p:nvPr/>
        </p:nvCxnSpPr>
        <p:spPr>
          <a:xfrm>
            <a:off x="6308755" y="3518969"/>
            <a:ext cx="1328" cy="719703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/>
          <p:cNvCxnSpPr/>
          <p:nvPr/>
        </p:nvCxnSpPr>
        <p:spPr>
          <a:xfrm flipH="1">
            <a:off x="1257866" y="3379549"/>
            <a:ext cx="489053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feld 49"/>
          <p:cNvSpPr txBox="1"/>
          <p:nvPr/>
        </p:nvSpPr>
        <p:spPr>
          <a:xfrm flipH="1">
            <a:off x="6200262" y="3260283"/>
            <a:ext cx="267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feld 59"/>
          <p:cNvSpPr txBox="1"/>
          <p:nvPr/>
        </p:nvSpPr>
        <p:spPr>
          <a:xfrm>
            <a:off x="6172958" y="4788330"/>
            <a:ext cx="492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Gerader Verbinder 61"/>
          <p:cNvCxnSpPr/>
          <p:nvPr/>
        </p:nvCxnSpPr>
        <p:spPr>
          <a:xfrm flipH="1">
            <a:off x="1248861" y="4922218"/>
            <a:ext cx="49005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/>
          <p:cNvCxnSpPr/>
          <p:nvPr/>
        </p:nvCxnSpPr>
        <p:spPr>
          <a:xfrm>
            <a:off x="6277877" y="4272311"/>
            <a:ext cx="6408" cy="507600"/>
          </a:xfrm>
          <a:prstGeom prst="line">
            <a:avLst/>
          </a:prstGeom>
          <a:ln w="412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35"/>
          <p:cNvSpPr/>
          <p:nvPr/>
        </p:nvSpPr>
        <p:spPr>
          <a:xfrm>
            <a:off x="6149285" y="4776419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8" name="Rechteck 37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grpSp>
        <p:nvGrpSpPr>
          <p:cNvPr id="39" name="Gruppieren 38"/>
          <p:cNvGrpSpPr/>
          <p:nvPr/>
        </p:nvGrpSpPr>
        <p:grpSpPr>
          <a:xfrm>
            <a:off x="4436321" y="2093977"/>
            <a:ext cx="752578" cy="475863"/>
            <a:chOff x="4436321" y="2093977"/>
            <a:chExt cx="752578" cy="475863"/>
          </a:xfrm>
        </p:grpSpPr>
        <p:sp>
          <p:nvSpPr>
            <p:cNvPr id="40" name="Rechteck 39"/>
            <p:cNvSpPr/>
            <p:nvPr/>
          </p:nvSpPr>
          <p:spPr>
            <a:xfrm>
              <a:off x="4572000" y="2093977"/>
              <a:ext cx="475488" cy="4571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de-DE" u="sng" dirty="0" err="1">
                <a:latin typeface="Arial"/>
                <a:cs typeface="Arial"/>
              </a:endParaRPr>
            </a:p>
          </p:txBody>
        </p:sp>
        <p:sp>
          <p:nvSpPr>
            <p:cNvPr id="41" name="Textfeld 40"/>
            <p:cNvSpPr txBox="1"/>
            <p:nvPr/>
          </p:nvSpPr>
          <p:spPr>
            <a:xfrm>
              <a:off x="4436321" y="2108175"/>
              <a:ext cx="7525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Average</a:t>
              </a:r>
            </a:p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T1…T3</a:t>
              </a:r>
              <a:endParaRPr lang="de-DE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2" b="58449"/>
          <a:stretch/>
        </p:blipFill>
        <p:spPr bwMode="auto">
          <a:xfrm>
            <a:off x="4390416" y="1008170"/>
            <a:ext cx="4466603" cy="10858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0788298D-05B7-47E9-91A6-D9749E1498E4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  <p:pic>
        <p:nvPicPr>
          <p:cNvPr id="43" name="Grafik 42" descr="Ein Bild, das Menschliches Gesicht, Person, Bart, Mann enthält.&#10;&#10;Automatisch generierte Beschreibung">
            <a:extLst>
              <a:ext uri="{FF2B5EF4-FFF2-40B4-BE49-F238E27FC236}">
                <a16:creationId xmlns:a16="http://schemas.microsoft.com/office/drawing/2014/main" id="{461CDE95-C89D-425F-B1C3-5E7CA025F7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819" r="18100" b="22082"/>
          <a:stretch/>
        </p:blipFill>
        <p:spPr>
          <a:xfrm>
            <a:off x="7556744" y="4610288"/>
            <a:ext cx="1200560" cy="1506808"/>
          </a:xfrm>
          <a:prstGeom prst="rect">
            <a:avLst/>
          </a:prstGeom>
        </p:spPr>
      </p:pic>
      <p:sp>
        <p:nvSpPr>
          <p:cNvPr id="44" name="Textfeld 43">
            <a:extLst>
              <a:ext uri="{FF2B5EF4-FFF2-40B4-BE49-F238E27FC236}">
                <a16:creationId xmlns:a16="http://schemas.microsoft.com/office/drawing/2014/main" id="{A9EC093C-5457-4028-BFF3-17B09D699322}"/>
              </a:ext>
            </a:extLst>
          </p:cNvPr>
          <p:cNvSpPr txBox="1"/>
          <p:nvPr/>
        </p:nvSpPr>
        <p:spPr>
          <a:xfrm>
            <a:off x="7556744" y="5850894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Haakon Engen</a:t>
            </a:r>
          </a:p>
        </p:txBody>
      </p:sp>
    </p:spTree>
    <p:extLst>
      <p:ext uri="{BB962C8B-B14F-4D97-AF65-F5344CB8AC3E}">
        <p14:creationId xmlns:p14="http://schemas.microsoft.com/office/powerpoint/2010/main" val="31118145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t="5626" r="252" b="10377"/>
          <a:stretch/>
        </p:blipFill>
        <p:spPr>
          <a:xfrm>
            <a:off x="1042526" y="2177221"/>
            <a:ext cx="7263000" cy="3915000"/>
          </a:xfrm>
          <a:prstGeom prst="rect">
            <a:avLst/>
          </a:prstGeom>
        </p:spPr>
      </p:pic>
      <p:sp>
        <p:nvSpPr>
          <p:cNvPr id="10" name="Ellipse 9"/>
          <p:cNvSpPr/>
          <p:nvPr/>
        </p:nvSpPr>
        <p:spPr>
          <a:xfrm>
            <a:off x="5790594" y="4088443"/>
            <a:ext cx="715617" cy="421972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450"/>
              </a:spcAft>
            </a:pPr>
            <a:endParaRPr lang="en-US" sz="1350" u="sng" dirty="0" err="1">
              <a:latin typeface="Arial"/>
              <a:cs typeface="Arial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666192" y="6059103"/>
            <a:ext cx="229101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Stressor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exposure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</a:t>
            </a:r>
            <a:r>
              <a:rPr lang="de-DE" sz="1350" b="1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C,T1-T3</a:t>
            </a:r>
            <a:endParaRPr lang="en-US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 23"/>
          <p:cNvSpPr/>
          <p:nvPr/>
        </p:nvSpPr>
        <p:spPr>
          <a:xfrm rot="16200000">
            <a:off x="-419050" y="3800144"/>
            <a:ext cx="258917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Mental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health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problems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</a:t>
            </a:r>
            <a:r>
              <a:rPr lang="de-DE" sz="1350" b="1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T1-T3</a:t>
            </a:r>
            <a:endParaRPr lang="en-US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Ellipse 6"/>
          <p:cNvSpPr/>
          <p:nvPr/>
        </p:nvSpPr>
        <p:spPr>
          <a:xfrm>
            <a:off x="3414458" y="3733075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Ellipse 25"/>
          <p:cNvSpPr/>
          <p:nvPr/>
        </p:nvSpPr>
        <p:spPr>
          <a:xfrm>
            <a:off x="6166755" y="3244549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" name="Gerader Verbinder 10"/>
          <p:cNvCxnSpPr/>
          <p:nvPr/>
        </p:nvCxnSpPr>
        <p:spPr>
          <a:xfrm flipH="1" flipV="1">
            <a:off x="1246039" y="3867311"/>
            <a:ext cx="216326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>
            <a:stCxn id="7" idx="4"/>
          </p:cNvCxnSpPr>
          <p:nvPr/>
        </p:nvCxnSpPr>
        <p:spPr>
          <a:xfrm>
            <a:off x="3544301" y="4000496"/>
            <a:ext cx="0" cy="858259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/>
          <p:cNvCxnSpPr/>
          <p:nvPr/>
        </p:nvCxnSpPr>
        <p:spPr>
          <a:xfrm>
            <a:off x="6308755" y="3518969"/>
            <a:ext cx="1328" cy="719703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/>
          <p:cNvCxnSpPr/>
          <p:nvPr/>
        </p:nvCxnSpPr>
        <p:spPr>
          <a:xfrm flipH="1">
            <a:off x="1257866" y="3379549"/>
            <a:ext cx="489053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/>
          <p:cNvSpPr txBox="1"/>
          <p:nvPr/>
        </p:nvSpPr>
        <p:spPr>
          <a:xfrm flipH="1">
            <a:off x="3435061" y="3741360"/>
            <a:ext cx="267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feld 49"/>
          <p:cNvSpPr txBox="1"/>
          <p:nvPr/>
        </p:nvSpPr>
        <p:spPr>
          <a:xfrm flipH="1">
            <a:off x="6200262" y="3260283"/>
            <a:ext cx="267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Gerader Verbinder 50"/>
          <p:cNvCxnSpPr/>
          <p:nvPr/>
        </p:nvCxnSpPr>
        <p:spPr>
          <a:xfrm>
            <a:off x="3414458" y="4937364"/>
            <a:ext cx="6408" cy="521921"/>
          </a:xfrm>
          <a:prstGeom prst="line">
            <a:avLst/>
          </a:prstGeom>
          <a:ln w="412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54"/>
          <p:cNvSpPr/>
          <p:nvPr/>
        </p:nvSpPr>
        <p:spPr>
          <a:xfrm>
            <a:off x="3283287" y="5459285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9" name="Textfeld 58"/>
          <p:cNvSpPr txBox="1"/>
          <p:nvPr/>
        </p:nvSpPr>
        <p:spPr>
          <a:xfrm flipH="1">
            <a:off x="3304906" y="5466426"/>
            <a:ext cx="267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feld 59"/>
          <p:cNvSpPr txBox="1"/>
          <p:nvPr/>
        </p:nvSpPr>
        <p:spPr>
          <a:xfrm>
            <a:off x="6172958" y="4788330"/>
            <a:ext cx="492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Gerader Verbinder 60"/>
          <p:cNvCxnSpPr/>
          <p:nvPr/>
        </p:nvCxnSpPr>
        <p:spPr>
          <a:xfrm flipH="1">
            <a:off x="1257867" y="5593915"/>
            <a:ext cx="202284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/>
          <p:cNvCxnSpPr/>
          <p:nvPr/>
        </p:nvCxnSpPr>
        <p:spPr>
          <a:xfrm flipH="1">
            <a:off x="1248861" y="4922218"/>
            <a:ext cx="49005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/>
          <p:cNvCxnSpPr/>
          <p:nvPr/>
        </p:nvCxnSpPr>
        <p:spPr>
          <a:xfrm>
            <a:off x="6277877" y="4272311"/>
            <a:ext cx="6408" cy="507600"/>
          </a:xfrm>
          <a:prstGeom prst="line">
            <a:avLst/>
          </a:prstGeom>
          <a:ln w="412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35"/>
          <p:cNvSpPr/>
          <p:nvPr/>
        </p:nvSpPr>
        <p:spPr>
          <a:xfrm>
            <a:off x="6149285" y="4776419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8" name="Rechteck 37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grpSp>
        <p:nvGrpSpPr>
          <p:cNvPr id="39" name="Gruppieren 38"/>
          <p:cNvGrpSpPr/>
          <p:nvPr/>
        </p:nvGrpSpPr>
        <p:grpSpPr>
          <a:xfrm>
            <a:off x="4436321" y="2093977"/>
            <a:ext cx="752578" cy="475863"/>
            <a:chOff x="4436321" y="2093977"/>
            <a:chExt cx="752578" cy="475863"/>
          </a:xfrm>
        </p:grpSpPr>
        <p:sp>
          <p:nvSpPr>
            <p:cNvPr id="40" name="Rechteck 39"/>
            <p:cNvSpPr/>
            <p:nvPr/>
          </p:nvSpPr>
          <p:spPr>
            <a:xfrm>
              <a:off x="4572000" y="2093977"/>
              <a:ext cx="475488" cy="4571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de-DE" u="sng" dirty="0" err="1">
                <a:latin typeface="Arial"/>
                <a:cs typeface="Arial"/>
              </a:endParaRPr>
            </a:p>
          </p:txBody>
        </p:sp>
        <p:sp>
          <p:nvSpPr>
            <p:cNvPr id="41" name="Textfeld 40"/>
            <p:cNvSpPr txBox="1"/>
            <p:nvPr/>
          </p:nvSpPr>
          <p:spPr>
            <a:xfrm>
              <a:off x="4436321" y="2108175"/>
              <a:ext cx="7525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Average</a:t>
              </a:r>
            </a:p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T1…T3</a:t>
              </a:r>
              <a:endParaRPr lang="de-DE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2" b="58449"/>
          <a:stretch/>
        </p:blipFill>
        <p:spPr bwMode="auto">
          <a:xfrm>
            <a:off x="4390416" y="1008170"/>
            <a:ext cx="4466603" cy="10858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0788298D-05B7-47E9-91A6-D9749E1498E4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  <p:pic>
        <p:nvPicPr>
          <p:cNvPr id="43" name="Grafik 42" descr="Ein Bild, das Menschliches Gesicht, Person, Bart, Mann enthält.&#10;&#10;Automatisch generierte Beschreibung">
            <a:extLst>
              <a:ext uri="{FF2B5EF4-FFF2-40B4-BE49-F238E27FC236}">
                <a16:creationId xmlns:a16="http://schemas.microsoft.com/office/drawing/2014/main" id="{461CDE95-C89D-425F-B1C3-5E7CA025F7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819" r="18100" b="22082"/>
          <a:stretch/>
        </p:blipFill>
        <p:spPr>
          <a:xfrm>
            <a:off x="7556744" y="4610288"/>
            <a:ext cx="1200560" cy="1506808"/>
          </a:xfrm>
          <a:prstGeom prst="rect">
            <a:avLst/>
          </a:prstGeom>
        </p:spPr>
      </p:pic>
      <p:sp>
        <p:nvSpPr>
          <p:cNvPr id="44" name="Textfeld 43">
            <a:extLst>
              <a:ext uri="{FF2B5EF4-FFF2-40B4-BE49-F238E27FC236}">
                <a16:creationId xmlns:a16="http://schemas.microsoft.com/office/drawing/2014/main" id="{A9EC093C-5457-4028-BFF3-17B09D699322}"/>
              </a:ext>
            </a:extLst>
          </p:cNvPr>
          <p:cNvSpPr txBox="1"/>
          <p:nvPr/>
        </p:nvSpPr>
        <p:spPr>
          <a:xfrm>
            <a:off x="7556744" y="5850894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Haakon Engen</a:t>
            </a:r>
          </a:p>
        </p:txBody>
      </p:sp>
    </p:spTree>
    <p:extLst>
      <p:ext uri="{BB962C8B-B14F-4D97-AF65-F5344CB8AC3E}">
        <p14:creationId xmlns:p14="http://schemas.microsoft.com/office/powerpoint/2010/main" val="25562222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t="5626" r="252" b="10377"/>
          <a:stretch/>
        </p:blipFill>
        <p:spPr>
          <a:xfrm>
            <a:off x="1042526" y="2177221"/>
            <a:ext cx="7263000" cy="3915000"/>
          </a:xfrm>
          <a:prstGeom prst="rect">
            <a:avLst/>
          </a:prstGeom>
        </p:spPr>
      </p:pic>
      <p:sp>
        <p:nvSpPr>
          <p:cNvPr id="10" name="Ellipse 9"/>
          <p:cNvSpPr/>
          <p:nvPr/>
        </p:nvSpPr>
        <p:spPr>
          <a:xfrm>
            <a:off x="5790594" y="4088443"/>
            <a:ext cx="715617" cy="421972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450"/>
              </a:spcAft>
            </a:pPr>
            <a:endParaRPr lang="en-US" sz="1350" u="sng" dirty="0" err="1">
              <a:latin typeface="Arial"/>
              <a:cs typeface="Arial"/>
            </a:endParaRPr>
          </a:p>
        </p:txBody>
      </p:sp>
      <p:sp>
        <p:nvSpPr>
          <p:cNvPr id="6" name="Rechteck 5"/>
          <p:cNvSpPr/>
          <p:nvPr/>
        </p:nvSpPr>
        <p:spPr>
          <a:xfrm>
            <a:off x="3666192" y="6059103"/>
            <a:ext cx="229101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Stressor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exposure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</a:t>
            </a:r>
            <a:r>
              <a:rPr lang="de-DE" sz="1350" b="1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C,T1-T3</a:t>
            </a:r>
            <a:endParaRPr lang="en-US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 23"/>
          <p:cNvSpPr/>
          <p:nvPr/>
        </p:nvSpPr>
        <p:spPr>
          <a:xfrm rot="16200000">
            <a:off x="-419050" y="3800144"/>
            <a:ext cx="258917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Mental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health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350" b="1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problems</a:t>
            </a:r>
            <a:r>
              <a:rPr lang="de-DE" sz="135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</a:t>
            </a:r>
            <a:r>
              <a:rPr lang="de-DE" sz="1350" b="1" baseline="-25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T1-T3</a:t>
            </a:r>
            <a:endParaRPr lang="en-US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Ellipse 6"/>
          <p:cNvSpPr/>
          <p:nvPr/>
        </p:nvSpPr>
        <p:spPr>
          <a:xfrm>
            <a:off x="3414458" y="3733075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Ellipse 24"/>
          <p:cNvSpPr/>
          <p:nvPr/>
        </p:nvSpPr>
        <p:spPr>
          <a:xfrm>
            <a:off x="5134545" y="3720522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Ellipse 25"/>
          <p:cNvSpPr/>
          <p:nvPr/>
        </p:nvSpPr>
        <p:spPr>
          <a:xfrm>
            <a:off x="6166755" y="3244549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" name="Gerader Verbinder 10"/>
          <p:cNvCxnSpPr/>
          <p:nvPr/>
        </p:nvCxnSpPr>
        <p:spPr>
          <a:xfrm flipH="1" flipV="1">
            <a:off x="1246039" y="3867311"/>
            <a:ext cx="216326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/>
          <p:cNvCxnSpPr/>
          <p:nvPr/>
        </p:nvCxnSpPr>
        <p:spPr>
          <a:xfrm flipH="1">
            <a:off x="3679302" y="3868414"/>
            <a:ext cx="145524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/>
          <p:cNvCxnSpPr>
            <a:stCxn id="7" idx="4"/>
          </p:cNvCxnSpPr>
          <p:nvPr/>
        </p:nvCxnSpPr>
        <p:spPr>
          <a:xfrm>
            <a:off x="3544301" y="4000496"/>
            <a:ext cx="0" cy="858259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/>
          <p:cNvCxnSpPr/>
          <p:nvPr/>
        </p:nvCxnSpPr>
        <p:spPr>
          <a:xfrm>
            <a:off x="5272123" y="3995858"/>
            <a:ext cx="1525" cy="477431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/>
          <p:cNvCxnSpPr/>
          <p:nvPr/>
        </p:nvCxnSpPr>
        <p:spPr>
          <a:xfrm>
            <a:off x="6308755" y="3518969"/>
            <a:ext cx="1328" cy="719703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/>
          <p:cNvCxnSpPr/>
          <p:nvPr/>
        </p:nvCxnSpPr>
        <p:spPr>
          <a:xfrm flipH="1">
            <a:off x="1257866" y="3379549"/>
            <a:ext cx="489053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/>
          <p:cNvSpPr txBox="1"/>
          <p:nvPr/>
        </p:nvSpPr>
        <p:spPr>
          <a:xfrm flipH="1">
            <a:off x="3435061" y="3741360"/>
            <a:ext cx="267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feld 48"/>
          <p:cNvSpPr txBox="1"/>
          <p:nvPr/>
        </p:nvSpPr>
        <p:spPr>
          <a:xfrm flipH="1">
            <a:off x="5163082" y="3727602"/>
            <a:ext cx="267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feld 49"/>
          <p:cNvSpPr txBox="1"/>
          <p:nvPr/>
        </p:nvSpPr>
        <p:spPr>
          <a:xfrm flipH="1">
            <a:off x="6200262" y="3260283"/>
            <a:ext cx="267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Gerader Verbinder 50"/>
          <p:cNvCxnSpPr/>
          <p:nvPr/>
        </p:nvCxnSpPr>
        <p:spPr>
          <a:xfrm>
            <a:off x="3414458" y="4937364"/>
            <a:ext cx="6408" cy="521921"/>
          </a:xfrm>
          <a:prstGeom prst="line">
            <a:avLst/>
          </a:prstGeom>
          <a:ln w="412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54"/>
          <p:cNvSpPr/>
          <p:nvPr/>
        </p:nvSpPr>
        <p:spPr>
          <a:xfrm>
            <a:off x="3283287" y="5459285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9" name="Textfeld 58"/>
          <p:cNvSpPr txBox="1"/>
          <p:nvPr/>
        </p:nvSpPr>
        <p:spPr>
          <a:xfrm flipH="1">
            <a:off x="3304906" y="5466426"/>
            <a:ext cx="267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feld 59"/>
          <p:cNvSpPr txBox="1"/>
          <p:nvPr/>
        </p:nvSpPr>
        <p:spPr>
          <a:xfrm>
            <a:off x="6172958" y="4788330"/>
            <a:ext cx="492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Gerader Verbinder 60"/>
          <p:cNvCxnSpPr/>
          <p:nvPr/>
        </p:nvCxnSpPr>
        <p:spPr>
          <a:xfrm flipH="1">
            <a:off x="1257867" y="5593915"/>
            <a:ext cx="202284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/>
          <p:cNvCxnSpPr/>
          <p:nvPr/>
        </p:nvCxnSpPr>
        <p:spPr>
          <a:xfrm flipH="1">
            <a:off x="1248861" y="4922218"/>
            <a:ext cx="49005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/>
          <p:cNvCxnSpPr/>
          <p:nvPr/>
        </p:nvCxnSpPr>
        <p:spPr>
          <a:xfrm>
            <a:off x="6277877" y="4272311"/>
            <a:ext cx="6408" cy="507600"/>
          </a:xfrm>
          <a:prstGeom prst="line">
            <a:avLst/>
          </a:prstGeom>
          <a:ln w="412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35"/>
          <p:cNvSpPr/>
          <p:nvPr/>
        </p:nvSpPr>
        <p:spPr>
          <a:xfrm>
            <a:off x="6149285" y="4776419"/>
            <a:ext cx="270000" cy="27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8" name="Rechteck 37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hangingPunct="0"/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Resilience – outcome-based operationalization</a:t>
            </a:r>
            <a:endParaRPr lang="en-GB" dirty="0">
              <a:solidFill>
                <a:prstClr val="black"/>
              </a:solidFill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grpSp>
        <p:nvGrpSpPr>
          <p:cNvPr id="39" name="Gruppieren 38"/>
          <p:cNvGrpSpPr/>
          <p:nvPr/>
        </p:nvGrpSpPr>
        <p:grpSpPr>
          <a:xfrm>
            <a:off x="4436321" y="2093977"/>
            <a:ext cx="752578" cy="475863"/>
            <a:chOff x="4436321" y="2093977"/>
            <a:chExt cx="752578" cy="475863"/>
          </a:xfrm>
        </p:grpSpPr>
        <p:sp>
          <p:nvSpPr>
            <p:cNvPr id="40" name="Rechteck 39"/>
            <p:cNvSpPr/>
            <p:nvPr/>
          </p:nvSpPr>
          <p:spPr>
            <a:xfrm>
              <a:off x="4572000" y="2093977"/>
              <a:ext cx="475488" cy="45719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de-DE" u="sng" dirty="0" err="1">
                <a:latin typeface="Arial"/>
                <a:cs typeface="Arial"/>
              </a:endParaRPr>
            </a:p>
          </p:txBody>
        </p:sp>
        <p:sp>
          <p:nvSpPr>
            <p:cNvPr id="41" name="Textfeld 40"/>
            <p:cNvSpPr txBox="1"/>
            <p:nvPr/>
          </p:nvSpPr>
          <p:spPr>
            <a:xfrm>
              <a:off x="4436321" y="2108175"/>
              <a:ext cx="7525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Average</a:t>
              </a:r>
            </a:p>
            <a:p>
              <a:pPr algn="ctr"/>
              <a:r>
                <a:rPr lang="en-GB" sz="1200" dirty="0">
                  <a:latin typeface="Arial" panose="020B0604020202020204" pitchFamily="34" charset="0"/>
                  <a:cs typeface="Arial" panose="020B0604020202020204" pitchFamily="34" charset="0"/>
                </a:rPr>
                <a:t>T1…T3</a:t>
              </a:r>
              <a:endParaRPr lang="de-DE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2" b="58449"/>
          <a:stretch/>
        </p:blipFill>
        <p:spPr bwMode="auto">
          <a:xfrm>
            <a:off x="4390416" y="1008170"/>
            <a:ext cx="4466603" cy="10858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1" name="Rechteck 30"/>
          <p:cNvSpPr/>
          <p:nvPr/>
        </p:nvSpPr>
        <p:spPr>
          <a:xfrm>
            <a:off x="2717810" y="3931036"/>
            <a:ext cx="3788401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hangingPunct="0">
              <a:tabLst>
                <a:tab pos="1795463" algn="l"/>
              </a:tabLst>
            </a:pPr>
            <a:r>
              <a:rPr lang="de-DE" b="1" dirty="0">
                <a:solidFill>
                  <a:schemeClr val="bg1"/>
                </a:solidFill>
                <a:latin typeface="Arial"/>
                <a:cs typeface="Arial"/>
                <a:sym typeface="Wingdings" panose="05000000000000000000" pitchFamily="2" charset="2"/>
              </a:rPr>
              <a:t> </a:t>
            </a:r>
            <a:r>
              <a:rPr lang="de-DE" b="1" dirty="0">
                <a:solidFill>
                  <a:schemeClr val="bg1"/>
                </a:solidFill>
                <a:latin typeface="Arial"/>
                <a:cs typeface="Arial"/>
              </a:rPr>
              <a:t>Stressor </a:t>
            </a:r>
            <a:r>
              <a:rPr lang="de-DE" b="1" dirty="0" err="1">
                <a:solidFill>
                  <a:schemeClr val="bg1"/>
                </a:solidFill>
                <a:latin typeface="Arial"/>
                <a:cs typeface="Arial"/>
              </a:rPr>
              <a:t>reactivity</a:t>
            </a:r>
            <a:r>
              <a:rPr lang="de-DE" b="1" dirty="0">
                <a:solidFill>
                  <a:schemeClr val="bg1"/>
                </a:solidFill>
                <a:latin typeface="Arial"/>
                <a:cs typeface="Arial"/>
              </a:rPr>
              <a:t> (SR) score</a:t>
            </a:r>
            <a:endParaRPr lang="en-GB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788298D-05B7-47E9-91A6-D9749E1498E4}"/>
              </a:ext>
            </a:extLst>
          </p:cNvPr>
          <p:cNvSpPr txBox="1"/>
          <p:nvPr/>
        </p:nvSpPr>
        <p:spPr>
          <a:xfrm>
            <a:off x="6444083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 </a:t>
            </a:r>
          </a:p>
        </p:txBody>
      </p:sp>
      <p:pic>
        <p:nvPicPr>
          <p:cNvPr id="43" name="Grafik 42" descr="Ein Bild, das Menschliches Gesicht, Person, Bart, Mann enthält.&#10;&#10;Automatisch generierte Beschreibung">
            <a:extLst>
              <a:ext uri="{FF2B5EF4-FFF2-40B4-BE49-F238E27FC236}">
                <a16:creationId xmlns:a16="http://schemas.microsoft.com/office/drawing/2014/main" id="{461CDE95-C89D-425F-B1C3-5E7CA025F7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9819" r="18100" b="22082"/>
          <a:stretch/>
        </p:blipFill>
        <p:spPr>
          <a:xfrm>
            <a:off x="7556744" y="4610288"/>
            <a:ext cx="1200560" cy="1506808"/>
          </a:xfrm>
          <a:prstGeom prst="rect">
            <a:avLst/>
          </a:prstGeom>
        </p:spPr>
      </p:pic>
      <p:sp>
        <p:nvSpPr>
          <p:cNvPr id="44" name="Textfeld 43">
            <a:extLst>
              <a:ext uri="{FF2B5EF4-FFF2-40B4-BE49-F238E27FC236}">
                <a16:creationId xmlns:a16="http://schemas.microsoft.com/office/drawing/2014/main" id="{A9EC093C-5457-4028-BFF3-17B09D699322}"/>
              </a:ext>
            </a:extLst>
          </p:cNvPr>
          <p:cNvSpPr txBox="1"/>
          <p:nvPr/>
        </p:nvSpPr>
        <p:spPr>
          <a:xfrm>
            <a:off x="7556744" y="5850894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Haakon Engen</a:t>
            </a:r>
          </a:p>
        </p:txBody>
      </p:sp>
    </p:spTree>
    <p:extLst>
      <p:ext uri="{BB962C8B-B14F-4D97-AF65-F5344CB8AC3E}">
        <p14:creationId xmlns:p14="http://schemas.microsoft.com/office/powerpoint/2010/main" val="409854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B729A2A2-B54E-4CB1-8B76-BFF8FB9A7D9C}"/>
              </a:ext>
            </a:extLst>
          </p:cNvPr>
          <p:cNvSpPr/>
          <p:nvPr/>
        </p:nvSpPr>
        <p:spPr>
          <a:xfrm>
            <a:off x="130124" y="357235"/>
            <a:ext cx="88375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  <a:sym typeface="Wingdings" panose="05000000000000000000" pitchFamily="2" charset="2"/>
              </a:rPr>
              <a:t>Identifying resilience factors</a:t>
            </a:r>
            <a:endParaRPr lang="en-GB" dirty="0">
              <a:latin typeface="Arial"/>
              <a:cs typeface="Arial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F993AFF-738F-429C-95DF-DB2CED776836}"/>
              </a:ext>
            </a:extLst>
          </p:cNvPr>
          <p:cNvGrpSpPr/>
          <p:nvPr/>
        </p:nvGrpSpPr>
        <p:grpSpPr>
          <a:xfrm>
            <a:off x="1143394" y="1654308"/>
            <a:ext cx="6503031" cy="1993657"/>
            <a:chOff x="1260850" y="2481794"/>
            <a:chExt cx="6503031" cy="1993657"/>
          </a:xfrm>
        </p:grpSpPr>
        <p:pic>
          <p:nvPicPr>
            <p:cNvPr id="5" name="Grafik 8">
              <a:extLst>
                <a:ext uri="{FF2B5EF4-FFF2-40B4-BE49-F238E27FC236}">
                  <a16:creationId xmlns:a16="http://schemas.microsoft.com/office/drawing/2014/main" id="{1301B2C6-791A-4FBD-9679-59207C236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9696" y="2507515"/>
              <a:ext cx="6296729" cy="1866689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DB92A0A9-0AF8-495E-9272-49F608272B3C}"/>
                </a:ext>
              </a:extLst>
            </p:cNvPr>
            <p:cNvSpPr txBox="1"/>
            <p:nvPr/>
          </p:nvSpPr>
          <p:spPr>
            <a:xfrm flipH="1">
              <a:off x="2446148" y="2481794"/>
              <a:ext cx="360620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Online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stressor</a:t>
              </a:r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&amp; mental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health</a:t>
              </a:r>
              <a:r>
                <a:rPr lang="de-DE" sz="13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1300" b="1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monitoring</a:t>
              </a:r>
              <a:endParaRPr lang="en-US" sz="13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F3FC2D03-A210-435E-A643-937638F3A680}"/>
                </a:ext>
              </a:extLst>
            </p:cNvPr>
            <p:cNvSpPr/>
            <p:nvPr/>
          </p:nvSpPr>
          <p:spPr>
            <a:xfrm>
              <a:off x="1260850" y="3947257"/>
              <a:ext cx="6503031" cy="528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en-US" u="sng" dirty="0" err="1">
                <a:latin typeface="Arial"/>
                <a:cs typeface="Arial"/>
              </a:endParaRPr>
            </a:p>
          </p:txBody>
        </p: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F1EC6391-DBCE-4591-B208-80737AF25989}"/>
                </a:ext>
              </a:extLst>
            </p:cNvPr>
            <p:cNvGrpSpPr/>
            <p:nvPr/>
          </p:nvGrpSpPr>
          <p:grpSpPr>
            <a:xfrm>
              <a:off x="1499388" y="3444674"/>
              <a:ext cx="1169978" cy="485543"/>
              <a:chOff x="1499388" y="3444674"/>
              <a:chExt cx="1169978" cy="485543"/>
            </a:xfrm>
          </p:grpSpPr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FD0E1DCE-DFBC-4646-B0AD-966DF2A8DABB}"/>
                  </a:ext>
                </a:extLst>
              </p:cNvPr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16BC1778-1D81-4CFD-9674-3C225FA5A707}"/>
                  </a:ext>
                </a:extLst>
              </p:cNvPr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id="{FE9883A2-38E8-4CC4-8D66-7F81901C1750}"/>
                    </a:ext>
                  </a:extLst>
                </p:cNvPr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39978A8D-A377-4A11-8627-8C9802230475}"/>
                    </a:ext>
                  </a:extLst>
                </p:cNvPr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4C01EFCA-CE82-4ED4-A196-C28B25160FA2}"/>
                </a:ext>
              </a:extLst>
            </p:cNvPr>
            <p:cNvGrpSpPr/>
            <p:nvPr/>
          </p:nvGrpSpPr>
          <p:grpSpPr>
            <a:xfrm>
              <a:off x="3060514" y="3443508"/>
              <a:ext cx="1169978" cy="485543"/>
              <a:chOff x="1499388" y="3444674"/>
              <a:chExt cx="1169978" cy="485543"/>
            </a:xfrm>
          </p:grpSpPr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83B145DC-96B6-4E1F-BA13-03FDCB03EE7E}"/>
                  </a:ext>
                </a:extLst>
              </p:cNvPr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21" name="Gruppieren 20">
                <a:extLst>
                  <a:ext uri="{FF2B5EF4-FFF2-40B4-BE49-F238E27FC236}">
                    <a16:creationId xmlns:a16="http://schemas.microsoft.com/office/drawing/2014/main" id="{F67D7907-9F3F-4646-BDBC-2CB3BC86DE06}"/>
                  </a:ext>
                </a:extLst>
              </p:cNvPr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C8F9B3CA-B353-43EC-8A1B-75488EA98774}"/>
                    </a:ext>
                  </a:extLst>
                </p:cNvPr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D61D3680-E543-4C57-B7B7-9E0426AA2C52}"/>
                    </a:ext>
                  </a:extLst>
                </p:cNvPr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E828FFBD-9E51-4DFE-81A5-D90BC2864945}"/>
                </a:ext>
              </a:extLst>
            </p:cNvPr>
            <p:cNvGrpSpPr/>
            <p:nvPr/>
          </p:nvGrpSpPr>
          <p:grpSpPr>
            <a:xfrm>
              <a:off x="4621640" y="3455325"/>
              <a:ext cx="1169978" cy="485543"/>
              <a:chOff x="1499388" y="3444674"/>
              <a:chExt cx="1169978" cy="485543"/>
            </a:xfrm>
          </p:grpSpPr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C9B3FDFC-B4F6-4CC8-BDCD-864F00F471C7}"/>
                  </a:ext>
                </a:extLst>
              </p:cNvPr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17" name="Gruppieren 16">
                <a:extLst>
                  <a:ext uri="{FF2B5EF4-FFF2-40B4-BE49-F238E27FC236}">
                    <a16:creationId xmlns:a16="http://schemas.microsoft.com/office/drawing/2014/main" id="{4C87B98F-2FE2-4F31-9284-7D29CCC39A04}"/>
                  </a:ext>
                </a:extLst>
              </p:cNvPr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C745E5C5-38DE-4C5B-B461-5EB414F85B49}"/>
                    </a:ext>
                  </a:extLst>
                </p:cNvPr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19" name="Textfeld 18">
                  <a:extLst>
                    <a:ext uri="{FF2B5EF4-FFF2-40B4-BE49-F238E27FC236}">
                      <a16:creationId xmlns:a16="http://schemas.microsoft.com/office/drawing/2014/main" id="{9C4FA72F-D61A-457B-A5A5-896D67E87F51}"/>
                    </a:ext>
                  </a:extLst>
                </p:cNvPr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E2FB7354-2104-4D01-8681-BAE1922962E3}"/>
                </a:ext>
              </a:extLst>
            </p:cNvPr>
            <p:cNvGrpSpPr/>
            <p:nvPr/>
          </p:nvGrpSpPr>
          <p:grpSpPr>
            <a:xfrm>
              <a:off x="6182766" y="3455325"/>
              <a:ext cx="1169978" cy="485543"/>
              <a:chOff x="1499388" y="3444674"/>
              <a:chExt cx="1169978" cy="485543"/>
            </a:xfrm>
          </p:grpSpPr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67691D3C-6DE9-4716-9E74-ACF7D68266F1}"/>
                  </a:ext>
                </a:extLst>
              </p:cNvPr>
              <p:cNvSpPr/>
              <p:nvPr/>
            </p:nvSpPr>
            <p:spPr>
              <a:xfrm>
                <a:off x="1499388" y="3444674"/>
                <a:ext cx="1169978" cy="485543"/>
              </a:xfrm>
              <a:prstGeom prst="ellipse">
                <a:avLst/>
              </a:prstGeom>
              <a:solidFill>
                <a:srgbClr val="92D050"/>
              </a:solidFill>
            </p:spPr>
            <p:txBody>
              <a:bodyPr wrap="square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endParaRPr lang="en-US" u="sng" dirty="0" err="1">
                  <a:latin typeface="Arial"/>
                  <a:cs typeface="Arial"/>
                </a:endParaRPr>
              </a:p>
            </p:txBody>
          </p:sp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204BABE1-67ED-48F7-A25D-ED796EBA96CE}"/>
                  </a:ext>
                </a:extLst>
              </p:cNvPr>
              <p:cNvGrpSpPr/>
              <p:nvPr/>
            </p:nvGrpSpPr>
            <p:grpSpPr>
              <a:xfrm>
                <a:off x="1505068" y="3501614"/>
                <a:ext cx="1118863" cy="369332"/>
                <a:chOff x="1505068" y="3501614"/>
                <a:chExt cx="1118863" cy="369332"/>
              </a:xfrm>
            </p:grpSpPr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id="{59C53DF9-FD60-4CC6-867E-BDDA120D09A5}"/>
                    </a:ext>
                  </a:extLst>
                </p:cNvPr>
                <p:cNvSpPr/>
                <p:nvPr/>
              </p:nvSpPr>
              <p:spPr>
                <a:xfrm>
                  <a:off x="1505068" y="3646241"/>
                  <a:ext cx="1118862" cy="45719"/>
                </a:xfrm>
                <a:prstGeom prst="ellipse">
                  <a:avLst/>
                </a:prstGeom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endParaRPr lang="en-US" u="sng" dirty="0" err="1">
                    <a:latin typeface="Arial"/>
                    <a:cs typeface="Arial"/>
                  </a:endParaRPr>
                </a:p>
              </p:txBody>
            </p:sp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4E57D46E-839E-4FF1-87CA-E48434395FCB}"/>
                    </a:ext>
                  </a:extLst>
                </p:cNvPr>
                <p:cNvSpPr txBox="1"/>
                <p:nvPr/>
              </p:nvSpPr>
              <p:spPr>
                <a:xfrm>
                  <a:off x="1615819" y="3501614"/>
                  <a:ext cx="10081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Battery</a:t>
                  </a:r>
                  <a:endParaRPr lang="en-US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28" name="Ellipse 27">
            <a:extLst>
              <a:ext uri="{FF2B5EF4-FFF2-40B4-BE49-F238E27FC236}">
                <a16:creationId xmlns:a16="http://schemas.microsoft.com/office/drawing/2014/main" id="{1D26C274-B829-4024-8891-9020D7969F74}"/>
              </a:ext>
            </a:extLst>
          </p:cNvPr>
          <p:cNvSpPr/>
          <p:nvPr/>
        </p:nvSpPr>
        <p:spPr>
          <a:xfrm>
            <a:off x="5730619" y="4566320"/>
            <a:ext cx="954156" cy="374848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1485AD6A-7F37-4F57-AEE4-480F235AD5E0}"/>
              </a:ext>
            </a:extLst>
          </p:cNvPr>
          <p:cNvSpPr/>
          <p:nvPr/>
        </p:nvSpPr>
        <p:spPr>
          <a:xfrm>
            <a:off x="619066" y="2595535"/>
            <a:ext cx="7116417" cy="71561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1BCF6B14-F958-4613-ADC0-2D43DB6D22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14"/>
          <a:stretch/>
        </p:blipFill>
        <p:spPr bwMode="auto">
          <a:xfrm>
            <a:off x="899106" y="1128860"/>
            <a:ext cx="7299545" cy="36489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59EE9D7B-13B3-471A-A7DD-F9AF538C1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860" y="3051663"/>
            <a:ext cx="3387757" cy="71349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12DA3C88-EA31-4EB8-B630-2D5B5465D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896" y="4200368"/>
            <a:ext cx="3401941" cy="713774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AF80EB80-8B2C-4AAD-AA4A-521CAEAAD868}"/>
              </a:ext>
            </a:extLst>
          </p:cNvPr>
          <p:cNvSpPr txBox="1"/>
          <p:nvPr/>
        </p:nvSpPr>
        <p:spPr>
          <a:xfrm>
            <a:off x="8089562" y="3068523"/>
            <a:ext cx="33420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N=132</a:t>
            </a:r>
          </a:p>
          <a:p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EV=22%</a:t>
            </a:r>
          </a:p>
          <a:p>
            <a:endParaRPr lang="de-DE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N=1034</a:t>
            </a:r>
          </a:p>
          <a:p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EV=13%</a:t>
            </a: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2E47E4AE-2372-4326-8B27-1C9BC3CE6323}"/>
              </a:ext>
            </a:extLst>
          </p:cNvPr>
          <p:cNvGrpSpPr/>
          <p:nvPr/>
        </p:nvGrpSpPr>
        <p:grpSpPr>
          <a:xfrm>
            <a:off x="1195450" y="1626037"/>
            <a:ext cx="4351352" cy="1109046"/>
            <a:chOff x="1195450" y="1626037"/>
            <a:chExt cx="4351352" cy="1109046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33651BF6-3270-4F0A-8402-6DC080CC650A}"/>
                </a:ext>
              </a:extLst>
            </p:cNvPr>
            <p:cNvSpPr/>
            <p:nvPr/>
          </p:nvSpPr>
          <p:spPr>
            <a:xfrm>
              <a:off x="1195450" y="1924018"/>
              <a:ext cx="4016511" cy="811065"/>
            </a:xfrm>
            <a:prstGeom prst="ellipse">
              <a:avLst/>
            </a:prstGeom>
            <a:noFill/>
            <a:ln w="2857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2BA06A14-E62A-4C08-AF36-FE35CD50C8A7}"/>
                </a:ext>
              </a:extLst>
            </p:cNvPr>
            <p:cNvSpPr txBox="1"/>
            <p:nvPr/>
          </p:nvSpPr>
          <p:spPr>
            <a:xfrm>
              <a:off x="3770032" y="1626037"/>
              <a:ext cx="17767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Long-term SR</a:t>
              </a:r>
            </a:p>
          </p:txBody>
        </p:sp>
      </p:grpSp>
      <p:sp>
        <p:nvSpPr>
          <p:cNvPr id="44" name="Rechteck 43">
            <a:extLst>
              <a:ext uri="{FF2B5EF4-FFF2-40B4-BE49-F238E27FC236}">
                <a16:creationId xmlns:a16="http://schemas.microsoft.com/office/drawing/2014/main" id="{46A75F01-DEFE-4C6C-A19C-6BB3404EC751}"/>
              </a:ext>
            </a:extLst>
          </p:cNvPr>
          <p:cNvSpPr/>
          <p:nvPr/>
        </p:nvSpPr>
        <p:spPr>
          <a:xfrm>
            <a:off x="873166" y="3839185"/>
            <a:ext cx="8270834" cy="118263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3FE70F25-A25F-418B-B3CB-34F2859CF56D}"/>
              </a:ext>
            </a:extLst>
          </p:cNvPr>
          <p:cNvGrpSpPr/>
          <p:nvPr/>
        </p:nvGrpSpPr>
        <p:grpSpPr>
          <a:xfrm>
            <a:off x="899106" y="5216685"/>
            <a:ext cx="786490" cy="839291"/>
            <a:chOff x="899106" y="5216685"/>
            <a:chExt cx="786490" cy="839291"/>
          </a:xfrm>
        </p:grpSpPr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6BF4C0AB-173E-49F2-A42C-10B35B675527}"/>
                </a:ext>
              </a:extLst>
            </p:cNvPr>
            <p:cNvSpPr txBox="1"/>
            <p:nvPr/>
          </p:nvSpPr>
          <p:spPr>
            <a:xfrm>
              <a:off x="899106" y="5501978"/>
              <a:ext cx="786490" cy="553998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Battery</a:t>
              </a:r>
              <a:endPara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de-DE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Variable PAS(B0)</a:t>
              </a:r>
            </a:p>
          </p:txBody>
        </p: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751D9777-11ED-4B7E-A258-3E68F38E10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5110" y="5216685"/>
              <a:ext cx="0" cy="291025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51562563-DBCE-4F27-A90D-C450C2A20210}"/>
              </a:ext>
            </a:extLst>
          </p:cNvPr>
          <p:cNvSpPr txBox="1"/>
          <p:nvPr/>
        </p:nvSpPr>
        <p:spPr>
          <a:xfrm>
            <a:off x="6144237" y="6277464"/>
            <a:ext cx="3487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Petri-Romão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Nat Commun 2025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507C90B-5609-3936-83BB-E3B2646126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483" y="4815322"/>
            <a:ext cx="1088322" cy="1476272"/>
          </a:xfrm>
          <a:prstGeom prst="rect">
            <a:avLst/>
          </a:prstGeom>
        </p:spPr>
      </p:pic>
      <p:sp>
        <p:nvSpPr>
          <p:cNvPr id="35" name="Textfeld 34">
            <a:extLst>
              <a:ext uri="{FF2B5EF4-FFF2-40B4-BE49-F238E27FC236}">
                <a16:creationId xmlns:a16="http://schemas.microsoft.com/office/drawing/2014/main" id="{492BEBB7-BB49-D5FE-67CF-65D125BF73E2}"/>
              </a:ext>
            </a:extLst>
          </p:cNvPr>
          <p:cNvSpPr txBox="1"/>
          <p:nvPr/>
        </p:nvSpPr>
        <p:spPr>
          <a:xfrm>
            <a:off x="7705899" y="5779559"/>
            <a:ext cx="1353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e-DE" sz="1400" b="1" dirty="0">
                <a:solidFill>
                  <a:srgbClr val="FFFFFF"/>
                </a:solidFill>
                <a:latin typeface="Tw Cen MT"/>
              </a:rPr>
              <a:t>Papoula Petri-Romão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29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DD949-D383-84B1-66A6-348F3DA7B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F2DBCF-6D42-9567-515F-E93DBA6F9C2F}"/>
              </a:ext>
            </a:extLst>
          </p:cNvPr>
          <p:cNvSpPr/>
          <p:nvPr/>
        </p:nvSpPr>
        <p:spPr>
          <a:xfrm>
            <a:off x="130124" y="357235"/>
            <a:ext cx="88375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  <a:sym typeface="Wingdings" panose="05000000000000000000" pitchFamily="2" charset="2"/>
              </a:rPr>
              <a:t>Identifying resilience factors</a:t>
            </a:r>
            <a:endParaRPr lang="en-GB" dirty="0">
              <a:latin typeface="Arial"/>
              <a:cs typeface="Arial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03039E38-6F59-4007-C64E-7626E181670B}"/>
              </a:ext>
            </a:extLst>
          </p:cNvPr>
          <p:cNvSpPr txBox="1"/>
          <p:nvPr/>
        </p:nvSpPr>
        <p:spPr>
          <a:xfrm>
            <a:off x="7459918" y="6277464"/>
            <a:ext cx="1664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Koc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revis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BC6A915C-9FA7-3112-4792-860A3C92C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064" y="487007"/>
            <a:ext cx="3488123" cy="268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33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35501-DFC9-CF29-C141-C927BD0B3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fik 35" descr="D. (Dogukan) Koc, PhD Student - Researcher - Erasmus MC">
            <a:extLst>
              <a:ext uri="{FF2B5EF4-FFF2-40B4-BE49-F238E27FC236}">
                <a16:creationId xmlns:a16="http://schemas.microsoft.com/office/drawing/2014/main" id="{38E0CCFD-1477-4128-56C9-FB524DB2BA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24" r="16569"/>
          <a:stretch>
            <a:fillRect/>
          </a:stretch>
        </p:blipFill>
        <p:spPr>
          <a:xfrm>
            <a:off x="7532288" y="4385994"/>
            <a:ext cx="1249899" cy="1846068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453C0998-AF51-CE09-4DD5-13BD4017D8AC}"/>
              </a:ext>
            </a:extLst>
          </p:cNvPr>
          <p:cNvSpPr/>
          <p:nvPr/>
        </p:nvSpPr>
        <p:spPr>
          <a:xfrm>
            <a:off x="130124" y="357235"/>
            <a:ext cx="88375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  <a:sym typeface="Wingdings" panose="05000000000000000000" pitchFamily="2" charset="2"/>
              </a:rPr>
              <a:t>Identifying resilience factors</a:t>
            </a:r>
            <a:endParaRPr lang="en-GB" dirty="0">
              <a:latin typeface="Arial"/>
              <a:cs typeface="Arial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AC75AC59-4825-DAF2-8AE1-072A9D5B3672}"/>
              </a:ext>
            </a:extLst>
          </p:cNvPr>
          <p:cNvSpPr txBox="1"/>
          <p:nvPr/>
        </p:nvSpPr>
        <p:spPr>
          <a:xfrm>
            <a:off x="7459918" y="6277464"/>
            <a:ext cx="1664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Koc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revis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DC4F827F-0F83-76D0-4306-55DA0ECCE8C0}"/>
              </a:ext>
            </a:extLst>
          </p:cNvPr>
          <p:cNvSpPr txBox="1"/>
          <p:nvPr/>
        </p:nvSpPr>
        <p:spPr>
          <a:xfrm>
            <a:off x="7528283" y="5924285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e-DE" sz="1400" b="1" dirty="0">
                <a:solidFill>
                  <a:srgbClr val="FFFFFF"/>
                </a:solidFill>
                <a:latin typeface="Tw Cen MT"/>
              </a:rPr>
              <a:t>Dogukan Koc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460C7E33-3F49-77DB-5D9F-A3E13949803C}"/>
              </a:ext>
            </a:extLst>
          </p:cNvPr>
          <p:cNvSpPr txBox="1"/>
          <p:nvPr/>
        </p:nvSpPr>
        <p:spPr>
          <a:xfrm>
            <a:off x="643147" y="1563323"/>
            <a:ext cx="6970079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Association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with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SR: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self-esteem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-0.31,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prosocial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behavior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-0.27,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friendship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quality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-0.13,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indent="45720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800" dirty="0">
                <a:effectLst/>
                <a:latin typeface="+mn-lt"/>
                <a:ea typeface="Calibri" panose="020F0502020204030204" pitchFamily="34" charset="0"/>
              </a:rPr>
              <a:t> </a:t>
            </a:r>
            <a:endParaRPr lang="de-DE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662AF0EE-E79C-C788-1DAC-58BB43C41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064" y="487007"/>
            <a:ext cx="3488123" cy="268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392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DC224-86DA-211C-EC44-761A05997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fik 35" descr="D. (Dogukan) Koc, PhD Student - Researcher - Erasmus MC">
            <a:extLst>
              <a:ext uri="{FF2B5EF4-FFF2-40B4-BE49-F238E27FC236}">
                <a16:creationId xmlns:a16="http://schemas.microsoft.com/office/drawing/2014/main" id="{4C2011E2-25B2-53D6-1EFA-B36173EAD0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24" r="16569"/>
          <a:stretch>
            <a:fillRect/>
          </a:stretch>
        </p:blipFill>
        <p:spPr>
          <a:xfrm>
            <a:off x="7532288" y="4385994"/>
            <a:ext cx="1249899" cy="1846068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6883F76F-7078-9B60-0356-39A47A7DD024}"/>
              </a:ext>
            </a:extLst>
          </p:cNvPr>
          <p:cNvSpPr/>
          <p:nvPr/>
        </p:nvSpPr>
        <p:spPr>
          <a:xfrm>
            <a:off x="130124" y="357235"/>
            <a:ext cx="88375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  <a:sym typeface="Wingdings" panose="05000000000000000000" pitchFamily="2" charset="2"/>
              </a:rPr>
              <a:t>Identifying resilience factors</a:t>
            </a:r>
            <a:endParaRPr lang="en-GB" dirty="0">
              <a:latin typeface="Arial"/>
              <a:cs typeface="Arial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6A7D5816-7342-A9D6-2EBA-B28D47B28780}"/>
              </a:ext>
            </a:extLst>
          </p:cNvPr>
          <p:cNvSpPr txBox="1"/>
          <p:nvPr/>
        </p:nvSpPr>
        <p:spPr>
          <a:xfrm>
            <a:off x="7459918" y="6277464"/>
            <a:ext cx="1664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Koc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revis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4D0C0A68-4B53-F807-B7DA-46BDEC8F5C5C}"/>
              </a:ext>
            </a:extLst>
          </p:cNvPr>
          <p:cNvSpPr txBox="1"/>
          <p:nvPr/>
        </p:nvSpPr>
        <p:spPr>
          <a:xfrm>
            <a:off x="7528283" y="5924285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e-DE" sz="1400" b="1" dirty="0">
                <a:solidFill>
                  <a:srgbClr val="FFFFFF"/>
                </a:solidFill>
                <a:latin typeface="Tw Cen MT"/>
              </a:rPr>
              <a:t>Dogukan Koc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3A5C5303-E292-B56C-F3D0-8403715FE846}"/>
              </a:ext>
            </a:extLst>
          </p:cNvPr>
          <p:cNvSpPr txBox="1"/>
          <p:nvPr/>
        </p:nvSpPr>
        <p:spPr>
          <a:xfrm>
            <a:off x="643147" y="1563323"/>
            <a:ext cx="6970079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Association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with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SR: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self-esteem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-0.31,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prosocial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behavior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-0.27,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friendship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quality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-0.13,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IQ: </a:t>
            </a:r>
            <a:r>
              <a:rPr lang="de-DE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-0.04, </a:t>
            </a:r>
            <a:r>
              <a:rPr lang="de-DE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.242</a:t>
            </a:r>
          </a:p>
          <a:p>
            <a:pPr indent="45720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800" dirty="0">
                <a:effectLst/>
                <a:latin typeface="+mn-lt"/>
                <a:ea typeface="Calibri" panose="020F0502020204030204" pitchFamily="34" charset="0"/>
              </a:rPr>
              <a:t> </a:t>
            </a:r>
            <a:endParaRPr lang="de-DE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BE895285-D438-1957-BAE9-D7B200E18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064" y="487007"/>
            <a:ext cx="3488123" cy="268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039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FA9B0-D44A-04EE-D92D-580FBD61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fik 35" descr="D. (Dogukan) Koc, PhD Student - Researcher - Erasmus MC">
            <a:extLst>
              <a:ext uri="{FF2B5EF4-FFF2-40B4-BE49-F238E27FC236}">
                <a16:creationId xmlns:a16="http://schemas.microsoft.com/office/drawing/2014/main" id="{510DE77F-EE56-60F1-C9C5-E1476E71AC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24" r="16569"/>
          <a:stretch>
            <a:fillRect/>
          </a:stretch>
        </p:blipFill>
        <p:spPr>
          <a:xfrm>
            <a:off x="7532288" y="4385994"/>
            <a:ext cx="1249899" cy="1846068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160E5991-DA8A-0D3C-CE33-4FCD71295D78}"/>
              </a:ext>
            </a:extLst>
          </p:cNvPr>
          <p:cNvSpPr/>
          <p:nvPr/>
        </p:nvSpPr>
        <p:spPr>
          <a:xfrm>
            <a:off x="130124" y="357235"/>
            <a:ext cx="88375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  <a:sym typeface="Wingdings" panose="05000000000000000000" pitchFamily="2" charset="2"/>
              </a:rPr>
              <a:t>Identifying resilience factors</a:t>
            </a:r>
            <a:endParaRPr lang="en-GB" dirty="0">
              <a:latin typeface="Arial"/>
              <a:cs typeface="Arial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2A16427C-0368-1117-1EEE-D2DF9E2EE565}"/>
              </a:ext>
            </a:extLst>
          </p:cNvPr>
          <p:cNvSpPr txBox="1"/>
          <p:nvPr/>
        </p:nvSpPr>
        <p:spPr>
          <a:xfrm>
            <a:off x="7459918" y="6277464"/>
            <a:ext cx="1664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Koc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revis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0EB4C02-7178-AB4B-D0D2-1053704421C3}"/>
              </a:ext>
            </a:extLst>
          </p:cNvPr>
          <p:cNvSpPr txBox="1"/>
          <p:nvPr/>
        </p:nvSpPr>
        <p:spPr>
          <a:xfrm>
            <a:off x="7528283" y="5924285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e-DE" sz="1400" b="1" dirty="0">
                <a:solidFill>
                  <a:srgbClr val="FFFFFF"/>
                </a:solidFill>
                <a:latin typeface="Tw Cen MT"/>
              </a:rPr>
              <a:t>Dogukan Koc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B3D49F80-F318-3038-1C36-3191719E16E9}"/>
              </a:ext>
            </a:extLst>
          </p:cNvPr>
          <p:cNvSpPr txBox="1"/>
          <p:nvPr/>
        </p:nvSpPr>
        <p:spPr>
          <a:xfrm>
            <a:off x="643147" y="1563323"/>
            <a:ext cx="6970079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Association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with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SR: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self-esteem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-0.31,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prosocial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behavior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-0.27,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friendship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quality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-0.13,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IQ: </a:t>
            </a:r>
            <a:r>
              <a:rPr lang="de-DE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-0.04, </a:t>
            </a:r>
            <a:r>
              <a:rPr lang="de-DE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.242</a:t>
            </a:r>
          </a:p>
          <a:p>
            <a:pPr indent="45720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ALTHOUGH:</a:t>
            </a:r>
          </a:p>
          <a:p>
            <a:pPr indent="45720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IQ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~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-0.11,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indent="45720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800" dirty="0">
                <a:effectLst/>
                <a:latin typeface="+mn-lt"/>
                <a:ea typeface="Calibri" panose="020F0502020204030204" pitchFamily="34" charset="0"/>
              </a:rPr>
              <a:t> </a:t>
            </a:r>
            <a:endParaRPr lang="de-DE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E6895217-6B26-EE02-8972-EAE6ABA76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064" y="487007"/>
            <a:ext cx="3488123" cy="268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238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248FC-CF8C-6723-2D9C-447D465A1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fik 35" descr="D. (Dogukan) Koc, PhD Student - Researcher - Erasmus MC">
            <a:extLst>
              <a:ext uri="{FF2B5EF4-FFF2-40B4-BE49-F238E27FC236}">
                <a16:creationId xmlns:a16="http://schemas.microsoft.com/office/drawing/2014/main" id="{78CE295A-7E18-29AC-DA14-DA07E2799D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24" r="16569"/>
          <a:stretch>
            <a:fillRect/>
          </a:stretch>
        </p:blipFill>
        <p:spPr>
          <a:xfrm>
            <a:off x="7532288" y="4385994"/>
            <a:ext cx="1249899" cy="1846068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56C5319B-E742-CCD8-78D2-FB17C3D92BB7}"/>
              </a:ext>
            </a:extLst>
          </p:cNvPr>
          <p:cNvSpPr/>
          <p:nvPr/>
        </p:nvSpPr>
        <p:spPr>
          <a:xfrm>
            <a:off x="130124" y="357235"/>
            <a:ext cx="88375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  <a:sym typeface="Wingdings" panose="05000000000000000000" pitchFamily="2" charset="2"/>
              </a:rPr>
              <a:t>Identifying resilience factors</a:t>
            </a:r>
            <a:endParaRPr lang="en-GB" dirty="0">
              <a:latin typeface="Arial"/>
              <a:cs typeface="Arial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89E1FF90-6DC5-D319-65F8-AE3694407874}"/>
              </a:ext>
            </a:extLst>
          </p:cNvPr>
          <p:cNvSpPr txBox="1"/>
          <p:nvPr/>
        </p:nvSpPr>
        <p:spPr>
          <a:xfrm>
            <a:off x="7459918" y="6277464"/>
            <a:ext cx="1664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Koc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revis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F3A9CE99-E04B-2871-6DE8-FB0751FAB33C}"/>
              </a:ext>
            </a:extLst>
          </p:cNvPr>
          <p:cNvSpPr txBox="1"/>
          <p:nvPr/>
        </p:nvSpPr>
        <p:spPr>
          <a:xfrm>
            <a:off x="7528283" y="5924285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e-DE" sz="1400" b="1" dirty="0">
                <a:solidFill>
                  <a:srgbClr val="FFFFFF"/>
                </a:solidFill>
                <a:latin typeface="Tw Cen MT"/>
              </a:rPr>
              <a:t>Dogukan Koc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9CFB1D13-0849-05B5-E432-2D698E002429}"/>
              </a:ext>
            </a:extLst>
          </p:cNvPr>
          <p:cNvSpPr txBox="1"/>
          <p:nvPr/>
        </p:nvSpPr>
        <p:spPr>
          <a:xfrm>
            <a:off x="643147" y="1563323"/>
            <a:ext cx="69700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Association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with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SR: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self-esteem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-0.31,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prosocial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behavior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-0.27,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friendship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quality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-0.13,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marL="285750" indent="-28575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IQ: </a:t>
            </a:r>
            <a:r>
              <a:rPr lang="de-DE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-0.04, </a:t>
            </a:r>
            <a:r>
              <a:rPr lang="de-DE" sz="1800" b="1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.242</a:t>
            </a:r>
          </a:p>
          <a:p>
            <a:pPr indent="45720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ALTHOUGH:</a:t>
            </a:r>
          </a:p>
          <a:p>
            <a:pPr indent="45720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IQ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~</a:t>
            </a: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-0.11,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indent="45720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BUT:</a:t>
            </a:r>
            <a:endParaRPr lang="de-DE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indent="45720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IQ ~ 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E: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-0.25, </a:t>
            </a:r>
            <a:r>
              <a:rPr lang="de-DE" sz="1800" i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de-DE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&lt; .001</a:t>
            </a:r>
          </a:p>
          <a:p>
            <a:pPr indent="45720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de-DE" sz="1800" dirty="0">
                <a:effectLst/>
                <a:latin typeface="+mn-lt"/>
                <a:ea typeface="Calibri" panose="020F0502020204030204" pitchFamily="34" charset="0"/>
              </a:rPr>
              <a:t> </a:t>
            </a:r>
            <a:endParaRPr lang="de-DE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6AD3848B-B45A-CFBB-B89E-10EDC914C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064" y="487007"/>
            <a:ext cx="3488123" cy="268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413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llipse 27">
            <a:extLst>
              <a:ext uri="{FF2B5EF4-FFF2-40B4-BE49-F238E27FC236}">
                <a16:creationId xmlns:a16="http://schemas.microsoft.com/office/drawing/2014/main" id="{1D26C274-B829-4024-8891-9020D7969F74}"/>
              </a:ext>
            </a:extLst>
          </p:cNvPr>
          <p:cNvSpPr/>
          <p:nvPr/>
        </p:nvSpPr>
        <p:spPr>
          <a:xfrm>
            <a:off x="5730619" y="3804000"/>
            <a:ext cx="954156" cy="374848"/>
          </a:xfrm>
          <a:prstGeom prst="ellipse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en-US" u="sng" dirty="0" err="1">
              <a:latin typeface="Arial"/>
              <a:cs typeface="Arial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34CB736F-EC62-4D6B-9CC8-3A365084AB67}"/>
              </a:ext>
            </a:extLst>
          </p:cNvPr>
          <p:cNvSpPr txBox="1"/>
          <p:nvPr/>
        </p:nvSpPr>
        <p:spPr>
          <a:xfrm>
            <a:off x="683032" y="1098731"/>
            <a:ext cx="6382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u="sng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  <a:r>
              <a:rPr lang="de-DE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 </a:t>
            </a:r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-SR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F4DEBE5-5129-406B-956B-315B274E6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497" y="2054096"/>
            <a:ext cx="3925038" cy="2527875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6F41EC2A-D658-41A4-9778-641458D30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24" y="2445389"/>
            <a:ext cx="3672698" cy="163231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3317F0EC-CBEA-45FF-84D3-8E18C4EAB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136" y="3585563"/>
            <a:ext cx="3664085" cy="208172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8124C3D-86C5-43E1-A091-0D8BA68AA9EA}"/>
              </a:ext>
            </a:extLst>
          </p:cNvPr>
          <p:cNvSpPr/>
          <p:nvPr/>
        </p:nvSpPr>
        <p:spPr>
          <a:xfrm>
            <a:off x="7611429" y="2852913"/>
            <a:ext cx="9156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N=15970</a:t>
            </a:r>
            <a:endParaRPr lang="de-DE" sz="14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FACA8EB-0A33-4DDE-AE67-C00096FB6B33}"/>
              </a:ext>
            </a:extLst>
          </p:cNvPr>
          <p:cNvSpPr/>
          <p:nvPr/>
        </p:nvSpPr>
        <p:spPr>
          <a:xfrm>
            <a:off x="3175598" y="2622713"/>
            <a:ext cx="7168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N=350</a:t>
            </a:r>
            <a:endParaRPr lang="de-DE" sz="140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88C7721D-770E-4B41-AE03-54B37F9423D8}"/>
              </a:ext>
            </a:extLst>
          </p:cNvPr>
          <p:cNvSpPr/>
          <p:nvPr/>
        </p:nvSpPr>
        <p:spPr>
          <a:xfrm>
            <a:off x="7915092" y="3813806"/>
            <a:ext cx="7168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N=569</a:t>
            </a:r>
            <a:endParaRPr lang="de-DE" sz="1400" dirty="0"/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22046AAA-0DB8-4417-AE6E-E0B3E02AF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95" y="3938211"/>
            <a:ext cx="3728936" cy="18675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49395F1D-CAC0-4514-B0B6-DA1B42022724}"/>
              </a:ext>
            </a:extLst>
          </p:cNvPr>
          <p:cNvSpPr/>
          <p:nvPr/>
        </p:nvSpPr>
        <p:spPr>
          <a:xfrm>
            <a:off x="3639562" y="4072224"/>
            <a:ext cx="7168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N=558</a:t>
            </a:r>
            <a:endParaRPr lang="de-DE" sz="1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8A5B47B-8008-A810-71F1-D51A8840F3DE}"/>
              </a:ext>
            </a:extLst>
          </p:cNvPr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  <a:sym typeface="Wingdings" panose="05000000000000000000" pitchFamily="2" charset="2"/>
              </a:rPr>
              <a:t>Identifying resilience factors</a:t>
            </a:r>
            <a:endParaRPr lang="en-GB" sz="2400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703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E4EDF-07AA-CFCD-FAA9-EB863F0D6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91BAC0D-942A-D0EA-ABEF-BD9C8F37D5F9}"/>
              </a:ext>
            </a:extLst>
          </p:cNvPr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A (very) brief history of resilience research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88F686A-D2E4-ECC3-F509-3E1E04D06A4D}"/>
              </a:ext>
            </a:extLst>
          </p:cNvPr>
          <p:cNvSpPr txBox="1"/>
          <p:nvPr/>
        </p:nvSpPr>
        <p:spPr>
          <a:xfrm>
            <a:off x="925387" y="1153453"/>
            <a:ext cx="44101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latin typeface="Arial"/>
                <a:cs typeface="Arial"/>
              </a:rPr>
              <a:t>Trait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 err="1">
                <a:latin typeface="Arial"/>
                <a:cs typeface="Arial"/>
              </a:rPr>
              <a:t>Hardiness</a:t>
            </a:r>
            <a:r>
              <a:rPr lang="de-DE" dirty="0">
                <a:latin typeface="Arial"/>
                <a:cs typeface="Arial"/>
              </a:rPr>
              <a:t> (</a:t>
            </a:r>
            <a:r>
              <a:rPr lang="de-DE" dirty="0" err="1">
                <a:latin typeface="Arial"/>
                <a:cs typeface="Arial"/>
              </a:rPr>
              <a:t>Kobasa</a:t>
            </a:r>
            <a:r>
              <a:rPr lang="de-DE" dirty="0">
                <a:latin typeface="Arial"/>
                <a:cs typeface="Arial"/>
              </a:rPr>
              <a:t>, 1979)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Ego </a:t>
            </a:r>
            <a:r>
              <a:rPr lang="de-DE" dirty="0" err="1">
                <a:latin typeface="Arial"/>
                <a:cs typeface="Arial"/>
              </a:rPr>
              <a:t>resiliency</a:t>
            </a:r>
            <a:r>
              <a:rPr lang="de-DE" dirty="0">
                <a:latin typeface="Arial"/>
                <a:cs typeface="Arial"/>
              </a:rPr>
              <a:t> (Block </a:t>
            </a:r>
            <a:r>
              <a:rPr lang="de-DE" dirty="0" err="1">
                <a:latin typeface="Arial"/>
                <a:cs typeface="Arial"/>
              </a:rPr>
              <a:t>and</a:t>
            </a:r>
            <a:r>
              <a:rPr lang="de-DE" dirty="0">
                <a:latin typeface="Arial"/>
                <a:cs typeface="Arial"/>
              </a:rPr>
              <a:t> Block, 1980)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B1BD9CB-1A75-9E39-ECC4-AAFB53598FC0}"/>
              </a:ext>
            </a:extLst>
          </p:cNvPr>
          <p:cNvSpPr txBox="1"/>
          <p:nvPr/>
        </p:nvSpPr>
        <p:spPr>
          <a:xfrm>
            <a:off x="927178" y="2321707"/>
            <a:ext cx="7523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/>
                <a:cs typeface="Arial"/>
              </a:rPr>
              <a:t>Multiple </a:t>
            </a:r>
            <a:r>
              <a:rPr lang="de-DE" b="1" dirty="0" err="1">
                <a:latin typeface="Arial"/>
                <a:cs typeface="Arial"/>
              </a:rPr>
              <a:t>factors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 err="1">
                <a:latin typeface="Arial"/>
                <a:cs typeface="Arial"/>
              </a:rPr>
              <a:t>Various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traits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skills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behaviors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beliefs</a:t>
            </a:r>
            <a:r>
              <a:rPr lang="de-DE" dirty="0">
                <a:latin typeface="Arial"/>
                <a:cs typeface="Arial"/>
              </a:rPr>
              <a:t>, … </a:t>
            </a:r>
          </a:p>
          <a:p>
            <a:r>
              <a:rPr lang="de-DE" dirty="0">
                <a:latin typeface="Arial"/>
                <a:cs typeface="Arial"/>
              </a:rPr>
              <a:t>	(Masten &amp; </a:t>
            </a:r>
            <a:r>
              <a:rPr lang="de-DE" dirty="0" err="1">
                <a:latin typeface="Arial"/>
                <a:cs typeface="Arial"/>
              </a:rPr>
              <a:t>Garmezy</a:t>
            </a:r>
            <a:r>
              <a:rPr lang="de-DE" dirty="0">
                <a:latin typeface="Arial"/>
                <a:cs typeface="Arial"/>
              </a:rPr>
              <a:t>, 1985; Werner &amp; Smith, 1989)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7EE6E3C-368F-AC9E-A5A8-FC1967BF471D}"/>
              </a:ext>
            </a:extLst>
          </p:cNvPr>
          <p:cNvSpPr txBox="1"/>
          <p:nvPr/>
        </p:nvSpPr>
        <p:spPr>
          <a:xfrm>
            <a:off x="927173" y="3435806"/>
            <a:ext cx="8245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latin typeface="Arial"/>
                <a:cs typeface="Arial"/>
              </a:rPr>
              <a:t>Processes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Coping </a:t>
            </a:r>
            <a:r>
              <a:rPr lang="de-DE" dirty="0" err="1">
                <a:latin typeface="Arial"/>
                <a:cs typeface="Arial"/>
              </a:rPr>
              <a:t>efforts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person</a:t>
            </a:r>
            <a:r>
              <a:rPr lang="de-DE" dirty="0">
                <a:latin typeface="Arial"/>
                <a:cs typeface="Arial"/>
              </a:rPr>
              <a:t>-environment </a:t>
            </a:r>
            <a:r>
              <a:rPr lang="de-DE" dirty="0" err="1">
                <a:latin typeface="Arial"/>
                <a:cs typeface="Arial"/>
              </a:rPr>
              <a:t>transactions</a:t>
            </a:r>
            <a:r>
              <a:rPr lang="de-DE" dirty="0">
                <a:latin typeface="Arial"/>
                <a:cs typeface="Arial"/>
              </a:rPr>
              <a:t> (“</a:t>
            </a:r>
            <a:r>
              <a:rPr lang="de-DE" dirty="0" err="1">
                <a:latin typeface="Arial"/>
                <a:cs typeface="Arial"/>
              </a:rPr>
              <a:t>resilience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mechanisms</a:t>
            </a:r>
            <a:r>
              <a:rPr lang="de-DE" dirty="0">
                <a:latin typeface="Arial"/>
                <a:cs typeface="Arial"/>
              </a:rPr>
              <a:t>“) </a:t>
            </a:r>
          </a:p>
          <a:p>
            <a:r>
              <a:rPr lang="de-DE" dirty="0">
                <a:latin typeface="Arial"/>
                <a:cs typeface="Arial"/>
              </a:rPr>
              <a:t>       (Luthar et al., 2000; </a:t>
            </a:r>
            <a:r>
              <a:rPr lang="de-DE" dirty="0" err="1">
                <a:latin typeface="Arial"/>
                <a:cs typeface="Arial"/>
              </a:rPr>
              <a:t>a.m.o</a:t>
            </a:r>
            <a:r>
              <a:rPr lang="de-DE" dirty="0">
                <a:latin typeface="Arial"/>
                <a:cs typeface="Arial"/>
              </a:rPr>
              <a:t>.)</a:t>
            </a:r>
          </a:p>
          <a:p>
            <a:r>
              <a:rPr lang="de-DE" dirty="0">
                <a:latin typeface="Arial"/>
                <a:cs typeface="Arial"/>
              </a:rPr>
              <a:t>-   Lasting individual </a:t>
            </a:r>
            <a:r>
              <a:rPr lang="de-DE" dirty="0" err="1">
                <a:latin typeface="Arial"/>
                <a:cs typeface="Arial"/>
              </a:rPr>
              <a:t>change</a:t>
            </a:r>
            <a:endParaRPr lang="de-DE" dirty="0">
              <a:latin typeface="Arial"/>
              <a:cs typeface="Arial"/>
            </a:endParaRPr>
          </a:p>
          <a:p>
            <a:endParaRPr lang="de-DE" dirty="0">
              <a:latin typeface="Arial"/>
              <a:cs typeface="Arial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5067CC4-549E-3B03-DF76-95A40C87D554}"/>
              </a:ext>
            </a:extLst>
          </p:cNvPr>
          <p:cNvSpPr txBox="1"/>
          <p:nvPr/>
        </p:nvSpPr>
        <p:spPr>
          <a:xfrm>
            <a:off x="927168" y="4828429"/>
            <a:ext cx="3149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/>
                <a:cs typeface="Arial"/>
              </a:rPr>
              <a:t>Outcome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Masten &amp; </a:t>
            </a:r>
            <a:r>
              <a:rPr lang="de-DE" dirty="0" err="1">
                <a:latin typeface="Arial"/>
                <a:cs typeface="Arial"/>
              </a:rPr>
              <a:t>Garmezy</a:t>
            </a:r>
            <a:r>
              <a:rPr lang="de-DE" dirty="0">
                <a:latin typeface="Arial"/>
                <a:cs typeface="Arial"/>
              </a:rPr>
              <a:t>, 1985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65BC31C-9843-0ABD-023D-40F2CD2DB64A}"/>
              </a:ext>
            </a:extLst>
          </p:cNvPr>
          <p:cNvGrpSpPr/>
          <p:nvPr/>
        </p:nvGrpSpPr>
        <p:grpSpPr>
          <a:xfrm>
            <a:off x="299099" y="2823138"/>
            <a:ext cx="1147934" cy="411738"/>
            <a:chOff x="55697" y="2986601"/>
            <a:chExt cx="1147934" cy="411738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61C0C552-2E8F-D3DA-7CC4-AECFD94DC694}"/>
                </a:ext>
              </a:extLst>
            </p:cNvPr>
            <p:cNvCxnSpPr/>
            <p:nvPr/>
          </p:nvCxnSpPr>
          <p:spPr>
            <a:xfrm>
              <a:off x="176173" y="2986601"/>
              <a:ext cx="445813" cy="0"/>
            </a:xfrm>
            <a:prstGeom prst="straightConnector1">
              <a:avLst/>
            </a:prstGeom>
            <a:ln w="825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A4982668-9B26-DAEE-B4AC-357E7BC7C008}"/>
                </a:ext>
              </a:extLst>
            </p:cNvPr>
            <p:cNvSpPr txBox="1"/>
            <p:nvPr/>
          </p:nvSpPr>
          <p:spPr>
            <a:xfrm>
              <a:off x="55697" y="3029007"/>
              <a:ext cx="1147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PAS</a:t>
              </a:r>
              <a:endPara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2444E4D3-CEB7-DD45-FC6C-191374DC093A}"/>
              </a:ext>
            </a:extLst>
          </p:cNvPr>
          <p:cNvGrpSpPr/>
          <p:nvPr/>
        </p:nvGrpSpPr>
        <p:grpSpPr>
          <a:xfrm>
            <a:off x="293621" y="4383314"/>
            <a:ext cx="1147934" cy="411738"/>
            <a:chOff x="55697" y="2986601"/>
            <a:chExt cx="1147934" cy="411738"/>
          </a:xfrm>
        </p:grpSpPr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7E4B7A7F-1278-F8F2-F2C2-F513F07CA6BF}"/>
                </a:ext>
              </a:extLst>
            </p:cNvPr>
            <p:cNvCxnSpPr/>
            <p:nvPr/>
          </p:nvCxnSpPr>
          <p:spPr>
            <a:xfrm>
              <a:off x="176173" y="2986601"/>
              <a:ext cx="445813" cy="0"/>
            </a:xfrm>
            <a:prstGeom prst="straightConnector1">
              <a:avLst/>
            </a:prstGeom>
            <a:ln w="825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0718FFE-0BAF-D190-706A-6C1BA11DACBC}"/>
                </a:ext>
              </a:extLst>
            </p:cNvPr>
            <p:cNvSpPr txBox="1"/>
            <p:nvPr/>
          </p:nvSpPr>
          <p:spPr>
            <a:xfrm>
              <a:off x="55697" y="3029007"/>
              <a:ext cx="1147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PAS?</a:t>
              </a:r>
              <a:endPara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600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68433D7F-3F62-4237-B040-A54F7BF55B44}"/>
              </a:ext>
            </a:extLst>
          </p:cNvPr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  <a:sym typeface="Wingdings" panose="05000000000000000000" pitchFamily="2" charset="2"/>
              </a:rPr>
              <a:t>Identifying resilience processes: lasting individual change</a:t>
            </a:r>
            <a:endParaRPr lang="en-GB" sz="2400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81E1AAD-1236-6D07-ED46-24A6FAEE80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14"/>
          <a:stretch/>
        </p:blipFill>
        <p:spPr bwMode="auto">
          <a:xfrm>
            <a:off x="899106" y="1128860"/>
            <a:ext cx="7299545" cy="36489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CEC354B-C71F-1596-EC7C-23D0326CD848}"/>
              </a:ext>
            </a:extLst>
          </p:cNvPr>
          <p:cNvGrpSpPr/>
          <p:nvPr/>
        </p:nvGrpSpPr>
        <p:grpSpPr>
          <a:xfrm>
            <a:off x="899106" y="4795669"/>
            <a:ext cx="786490" cy="839291"/>
            <a:chOff x="899106" y="5216685"/>
            <a:chExt cx="786490" cy="839291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1B056AA2-81EE-35B3-A75E-5D41A07C36AD}"/>
                </a:ext>
              </a:extLst>
            </p:cNvPr>
            <p:cNvSpPr txBox="1"/>
            <p:nvPr/>
          </p:nvSpPr>
          <p:spPr>
            <a:xfrm>
              <a:off x="899106" y="5501978"/>
              <a:ext cx="786490" cy="553998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Battery</a:t>
              </a:r>
              <a:endPara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de-DE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Variable PAS(B0)</a:t>
              </a:r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9B16BD52-9CFD-D54D-6EDA-9D123E610E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5110" y="5216685"/>
              <a:ext cx="0" cy="291025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12A07F41-808A-80FA-8F45-8621428F87E0}"/>
              </a:ext>
            </a:extLst>
          </p:cNvPr>
          <p:cNvGrpSpPr/>
          <p:nvPr/>
        </p:nvGrpSpPr>
        <p:grpSpPr>
          <a:xfrm>
            <a:off x="2525065" y="4790193"/>
            <a:ext cx="786490" cy="839291"/>
            <a:chOff x="899106" y="5216685"/>
            <a:chExt cx="786490" cy="839291"/>
          </a:xfrm>
        </p:grpSpPr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1C4B1308-A022-5E72-1D3B-A91229BFC720}"/>
                </a:ext>
              </a:extLst>
            </p:cNvPr>
            <p:cNvSpPr txBox="1"/>
            <p:nvPr/>
          </p:nvSpPr>
          <p:spPr>
            <a:xfrm>
              <a:off x="899106" y="5501978"/>
              <a:ext cx="786490" cy="553998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Battery</a:t>
              </a:r>
              <a:endPara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de-DE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Variable PAS(B1)</a:t>
              </a:r>
            </a:p>
          </p:txBody>
        </p: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17076499-55E1-C446-3C79-91A45D5F47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5110" y="5216685"/>
              <a:ext cx="0" cy="291025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0028DBA-8149-63F2-5838-10FFC342CF9B}"/>
              </a:ext>
            </a:extLst>
          </p:cNvPr>
          <p:cNvGrpSpPr/>
          <p:nvPr/>
        </p:nvGrpSpPr>
        <p:grpSpPr>
          <a:xfrm>
            <a:off x="4164181" y="4791293"/>
            <a:ext cx="786490" cy="839291"/>
            <a:chOff x="899106" y="5216685"/>
            <a:chExt cx="786490" cy="839291"/>
          </a:xfrm>
        </p:grpSpPr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B694213A-87A5-84EB-059D-C513B9DCD8EF}"/>
                </a:ext>
              </a:extLst>
            </p:cNvPr>
            <p:cNvSpPr txBox="1"/>
            <p:nvPr/>
          </p:nvSpPr>
          <p:spPr>
            <a:xfrm>
              <a:off x="899106" y="5501978"/>
              <a:ext cx="786490" cy="553998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0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Battery</a:t>
              </a:r>
              <a:endParaRPr lang="de-DE" sz="1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de-DE" sz="10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Variable PAS(B2)</a:t>
              </a:r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BE6E07F5-C444-C347-6AD7-05936E9A9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5110" y="5216685"/>
              <a:ext cx="0" cy="291025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DF611CAF-9C6C-48D9-76AA-A557039E5050}"/>
              </a:ext>
            </a:extLst>
          </p:cNvPr>
          <p:cNvSpPr txBox="1"/>
          <p:nvPr/>
        </p:nvSpPr>
        <p:spPr>
          <a:xfrm>
            <a:off x="5311391" y="5130695"/>
            <a:ext cx="26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70C0"/>
                </a:solidFill>
              </a:rPr>
              <a:t>…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1F513AA-084A-513B-3E27-03EC1F1593C0}"/>
              </a:ext>
            </a:extLst>
          </p:cNvPr>
          <p:cNvSpPr txBox="1"/>
          <p:nvPr/>
        </p:nvSpPr>
        <p:spPr>
          <a:xfrm>
            <a:off x="1509406" y="5779975"/>
            <a:ext cx="6640912" cy="35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Clr>
                <a:srgbClr val="00B6DF"/>
              </a:buClr>
              <a:buSzPct val="100000"/>
              <a:buFont typeface="Arial"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SR</a:t>
            </a:r>
            <a:r>
              <a:rPr kumimoji="0" lang="de-DE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B1-B2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 ~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RF</a:t>
            </a:r>
            <a:r>
              <a:rPr kumimoji="0" lang="de-DE" sz="1800" b="1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B1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 +</a:t>
            </a:r>
            <a:r>
              <a:rPr kumimoji="0" lang="de-DE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RF</a:t>
            </a:r>
            <a:r>
              <a:rPr kumimoji="0" lang="de-DE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B0 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+ SR</a:t>
            </a:r>
            <a:r>
              <a:rPr kumimoji="0" lang="de-DE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B0-B1</a:t>
            </a:r>
            <a:r>
              <a:rPr kumimoji="0" lang="de-DE" sz="1800" b="0" i="1" u="none" strike="noStrike" kern="1200" cap="none" spc="0" normalizeH="0" baseline="0" noProof="0" dirty="0">
                <a:ln>
                  <a:noFill/>
                </a:ln>
                <a:solidFill>
                  <a:srgbClr val="1B2867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 </a:t>
            </a:r>
            <a:r>
              <a:rPr kumimoji="0" lang="de-DE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+ </a:t>
            </a:r>
            <a:r>
              <a:rPr kumimoji="0" lang="de-DE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Covariates</a:t>
            </a: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 </a:t>
            </a:r>
            <a:r>
              <a:rPr kumimoji="0" lang="de-DE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 </a:t>
            </a:r>
            <a:endParaRPr lang="de-DE" dirty="0">
              <a:solidFill>
                <a:srgbClr val="1B2867"/>
              </a:solidFill>
              <a:latin typeface="Arial"/>
              <a:ea typeface="ＭＳ Ｐゴシック" charset="-128"/>
              <a:cs typeface="Arial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B28E102-B9EA-EC84-45C9-E573412C5C13}"/>
              </a:ext>
            </a:extLst>
          </p:cNvPr>
          <p:cNvSpPr txBox="1"/>
          <p:nvPr/>
        </p:nvSpPr>
        <p:spPr>
          <a:xfrm>
            <a:off x="1509406" y="6136483"/>
            <a:ext cx="5240050" cy="36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ts val="2200"/>
              </a:lnSpc>
              <a:spcBef>
                <a:spcPts val="0"/>
              </a:spcBef>
              <a:spcAft>
                <a:spcPts val="1000"/>
              </a:spcAft>
              <a:buClr>
                <a:srgbClr val="00B6DF"/>
              </a:buClr>
              <a:buSzPct val="100000"/>
              <a:buFont typeface="Arial"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  <a:sym typeface="Wingdings" panose="05000000000000000000" pitchFamily="2" charset="2"/>
              </a:rPr>
              <a:t> 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PAS (LORA):</a:t>
            </a:r>
            <a:r>
              <a:rPr kumimoji="0" lang="el-GR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 β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= -0.100, p=.008, R</a:t>
            </a:r>
            <a:r>
              <a:rPr kumimoji="0" lang="de-DE" sz="1800" b="0" i="1" u="none" strike="noStrike" kern="1200" cap="none" spc="0" normalizeH="0" baseline="3000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2</a:t>
            </a: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 charset="-128"/>
                <a:cs typeface="Arial"/>
              </a:rPr>
              <a:t> = .0055</a:t>
            </a:r>
            <a:endParaRPr lang="de-DE" dirty="0">
              <a:solidFill>
                <a:srgbClr val="0070C0"/>
              </a:solidFill>
            </a:endParaRP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A6D4F260-047E-C71F-BA1F-34C3DEC96061}"/>
              </a:ext>
            </a:extLst>
          </p:cNvPr>
          <p:cNvSpPr txBox="1"/>
          <p:nvPr/>
        </p:nvSpPr>
        <p:spPr>
          <a:xfrm>
            <a:off x="6940231" y="6277464"/>
            <a:ext cx="34879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Puhlmann et al., in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prep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6D8E7E1-CD0C-FE6E-CBC1-A42A6398D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925" y="4771126"/>
            <a:ext cx="1088682" cy="150580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73D9201-DAB3-8F3B-B8A3-CD7EE812AF10}"/>
              </a:ext>
            </a:extLst>
          </p:cNvPr>
          <p:cNvSpPr txBox="1"/>
          <p:nvPr/>
        </p:nvSpPr>
        <p:spPr>
          <a:xfrm>
            <a:off x="7569078" y="5764906"/>
            <a:ext cx="1353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e-DE" sz="1400" b="1" dirty="0">
                <a:solidFill>
                  <a:srgbClr val="FFFFFF"/>
                </a:solidFill>
                <a:latin typeface="Tw Cen MT"/>
              </a:rPr>
              <a:t>Lara </a:t>
            </a:r>
          </a:p>
          <a:p>
            <a:pPr lvl="0">
              <a:defRPr/>
            </a:pPr>
            <a:r>
              <a:rPr lang="de-DE" sz="1400" b="1" dirty="0">
                <a:solidFill>
                  <a:srgbClr val="FFFFFF"/>
                </a:solidFill>
                <a:latin typeface="Tw Cen MT"/>
              </a:rPr>
              <a:t>Puhlmann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88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5AD4-0F30-DE89-5F01-B23339080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feld 37">
            <a:extLst>
              <a:ext uri="{FF2B5EF4-FFF2-40B4-BE49-F238E27FC236}">
                <a16:creationId xmlns:a16="http://schemas.microsoft.com/office/drawing/2014/main" id="{6919199C-FA08-EC92-4972-C23D485164EB}"/>
              </a:ext>
            </a:extLst>
          </p:cNvPr>
          <p:cNvSpPr txBox="1"/>
          <p:nvPr/>
        </p:nvSpPr>
        <p:spPr>
          <a:xfrm>
            <a:off x="1261185" y="1072816"/>
            <a:ext cx="3888785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/>
            <a:r>
              <a:rPr lang="en-GB" sz="135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Stress management training </a:t>
            </a:r>
          </a:p>
          <a:p>
            <a:pPr defTabSz="685800"/>
            <a:r>
              <a:rPr lang="en-GB" sz="135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(stepped care, peer support, digitalized)</a:t>
            </a:r>
            <a:endParaRPr lang="de-DE" sz="135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Imagen 8" descr="Texto&#10;&#10;Descripción generada automáticamente">
            <a:extLst>
              <a:ext uri="{FF2B5EF4-FFF2-40B4-BE49-F238E27FC236}">
                <a16:creationId xmlns:a16="http://schemas.microsoft.com/office/drawing/2014/main" id="{655D2B43-D9D1-BE46-9F49-692D108B6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77" y="1779692"/>
            <a:ext cx="1534552" cy="2216576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E0A5D39C-AAEC-2E76-1AB4-9D4467C6A2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05" y="1057926"/>
            <a:ext cx="655597" cy="65559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B60859EF-8C0E-C334-FFCE-5861E7D3A048}"/>
              </a:ext>
            </a:extLst>
          </p:cNvPr>
          <p:cNvSpPr txBox="1"/>
          <p:nvPr/>
        </p:nvSpPr>
        <p:spPr>
          <a:xfrm>
            <a:off x="553765" y="5845419"/>
            <a:ext cx="3397079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Spanish health care workers</a:t>
            </a:r>
          </a:p>
          <a:p>
            <a:pPr defTabSz="685800"/>
            <a:r>
              <a:rPr lang="de-DE" sz="135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</a:t>
            </a:r>
            <a:r>
              <a:rPr lang="de-DE" sz="13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COVID</a:t>
            </a:r>
            <a:endParaRPr lang="en-GB" sz="135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DB53B902-39F0-79F9-C08F-4F4CF6966DE8}"/>
              </a:ext>
            </a:extLst>
          </p:cNvPr>
          <p:cNvSpPr txBox="1"/>
          <p:nvPr/>
        </p:nvSpPr>
        <p:spPr>
          <a:xfrm>
            <a:off x="3994550" y="5218498"/>
            <a:ext cx="638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Intervention  </a:t>
            </a:r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 PAS (T2)    -SR (T3): 47%</a:t>
            </a:r>
          </a:p>
        </p:txBody>
      </p:sp>
      <p:pic>
        <p:nvPicPr>
          <p:cNvPr id="5" name="Grafik 4" descr="Ein Bild, das Text, Screenshot, Diagramm, Reihe enthält.&#10;&#10;Automatisch generierte Beschreibung">
            <a:extLst>
              <a:ext uri="{FF2B5EF4-FFF2-40B4-BE49-F238E27FC236}">
                <a16:creationId xmlns:a16="http://schemas.microsoft.com/office/drawing/2014/main" id="{C8C7B96F-4C64-D25E-3971-3B1646CEC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18" y="4239618"/>
            <a:ext cx="2980852" cy="1489071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180F823-599D-199C-AB4D-E5B20F88039C}"/>
              </a:ext>
            </a:extLst>
          </p:cNvPr>
          <p:cNvSpPr txBox="1"/>
          <p:nvPr/>
        </p:nvSpPr>
        <p:spPr>
          <a:xfrm>
            <a:off x="6136430" y="6277464"/>
            <a:ext cx="3397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Petri-Romão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Nat Commun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Petri-Romão et al., in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prep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4A9D46D3-14BB-2985-36C3-E15A21871D7B}"/>
              </a:ext>
            </a:extLst>
          </p:cNvPr>
          <p:cNvSpPr/>
          <p:nvPr/>
        </p:nvSpPr>
        <p:spPr>
          <a:xfrm>
            <a:off x="130124" y="357235"/>
            <a:ext cx="88375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  <a:sym typeface="Wingdings" panose="05000000000000000000" pitchFamily="2" charset="2"/>
              </a:rPr>
              <a:t>Identifying resilience processes: lasting individual change</a:t>
            </a:r>
            <a:endParaRPr lang="en-GB" sz="2400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3234FDE-074E-70AF-E5F8-7DD9C7E31563}"/>
              </a:ext>
            </a:extLst>
          </p:cNvPr>
          <p:cNvSpPr txBox="1"/>
          <p:nvPr/>
        </p:nvSpPr>
        <p:spPr>
          <a:xfrm>
            <a:off x="3997795" y="5613602"/>
            <a:ext cx="6382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Reproduced</a:t>
            </a:r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3 </a:t>
            </a:r>
            <a:r>
              <a:rPr lang="de-DE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</a:t>
            </a:r>
            <a:r>
              <a: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RCTs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7C632DA-6E2F-4CC4-8AFE-C6C94BE76202}"/>
              </a:ext>
            </a:extLst>
          </p:cNvPr>
          <p:cNvGrpSpPr/>
          <p:nvPr/>
        </p:nvGrpSpPr>
        <p:grpSpPr>
          <a:xfrm>
            <a:off x="3987505" y="1779692"/>
            <a:ext cx="3648973" cy="3353110"/>
            <a:chOff x="4356339" y="1831651"/>
            <a:chExt cx="3648973" cy="3353110"/>
          </a:xfrm>
        </p:grpSpPr>
        <p:pic>
          <p:nvPicPr>
            <p:cNvPr id="14" name="Picture 1">
              <a:extLst>
                <a:ext uri="{FF2B5EF4-FFF2-40B4-BE49-F238E27FC236}">
                  <a16:creationId xmlns:a16="http://schemas.microsoft.com/office/drawing/2014/main" id="{4EC5F0F3-2767-B9DC-9369-DF58A06AB18D}"/>
                </a:ext>
              </a:extLst>
            </p:cNvPr>
            <p:cNvPicPr/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999" t="7678" r="1" b="10841"/>
            <a:stretch/>
          </p:blipFill>
          <p:spPr bwMode="auto">
            <a:xfrm>
              <a:off x="4356339" y="2088480"/>
              <a:ext cx="3648973" cy="27711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0D21696F-F153-587E-6D4E-4C62E39E2ED7}"/>
                </a:ext>
              </a:extLst>
            </p:cNvPr>
            <p:cNvPicPr/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88" t="945" r="36520" b="91294"/>
            <a:stretch/>
          </p:blipFill>
          <p:spPr bwMode="auto">
            <a:xfrm>
              <a:off x="5421700" y="1831651"/>
              <a:ext cx="1518250" cy="2077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Picture 1">
              <a:extLst>
                <a:ext uri="{FF2B5EF4-FFF2-40B4-BE49-F238E27FC236}">
                  <a16:creationId xmlns:a16="http://schemas.microsoft.com/office/drawing/2014/main" id="{DABA60C1-731A-2265-AD18-93AD464ED5FA}"/>
                </a:ext>
              </a:extLst>
            </p:cNvPr>
            <p:cNvPicPr/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57" t="88193" r="32670" b="1493"/>
            <a:stretch/>
          </p:blipFill>
          <p:spPr bwMode="auto">
            <a:xfrm>
              <a:off x="5421700" y="4908716"/>
              <a:ext cx="1984076" cy="27604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7405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4" grpId="0"/>
      <p:bldP spid="1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A3F59-C2AD-C199-FC64-462F3A05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11602FE-714E-D2F8-9163-CFD1CAB17BF3}"/>
              </a:ext>
            </a:extLst>
          </p:cNvPr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A (very) brief history of resilience research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1D8A02B-6B7A-4A28-AB3A-EA1CCCB42B07}"/>
              </a:ext>
            </a:extLst>
          </p:cNvPr>
          <p:cNvSpPr txBox="1"/>
          <p:nvPr/>
        </p:nvSpPr>
        <p:spPr>
          <a:xfrm>
            <a:off x="925387" y="1153453"/>
            <a:ext cx="44101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latin typeface="Arial"/>
                <a:cs typeface="Arial"/>
              </a:rPr>
              <a:t>Trait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 err="1">
                <a:latin typeface="Arial"/>
                <a:cs typeface="Arial"/>
              </a:rPr>
              <a:t>Hardiness</a:t>
            </a:r>
            <a:r>
              <a:rPr lang="de-DE" dirty="0">
                <a:latin typeface="Arial"/>
                <a:cs typeface="Arial"/>
              </a:rPr>
              <a:t> (</a:t>
            </a:r>
            <a:r>
              <a:rPr lang="de-DE" dirty="0" err="1">
                <a:latin typeface="Arial"/>
                <a:cs typeface="Arial"/>
              </a:rPr>
              <a:t>Kobasa</a:t>
            </a:r>
            <a:r>
              <a:rPr lang="de-DE" dirty="0">
                <a:latin typeface="Arial"/>
                <a:cs typeface="Arial"/>
              </a:rPr>
              <a:t>, 1979)</a:t>
            </a: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Ego </a:t>
            </a:r>
            <a:r>
              <a:rPr lang="de-DE" dirty="0" err="1">
                <a:latin typeface="Arial"/>
                <a:cs typeface="Arial"/>
              </a:rPr>
              <a:t>resiliency</a:t>
            </a:r>
            <a:r>
              <a:rPr lang="de-DE" dirty="0">
                <a:latin typeface="Arial"/>
                <a:cs typeface="Arial"/>
              </a:rPr>
              <a:t> (Block </a:t>
            </a:r>
            <a:r>
              <a:rPr lang="de-DE" dirty="0" err="1">
                <a:latin typeface="Arial"/>
                <a:cs typeface="Arial"/>
              </a:rPr>
              <a:t>and</a:t>
            </a:r>
            <a:r>
              <a:rPr lang="de-DE" dirty="0">
                <a:latin typeface="Arial"/>
                <a:cs typeface="Arial"/>
              </a:rPr>
              <a:t> Block, 1980)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B2421E9-4FD2-62F0-1F51-724C02FEC4CA}"/>
              </a:ext>
            </a:extLst>
          </p:cNvPr>
          <p:cNvSpPr txBox="1"/>
          <p:nvPr/>
        </p:nvSpPr>
        <p:spPr>
          <a:xfrm>
            <a:off x="927178" y="2321707"/>
            <a:ext cx="7523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/>
                <a:cs typeface="Arial"/>
              </a:rPr>
              <a:t>Multiple </a:t>
            </a:r>
            <a:r>
              <a:rPr lang="de-DE" b="1" dirty="0" err="1">
                <a:latin typeface="Arial"/>
                <a:cs typeface="Arial"/>
              </a:rPr>
              <a:t>factors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 err="1">
                <a:latin typeface="Arial"/>
                <a:cs typeface="Arial"/>
              </a:rPr>
              <a:t>Various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traits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skills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behaviors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beliefs</a:t>
            </a:r>
            <a:r>
              <a:rPr lang="de-DE" dirty="0">
                <a:latin typeface="Arial"/>
                <a:cs typeface="Arial"/>
              </a:rPr>
              <a:t>, … </a:t>
            </a:r>
          </a:p>
          <a:p>
            <a:r>
              <a:rPr lang="de-DE" dirty="0">
                <a:latin typeface="Arial"/>
                <a:cs typeface="Arial"/>
              </a:rPr>
              <a:t>	(Masten &amp; </a:t>
            </a:r>
            <a:r>
              <a:rPr lang="de-DE" dirty="0" err="1">
                <a:latin typeface="Arial"/>
                <a:cs typeface="Arial"/>
              </a:rPr>
              <a:t>Garmezy</a:t>
            </a:r>
            <a:r>
              <a:rPr lang="de-DE" dirty="0">
                <a:latin typeface="Arial"/>
                <a:cs typeface="Arial"/>
              </a:rPr>
              <a:t>, 1985; Werner &amp; Smith, 1989)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DBCCA9A-17B2-68E6-97BE-98F94ABD5A89}"/>
              </a:ext>
            </a:extLst>
          </p:cNvPr>
          <p:cNvSpPr txBox="1"/>
          <p:nvPr/>
        </p:nvSpPr>
        <p:spPr>
          <a:xfrm>
            <a:off x="927173" y="3435806"/>
            <a:ext cx="82452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>
                <a:latin typeface="Arial"/>
                <a:cs typeface="Arial"/>
              </a:rPr>
              <a:t>Processes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Coping </a:t>
            </a:r>
            <a:r>
              <a:rPr lang="de-DE" dirty="0" err="1">
                <a:latin typeface="Arial"/>
                <a:cs typeface="Arial"/>
              </a:rPr>
              <a:t>efforts</a:t>
            </a:r>
            <a:r>
              <a:rPr lang="de-DE" dirty="0">
                <a:latin typeface="Arial"/>
                <a:cs typeface="Arial"/>
              </a:rPr>
              <a:t>, </a:t>
            </a:r>
            <a:r>
              <a:rPr lang="de-DE" dirty="0" err="1">
                <a:latin typeface="Arial"/>
                <a:cs typeface="Arial"/>
              </a:rPr>
              <a:t>person</a:t>
            </a:r>
            <a:r>
              <a:rPr lang="de-DE" dirty="0">
                <a:latin typeface="Arial"/>
                <a:cs typeface="Arial"/>
              </a:rPr>
              <a:t>-environment </a:t>
            </a:r>
            <a:r>
              <a:rPr lang="de-DE" dirty="0" err="1">
                <a:latin typeface="Arial"/>
                <a:cs typeface="Arial"/>
              </a:rPr>
              <a:t>transactions</a:t>
            </a:r>
            <a:r>
              <a:rPr lang="de-DE" dirty="0">
                <a:latin typeface="Arial"/>
                <a:cs typeface="Arial"/>
              </a:rPr>
              <a:t> (“</a:t>
            </a:r>
            <a:r>
              <a:rPr lang="de-DE" dirty="0" err="1">
                <a:latin typeface="Arial"/>
                <a:cs typeface="Arial"/>
              </a:rPr>
              <a:t>resilience</a:t>
            </a:r>
            <a:r>
              <a:rPr lang="de-DE" dirty="0">
                <a:latin typeface="Arial"/>
                <a:cs typeface="Arial"/>
              </a:rPr>
              <a:t> </a:t>
            </a:r>
            <a:r>
              <a:rPr lang="de-DE" dirty="0" err="1">
                <a:latin typeface="Arial"/>
                <a:cs typeface="Arial"/>
              </a:rPr>
              <a:t>mechanisms</a:t>
            </a:r>
            <a:r>
              <a:rPr lang="de-DE" dirty="0">
                <a:latin typeface="Arial"/>
                <a:cs typeface="Arial"/>
              </a:rPr>
              <a:t>“) </a:t>
            </a:r>
          </a:p>
          <a:p>
            <a:r>
              <a:rPr lang="de-DE" dirty="0">
                <a:latin typeface="Arial"/>
                <a:cs typeface="Arial"/>
              </a:rPr>
              <a:t>       (Luthar et al., 2000; </a:t>
            </a:r>
            <a:r>
              <a:rPr lang="de-DE" dirty="0" err="1">
                <a:latin typeface="Arial"/>
                <a:cs typeface="Arial"/>
              </a:rPr>
              <a:t>a.m.o</a:t>
            </a:r>
            <a:r>
              <a:rPr lang="de-DE" dirty="0">
                <a:latin typeface="Arial"/>
                <a:cs typeface="Arial"/>
              </a:rPr>
              <a:t>.)</a:t>
            </a:r>
          </a:p>
          <a:p>
            <a:r>
              <a:rPr lang="de-DE" dirty="0">
                <a:latin typeface="Arial"/>
                <a:cs typeface="Arial"/>
              </a:rPr>
              <a:t>-   Lasting individual </a:t>
            </a:r>
            <a:r>
              <a:rPr lang="de-DE" dirty="0" err="1">
                <a:latin typeface="Arial"/>
                <a:cs typeface="Arial"/>
              </a:rPr>
              <a:t>change</a:t>
            </a:r>
            <a:endParaRPr lang="de-DE" dirty="0">
              <a:latin typeface="Arial"/>
              <a:cs typeface="Arial"/>
            </a:endParaRPr>
          </a:p>
          <a:p>
            <a:endParaRPr lang="de-DE" dirty="0">
              <a:latin typeface="Arial"/>
              <a:cs typeface="Arial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CEA0867-1767-3588-D8E5-F9F7322704D8}"/>
              </a:ext>
            </a:extLst>
          </p:cNvPr>
          <p:cNvSpPr txBox="1"/>
          <p:nvPr/>
        </p:nvSpPr>
        <p:spPr>
          <a:xfrm>
            <a:off x="927168" y="4828429"/>
            <a:ext cx="3149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latin typeface="Arial"/>
                <a:cs typeface="Arial"/>
              </a:rPr>
              <a:t>Outcome</a:t>
            </a:r>
            <a:endParaRPr lang="de-DE" dirty="0">
              <a:latin typeface="Arial"/>
              <a:cs typeface="Arial"/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latin typeface="Arial"/>
                <a:cs typeface="Arial"/>
              </a:rPr>
              <a:t>Masten &amp; </a:t>
            </a:r>
            <a:r>
              <a:rPr lang="de-DE" dirty="0" err="1">
                <a:latin typeface="Arial"/>
                <a:cs typeface="Arial"/>
              </a:rPr>
              <a:t>Garmezy</a:t>
            </a:r>
            <a:r>
              <a:rPr lang="de-DE" dirty="0">
                <a:latin typeface="Arial"/>
                <a:cs typeface="Arial"/>
              </a:rPr>
              <a:t>, 1985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894B280-79DF-9686-7D70-293ECDBFB2A3}"/>
              </a:ext>
            </a:extLst>
          </p:cNvPr>
          <p:cNvGrpSpPr/>
          <p:nvPr/>
        </p:nvGrpSpPr>
        <p:grpSpPr>
          <a:xfrm>
            <a:off x="299099" y="2823138"/>
            <a:ext cx="1147934" cy="411738"/>
            <a:chOff x="55697" y="2986601"/>
            <a:chExt cx="1147934" cy="411738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F7C0AF6A-56AA-B116-8186-BE454ADA4CBE}"/>
                </a:ext>
              </a:extLst>
            </p:cNvPr>
            <p:cNvCxnSpPr/>
            <p:nvPr/>
          </p:nvCxnSpPr>
          <p:spPr>
            <a:xfrm>
              <a:off x="176173" y="2986601"/>
              <a:ext cx="445813" cy="0"/>
            </a:xfrm>
            <a:prstGeom prst="straightConnector1">
              <a:avLst/>
            </a:prstGeom>
            <a:ln w="825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B4DB2AFF-5773-81E3-B34F-590225ECD086}"/>
                </a:ext>
              </a:extLst>
            </p:cNvPr>
            <p:cNvSpPr txBox="1"/>
            <p:nvPr/>
          </p:nvSpPr>
          <p:spPr>
            <a:xfrm>
              <a:off x="55697" y="3029007"/>
              <a:ext cx="1147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PAS</a:t>
              </a:r>
              <a:endPara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44192D3D-1C3B-D6A1-F579-1FEF641BFF02}"/>
              </a:ext>
            </a:extLst>
          </p:cNvPr>
          <p:cNvGrpSpPr/>
          <p:nvPr/>
        </p:nvGrpSpPr>
        <p:grpSpPr>
          <a:xfrm>
            <a:off x="293621" y="4383314"/>
            <a:ext cx="1147934" cy="411738"/>
            <a:chOff x="55697" y="2986601"/>
            <a:chExt cx="1147934" cy="411738"/>
          </a:xfrm>
        </p:grpSpPr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56069FBA-505E-AAF6-A30D-B54B37BF3184}"/>
                </a:ext>
              </a:extLst>
            </p:cNvPr>
            <p:cNvCxnSpPr/>
            <p:nvPr/>
          </p:nvCxnSpPr>
          <p:spPr>
            <a:xfrm>
              <a:off x="176173" y="2986601"/>
              <a:ext cx="445813" cy="0"/>
            </a:xfrm>
            <a:prstGeom prst="straightConnector1">
              <a:avLst/>
            </a:prstGeom>
            <a:ln w="825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C50EEDBC-1631-232B-7823-E07F64D28E51}"/>
                </a:ext>
              </a:extLst>
            </p:cNvPr>
            <p:cNvSpPr txBox="1"/>
            <p:nvPr/>
          </p:nvSpPr>
          <p:spPr>
            <a:xfrm>
              <a:off x="55697" y="3029007"/>
              <a:ext cx="1147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PAS</a:t>
              </a:r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82474E2-E756-2827-0A1B-C795E591335B}"/>
              </a:ext>
            </a:extLst>
          </p:cNvPr>
          <p:cNvGrpSpPr/>
          <p:nvPr/>
        </p:nvGrpSpPr>
        <p:grpSpPr>
          <a:xfrm>
            <a:off x="294721" y="3858138"/>
            <a:ext cx="1147934" cy="411738"/>
            <a:chOff x="55697" y="2986601"/>
            <a:chExt cx="1147934" cy="411738"/>
          </a:xfrm>
        </p:grpSpPr>
        <p:cxnSp>
          <p:nvCxnSpPr>
            <p:cNvPr id="10" name="Gerade Verbindung mit Pfeil 9">
              <a:extLst>
                <a:ext uri="{FF2B5EF4-FFF2-40B4-BE49-F238E27FC236}">
                  <a16:creationId xmlns:a16="http://schemas.microsoft.com/office/drawing/2014/main" id="{13BE8F24-2B3C-E5E1-52E6-F070C731A0D3}"/>
                </a:ext>
              </a:extLst>
            </p:cNvPr>
            <p:cNvCxnSpPr/>
            <p:nvPr/>
          </p:nvCxnSpPr>
          <p:spPr>
            <a:xfrm>
              <a:off x="176173" y="2986601"/>
              <a:ext cx="445813" cy="0"/>
            </a:xfrm>
            <a:prstGeom prst="straightConnector1">
              <a:avLst/>
            </a:prstGeom>
            <a:ln w="825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7AB7C9DC-7A03-B6A9-0E24-AB7E7F80B169}"/>
                </a:ext>
              </a:extLst>
            </p:cNvPr>
            <p:cNvSpPr txBox="1"/>
            <p:nvPr/>
          </p:nvSpPr>
          <p:spPr>
            <a:xfrm>
              <a:off x="55697" y="3029007"/>
              <a:ext cx="1147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b="1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  ?</a:t>
              </a:r>
              <a:endParaRPr lang="de-DE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664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5DCBD-5138-1ABC-665B-B838C914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A7554C59-93DB-1C23-7B31-08CFCFDA4610}"/>
              </a:ext>
            </a:extLst>
          </p:cNvPr>
          <p:cNvSpPr txBox="1"/>
          <p:nvPr/>
        </p:nvSpPr>
        <p:spPr>
          <a:xfrm>
            <a:off x="7076216" y="6277464"/>
            <a:ext cx="24967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Zerban et al., in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revis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7A852B4-BB74-F788-5F30-F6874C0A32BD}"/>
              </a:ext>
            </a:extLst>
          </p:cNvPr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  <a:sym typeface="Wingdings" panose="05000000000000000000" pitchFamily="2" charset="2"/>
              </a:rPr>
              <a:t>Identifying resilience processes: resilience mechanisms</a:t>
            </a:r>
            <a:endParaRPr lang="en-GB" sz="2400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F46F86B-950A-81DE-7C43-52507AF8E4C1}"/>
              </a:ext>
            </a:extLst>
          </p:cNvPr>
          <p:cNvGrpSpPr/>
          <p:nvPr/>
        </p:nvGrpSpPr>
        <p:grpSpPr>
          <a:xfrm>
            <a:off x="377771" y="2005909"/>
            <a:ext cx="5518691" cy="3941188"/>
            <a:chOff x="377771" y="2005909"/>
            <a:chExt cx="5518691" cy="3941188"/>
          </a:xfrm>
        </p:grpSpPr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6E525003-2BE7-1557-5C88-3E682DF9110E}"/>
                </a:ext>
              </a:extLst>
            </p:cNvPr>
            <p:cNvSpPr txBox="1"/>
            <p:nvPr/>
          </p:nvSpPr>
          <p:spPr>
            <a:xfrm>
              <a:off x="2499383" y="5647015"/>
              <a:ext cx="3397079" cy="3000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defTabSz="685800"/>
              <a:r>
                <a:rPr lang="de-DE" sz="135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N=239 </a:t>
              </a:r>
              <a:r>
                <a:rPr lang="de-DE" sz="135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young</a:t>
              </a:r>
              <a:r>
                <a:rPr lang="de-DE" sz="135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Western </a:t>
              </a:r>
              <a:r>
                <a:rPr lang="de-DE" sz="1350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adults</a:t>
              </a:r>
              <a:endParaRPr lang="en-GB" sz="135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" name="Grafik 1" descr="Ein Bild, das Text, Screenshot, Schrift, Zahl enthält.&#10;&#10;KI-generierte Inhalte können fehlerhaft sein.">
              <a:extLst>
                <a:ext uri="{FF2B5EF4-FFF2-40B4-BE49-F238E27FC236}">
                  <a16:creationId xmlns:a16="http://schemas.microsoft.com/office/drawing/2014/main" id="{52C0B267-2017-4BE0-13F3-CB1108D7CB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7" t="4240" r="1389" b="6049"/>
            <a:stretch/>
          </p:blipFill>
          <p:spPr bwMode="auto">
            <a:xfrm>
              <a:off x="377771" y="2005909"/>
              <a:ext cx="4432261" cy="3690353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98D0E95D-7EBE-0D6A-A9FD-FDE6A03D20AA}"/>
              </a:ext>
            </a:extLst>
          </p:cNvPr>
          <p:cNvSpPr txBox="1"/>
          <p:nvPr/>
        </p:nvSpPr>
        <p:spPr>
          <a:xfrm>
            <a:off x="1790921" y="5924468"/>
            <a:ext cx="5190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Average use ~ -SR: </a:t>
            </a:r>
          </a:p>
          <a:p>
            <a:r>
              <a:rPr lang="en-US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β = -.12, </a:t>
            </a:r>
            <a:r>
              <a:rPr lang="en-US" sz="1800" b="1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</a:t>
            </a:r>
            <a:r>
              <a:rPr lang="en-US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[218] = -2.31, </a:t>
            </a:r>
            <a:r>
              <a:rPr lang="en-US" sz="1800" b="1" i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</a:t>
            </a:r>
            <a:r>
              <a:rPr lang="en-US" sz="1800" b="1" i="1" baseline="-250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.022</a:t>
            </a:r>
            <a:endParaRPr lang="en-US" b="1" dirty="0">
              <a:solidFill>
                <a:srgbClr val="0070C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DE708A7C-170C-743F-4036-BB1B3CCA4F12}"/>
              </a:ext>
            </a:extLst>
          </p:cNvPr>
          <p:cNvGrpSpPr/>
          <p:nvPr/>
        </p:nvGrpSpPr>
        <p:grpSpPr>
          <a:xfrm>
            <a:off x="426096" y="1151223"/>
            <a:ext cx="5655649" cy="507440"/>
            <a:chOff x="426096" y="1151223"/>
            <a:chExt cx="5655649" cy="507440"/>
          </a:xfrm>
        </p:grpSpPr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F1538739-14A0-E569-1E43-02BDDBE88661}"/>
                </a:ext>
              </a:extLst>
            </p:cNvPr>
            <p:cNvSpPr txBox="1"/>
            <p:nvPr/>
          </p:nvSpPr>
          <p:spPr>
            <a:xfrm>
              <a:off x="1790921" y="1265093"/>
              <a:ext cx="4290824" cy="3000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GB" sz="1350" b="1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DynaMORE</a:t>
              </a:r>
              <a:r>
                <a:rPr lang="en-GB" sz="135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Observational Study (</a:t>
              </a:r>
              <a:r>
                <a:rPr lang="en-GB" sz="1350" b="1" dirty="0" err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DynaM</a:t>
              </a:r>
              <a:r>
                <a:rPr lang="en-GB" sz="135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-OBS)</a:t>
              </a:r>
              <a:endParaRPr lang="de-DE" sz="135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" name="Bild 5" descr="DynaMORE_Logo_RGB.png">
              <a:extLst>
                <a:ext uri="{FF2B5EF4-FFF2-40B4-BE49-F238E27FC236}">
                  <a16:creationId xmlns:a16="http://schemas.microsoft.com/office/drawing/2014/main" id="{F352C9E0-A45F-696D-7D0E-AC6338CEF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096" y="1151223"/>
              <a:ext cx="1268602" cy="507440"/>
            </a:xfrm>
            <a:prstGeom prst="rect">
              <a:avLst/>
            </a:prstGeom>
          </p:spPr>
        </p:pic>
      </p:grpSp>
      <p:sp>
        <p:nvSpPr>
          <p:cNvPr id="41" name="Rechteck 40">
            <a:extLst>
              <a:ext uri="{FF2B5EF4-FFF2-40B4-BE49-F238E27FC236}">
                <a16:creationId xmlns:a16="http://schemas.microsoft.com/office/drawing/2014/main" id="{D07AA2DE-8E33-26D0-9050-642860CF2767}"/>
              </a:ext>
            </a:extLst>
          </p:cNvPr>
          <p:cNvSpPr/>
          <p:nvPr/>
        </p:nvSpPr>
        <p:spPr>
          <a:xfrm>
            <a:off x="5941777" y="2539269"/>
            <a:ext cx="2577273" cy="1052547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719B5CC5-8142-8838-ADC4-DC203DA06AE9}"/>
              </a:ext>
            </a:extLst>
          </p:cNvPr>
          <p:cNvGrpSpPr/>
          <p:nvPr/>
        </p:nvGrpSpPr>
        <p:grpSpPr>
          <a:xfrm>
            <a:off x="5782429" y="1744094"/>
            <a:ext cx="5925148" cy="3189718"/>
            <a:chOff x="5782429" y="1474380"/>
            <a:chExt cx="5925148" cy="3189718"/>
          </a:xfrm>
        </p:grpSpPr>
        <p:graphicFrame>
          <p:nvGraphicFramePr>
            <p:cNvPr id="36" name="Objekt 35">
              <a:extLst>
                <a:ext uri="{FF2B5EF4-FFF2-40B4-BE49-F238E27FC236}">
                  <a16:creationId xmlns:a16="http://schemas.microsoft.com/office/drawing/2014/main" id="{32B2301E-F983-CE8D-0D3D-F76367D653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41777" y="1474380"/>
            <a:ext cx="5765800" cy="2922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4" imgW="5766396" imgH="2922324" progId="Word.Document.12">
                    <p:embed/>
                  </p:oleObj>
                </mc:Choice>
                <mc:Fallback>
                  <p:oleObj name="Document" r:id="rId4" imgW="5766396" imgH="2922324" progId="Word.Document.12">
                    <p:embed/>
                    <p:pic>
                      <p:nvPicPr>
                        <p:cNvPr id="36" name="Objekt 35">
                          <a:extLst>
                            <a:ext uri="{FF2B5EF4-FFF2-40B4-BE49-F238E27FC236}">
                              <a16:creationId xmlns:a16="http://schemas.microsoft.com/office/drawing/2014/main" id="{32B2301E-F983-CE8D-0D3D-F76367D653C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41777" y="1474380"/>
                          <a:ext cx="5765800" cy="29225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4D23AAC2-E265-2D26-6566-58A4A012E53C}"/>
                </a:ext>
              </a:extLst>
            </p:cNvPr>
            <p:cNvCxnSpPr/>
            <p:nvPr/>
          </p:nvCxnSpPr>
          <p:spPr>
            <a:xfrm>
              <a:off x="5782429" y="2585318"/>
              <a:ext cx="0" cy="1138066"/>
            </a:xfrm>
            <a:prstGeom prst="line">
              <a:avLst/>
            </a:prstGeom>
            <a:ln w="66675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5D8D5D07-1DB0-3AB7-7BE8-B084ED31B31E}"/>
                </a:ext>
              </a:extLst>
            </p:cNvPr>
            <p:cNvCxnSpPr>
              <a:cxnSpLocks/>
            </p:cNvCxnSpPr>
            <p:nvPr/>
          </p:nvCxnSpPr>
          <p:spPr>
            <a:xfrm>
              <a:off x="5782429" y="4032570"/>
              <a:ext cx="1100" cy="172130"/>
            </a:xfrm>
            <a:prstGeom prst="line">
              <a:avLst/>
            </a:prstGeom>
            <a:ln w="66675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A298EA39-DABD-880A-3451-C76C7DDC6D6D}"/>
                </a:ext>
              </a:extLst>
            </p:cNvPr>
            <p:cNvSpPr/>
            <p:nvPr/>
          </p:nvSpPr>
          <p:spPr>
            <a:xfrm>
              <a:off x="5896462" y="4157560"/>
              <a:ext cx="2622588" cy="50653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de-DE" u="sng" dirty="0" err="1">
                <a:latin typeface="Arial"/>
                <a:cs typeface="Arial"/>
              </a:endParaRPr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DB2D4454-642A-D7D1-1B54-9D67CBF646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3" r="6897"/>
          <a:stretch>
            <a:fillRect/>
          </a:stretch>
        </p:blipFill>
        <p:spPr>
          <a:xfrm>
            <a:off x="7417558" y="4845599"/>
            <a:ext cx="1173850" cy="145854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5F90203-8D20-9D9B-D1FC-493413896701}"/>
              </a:ext>
            </a:extLst>
          </p:cNvPr>
          <p:cNvSpPr txBox="1"/>
          <p:nvPr/>
        </p:nvSpPr>
        <p:spPr>
          <a:xfrm>
            <a:off x="7332766" y="5973872"/>
            <a:ext cx="1353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de-DE" sz="1400" b="1" dirty="0" err="1">
                <a:solidFill>
                  <a:srgbClr val="FFFFFF"/>
                </a:solidFill>
                <a:latin typeface="Tw Cen MT"/>
              </a:rPr>
              <a:t>MatthiasZerban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83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Resilience </a:t>
            </a:r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to trauma and major life events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1A2B6FE-C37D-4334-91BA-28460178D760}"/>
              </a:ext>
            </a:extLst>
          </p:cNvPr>
          <p:cNvSpPr/>
          <p:nvPr/>
        </p:nvSpPr>
        <p:spPr>
          <a:xfrm>
            <a:off x="2771307" y="3791903"/>
            <a:ext cx="3454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Bonanno et al., </a:t>
            </a:r>
            <a:r>
              <a:rPr kumimoji="0" lang="de-D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Annu</a:t>
            </a: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Rev </a:t>
            </a:r>
            <a:r>
              <a:rPr kumimoji="0" lang="de-D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Clin</a:t>
            </a: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de-D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Psychol</a:t>
            </a: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2011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B30048D-90F5-4443-8A6F-34AA345AC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239" y="1361538"/>
            <a:ext cx="3500489" cy="235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672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Resilience </a:t>
            </a:r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to trauma and major life events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1A2B6FE-C37D-4334-91BA-28460178D760}"/>
              </a:ext>
            </a:extLst>
          </p:cNvPr>
          <p:cNvSpPr/>
          <p:nvPr/>
        </p:nvSpPr>
        <p:spPr>
          <a:xfrm>
            <a:off x="2771307" y="3791903"/>
            <a:ext cx="3454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Bonanno et al., </a:t>
            </a:r>
            <a:r>
              <a:rPr kumimoji="0" lang="de-D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Annu</a:t>
            </a: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Rev </a:t>
            </a:r>
            <a:r>
              <a:rPr kumimoji="0" lang="de-D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Clin</a:t>
            </a: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de-D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Psychol</a:t>
            </a: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2011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B30048D-90F5-4443-8A6F-34AA345AC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239" y="1361538"/>
            <a:ext cx="3500489" cy="2355637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8D808DD-2FE0-4B7F-8B5C-F6B6B35BAEF8}"/>
              </a:ext>
            </a:extLst>
          </p:cNvPr>
          <p:cNvSpPr/>
          <p:nvPr/>
        </p:nvSpPr>
        <p:spPr>
          <a:xfrm>
            <a:off x="934135" y="4392621"/>
            <a:ext cx="756517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de-DE" sz="1400" b="1" dirty="0">
                <a:solidFill>
                  <a:prstClr val="black"/>
                </a:solidFill>
                <a:latin typeface="Arial"/>
                <a:cs typeface="Arial"/>
              </a:rPr>
              <a:t>Low </a:t>
            </a:r>
            <a:r>
              <a:rPr lang="de-DE" sz="1400" b="1" dirty="0" err="1">
                <a:solidFill>
                  <a:prstClr val="black"/>
                </a:solidFill>
                <a:latin typeface="Arial"/>
                <a:cs typeface="Arial"/>
              </a:rPr>
              <a:t>symptoms</a:t>
            </a:r>
            <a:r>
              <a:rPr lang="de-DE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400" b="1" dirty="0" err="1">
                <a:solidFill>
                  <a:prstClr val="black"/>
                </a:solidFill>
                <a:latin typeface="Arial"/>
                <a:cs typeface="Arial"/>
              </a:rPr>
              <a:t>because</a:t>
            </a:r>
            <a:r>
              <a:rPr lang="de-DE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400" b="1" dirty="0" err="1">
                <a:solidFill>
                  <a:prstClr val="black"/>
                </a:solidFill>
                <a:latin typeface="Arial"/>
                <a:cs typeface="Arial"/>
              </a:rPr>
              <a:t>less</a:t>
            </a:r>
            <a:r>
              <a:rPr lang="de-DE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400" b="1" dirty="0" err="1">
                <a:solidFill>
                  <a:prstClr val="black"/>
                </a:solidFill>
                <a:latin typeface="Arial"/>
                <a:cs typeface="Arial"/>
              </a:rPr>
              <a:t>adversity</a:t>
            </a:r>
            <a:r>
              <a:rPr lang="de-DE" sz="14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</a:p>
          <a:p>
            <a:pPr lvl="0">
              <a:defRPr/>
            </a:pPr>
            <a:endParaRPr lang="de-DE" sz="1400" b="1" dirty="0">
              <a:solidFill>
                <a:prstClr val="black"/>
              </a:solidFill>
              <a:latin typeface="Arial"/>
              <a:cs typeface="Arial"/>
            </a:endParaRPr>
          </a:p>
          <a:p>
            <a:pPr lvl="0">
              <a:defRPr/>
            </a:pPr>
            <a:endParaRPr lang="en-GB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098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DB53-FD17-6B9A-EC17-E0499E2E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8274A843-A7C0-DE42-463C-10094736B998}"/>
              </a:ext>
            </a:extLst>
          </p:cNvPr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Resilience </a:t>
            </a:r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to trauma and major life events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0B2D7FFB-662C-FCC3-D2FF-824BB257022A}"/>
              </a:ext>
            </a:extLst>
          </p:cNvPr>
          <p:cNvSpPr/>
          <p:nvPr/>
        </p:nvSpPr>
        <p:spPr>
          <a:xfrm>
            <a:off x="2771307" y="3791903"/>
            <a:ext cx="3454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Bonanno et al., </a:t>
            </a:r>
            <a:r>
              <a:rPr kumimoji="0" lang="de-D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Annu</a:t>
            </a: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Rev </a:t>
            </a:r>
            <a:r>
              <a:rPr kumimoji="0" lang="de-D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Clin</a:t>
            </a: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de-DE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Psychol</a:t>
            </a:r>
            <a:r>
              <a:rPr kumimoji="0" lang="de-DE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2011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B2FEE71-4C53-04A9-8E65-C1FB1E715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239" y="1361538"/>
            <a:ext cx="3500489" cy="2355637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D447FB1B-4775-4960-B1B1-B308EC394E78}"/>
              </a:ext>
            </a:extLst>
          </p:cNvPr>
          <p:cNvSpPr/>
          <p:nvPr/>
        </p:nvSpPr>
        <p:spPr>
          <a:xfrm>
            <a:off x="934135" y="4392621"/>
            <a:ext cx="7565179" cy="1585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de-DE" sz="1400" b="1" dirty="0">
                <a:solidFill>
                  <a:prstClr val="black"/>
                </a:solidFill>
                <a:latin typeface="Arial"/>
                <a:cs typeface="Arial"/>
              </a:rPr>
              <a:t>Low </a:t>
            </a:r>
            <a:r>
              <a:rPr lang="de-DE" sz="1400" b="1" dirty="0" err="1">
                <a:solidFill>
                  <a:prstClr val="black"/>
                </a:solidFill>
                <a:latin typeface="Arial"/>
                <a:cs typeface="Arial"/>
              </a:rPr>
              <a:t>symptoms</a:t>
            </a:r>
            <a:r>
              <a:rPr lang="de-DE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400" b="1" dirty="0" err="1">
                <a:solidFill>
                  <a:prstClr val="black"/>
                </a:solidFill>
                <a:latin typeface="Arial"/>
                <a:cs typeface="Arial"/>
              </a:rPr>
              <a:t>because</a:t>
            </a:r>
            <a:r>
              <a:rPr lang="de-DE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400" b="1" dirty="0" err="1">
                <a:solidFill>
                  <a:prstClr val="black"/>
                </a:solidFill>
                <a:latin typeface="Arial"/>
                <a:cs typeface="Arial"/>
              </a:rPr>
              <a:t>less</a:t>
            </a:r>
            <a:r>
              <a:rPr lang="de-DE" sz="14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400" b="1" dirty="0" err="1">
                <a:solidFill>
                  <a:prstClr val="black"/>
                </a:solidFill>
                <a:latin typeface="Arial"/>
                <a:cs typeface="Arial"/>
              </a:rPr>
              <a:t>adversity</a:t>
            </a:r>
            <a:r>
              <a:rPr lang="de-DE" sz="14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</a:p>
          <a:p>
            <a:pPr lvl="0">
              <a:defRPr/>
            </a:pPr>
            <a:endParaRPr lang="de-DE" sz="1400" b="1" dirty="0">
              <a:solidFill>
                <a:prstClr val="black"/>
              </a:solidFill>
              <a:latin typeface="Arial"/>
              <a:cs typeface="Arial"/>
            </a:endParaRPr>
          </a:p>
          <a:p>
            <a:pPr marL="180975" lvl="0" indent="-180975">
              <a:buFont typeface="Arial" panose="020B0604020202020204" pitchFamily="34" charset="0"/>
              <a:buChar char="•"/>
              <a:defRPr/>
            </a:pP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Major LEs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often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preceded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&amp;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succeeded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by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other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adversities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(e.g., Norris and Uhl, 1993)</a:t>
            </a:r>
          </a:p>
          <a:p>
            <a:pPr marL="180975" lvl="0" indent="-180975">
              <a:buFont typeface="Arial" panose="020B0604020202020204" pitchFamily="34" charset="0"/>
              <a:buChar char="•"/>
              <a:defRPr/>
            </a:pP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High SES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predicts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low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symptoms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(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McGiffin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et al., 2019)</a:t>
            </a:r>
          </a:p>
          <a:p>
            <a:pPr marL="180975" lvl="0" indent="-180975">
              <a:buFont typeface="Arial" panose="020B0604020202020204" pitchFamily="34" charset="0"/>
              <a:buChar char="•"/>
              <a:defRPr/>
            </a:pP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Fewer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unrelated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stressors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pre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- &amp; post-event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predict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low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symptoms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(Feder et al., 2016; Johannesson et al., 2015; Tao et al., 2023)</a:t>
            </a:r>
          </a:p>
          <a:p>
            <a:pPr marL="180975" lvl="0" indent="-180975">
              <a:buFont typeface="Arial" panose="020B0604020202020204" pitchFamily="34" charset="0"/>
              <a:buChar char="•"/>
              <a:defRPr/>
            </a:pP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Correcting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for “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background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“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stressors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abolishes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gender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effects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on </a:t>
            </a:r>
            <a:r>
              <a:rPr lang="de-DE" sz="1100" dirty="0" err="1">
                <a:solidFill>
                  <a:prstClr val="black"/>
                </a:solidFill>
                <a:latin typeface="Arial"/>
                <a:cs typeface="Arial"/>
              </a:rPr>
              <a:t>resilience</a:t>
            </a:r>
            <a:r>
              <a:rPr lang="de-DE" sz="1100" dirty="0">
                <a:solidFill>
                  <a:prstClr val="black"/>
                </a:solidFill>
                <a:latin typeface="Arial"/>
                <a:cs typeface="Arial"/>
              </a:rPr>
              <a:t> (Lowe et al., 2021)</a:t>
            </a:r>
          </a:p>
          <a:p>
            <a:pPr lvl="0">
              <a:defRPr/>
            </a:pPr>
            <a:endParaRPr lang="en-GB"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04C4CA4-A0BA-9681-7AD5-966057A8DCC0}"/>
              </a:ext>
            </a:extLst>
          </p:cNvPr>
          <p:cNvSpPr txBox="1"/>
          <p:nvPr/>
        </p:nvSpPr>
        <p:spPr>
          <a:xfrm>
            <a:off x="6318570" y="6345339"/>
            <a:ext cx="2825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Nat Ment Health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150973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5AE88-0518-3E23-CA46-EDDF7F46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1BC3994F-3C1C-A690-3BEE-1E762065E9E2}"/>
              </a:ext>
            </a:extLst>
          </p:cNvPr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Resilience </a:t>
            </a:r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to trauma and major life events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6623E79-E932-F657-C8F2-C9430875D0DC}"/>
              </a:ext>
            </a:extLst>
          </p:cNvPr>
          <p:cNvSpPr/>
          <p:nvPr/>
        </p:nvSpPr>
        <p:spPr>
          <a:xfrm>
            <a:off x="6513413" y="6362265"/>
            <a:ext cx="235229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prstClr val="black"/>
                </a:solidFill>
                <a:latin typeface="Arial"/>
                <a:cs typeface="Arial"/>
              </a:rPr>
              <a:t>Ahrens et al., </a:t>
            </a:r>
            <a:r>
              <a:rPr lang="de-DE" sz="1200" i="1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lang="de-DE" sz="1200" i="1" dirty="0" err="1">
                <a:solidFill>
                  <a:prstClr val="black"/>
                </a:solidFill>
                <a:latin typeface="Arial"/>
                <a:cs typeface="Arial"/>
              </a:rPr>
              <a:t>Psychol</a:t>
            </a:r>
            <a:r>
              <a:rPr lang="de-DE" sz="12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200" dirty="0">
                <a:solidFill>
                  <a:prstClr val="black"/>
                </a:solidFill>
                <a:latin typeface="Arial"/>
                <a:cs typeface="Arial"/>
              </a:rPr>
              <a:t>2024</a:t>
            </a:r>
            <a:endParaRPr lang="en-GB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CED22ED-81B0-6A77-82D9-45C7985A8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144" y="1420492"/>
            <a:ext cx="6017229" cy="230859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934719DB-1478-369D-B017-E3C998BCB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492" y="4861450"/>
            <a:ext cx="1144966" cy="135090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BF3F0AD-E191-F675-9B20-A6893B2F3518}"/>
              </a:ext>
            </a:extLst>
          </p:cNvPr>
          <p:cNvSpPr txBox="1"/>
          <p:nvPr/>
        </p:nvSpPr>
        <p:spPr>
          <a:xfrm>
            <a:off x="7552021" y="5903173"/>
            <a:ext cx="1081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1400" b="1" dirty="0">
                <a:solidFill>
                  <a:srgbClr val="FFFFFF"/>
                </a:solidFill>
                <a:latin typeface="Tw Cen MT"/>
              </a:rPr>
              <a:t>Kira Ahrens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9F8EDBC-AD65-5107-6E64-8904852F66C1}"/>
              </a:ext>
            </a:extLst>
          </p:cNvPr>
          <p:cNvSpPr/>
          <p:nvPr/>
        </p:nvSpPr>
        <p:spPr>
          <a:xfrm>
            <a:off x="1118331" y="1315683"/>
            <a:ext cx="427597" cy="236823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0F5DAA67-8EE6-78A5-B406-757361296B3A}"/>
              </a:ext>
            </a:extLst>
          </p:cNvPr>
          <p:cNvGrpSpPr/>
          <p:nvPr/>
        </p:nvGrpSpPr>
        <p:grpSpPr>
          <a:xfrm>
            <a:off x="1066566" y="3842011"/>
            <a:ext cx="6395496" cy="2397176"/>
            <a:chOff x="1066566" y="3842011"/>
            <a:chExt cx="6395496" cy="2397176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DAD25229-A212-63A5-7785-FC784C5B3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70324" y="3930598"/>
              <a:ext cx="6091738" cy="2308589"/>
            </a:xfrm>
            <a:prstGeom prst="rect">
              <a:avLst/>
            </a:prstGeom>
          </p:spPr>
        </p:pic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8C65F828-A393-A19F-E8B7-F6D38539BF55}"/>
                </a:ext>
              </a:extLst>
            </p:cNvPr>
            <p:cNvSpPr/>
            <p:nvPr/>
          </p:nvSpPr>
          <p:spPr>
            <a:xfrm>
              <a:off x="1066566" y="3842011"/>
              <a:ext cx="427597" cy="2368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de-DE" u="sng" dirty="0" err="1">
                <a:latin typeface="Arial"/>
                <a:cs typeface="Arial"/>
              </a:endParaRPr>
            </a:p>
          </p:txBody>
        </p:sp>
      </p:grpSp>
      <p:pic>
        <p:nvPicPr>
          <p:cNvPr id="8" name="Grafik 7">
            <a:extLst>
              <a:ext uri="{FF2B5EF4-FFF2-40B4-BE49-F238E27FC236}">
                <a16:creationId xmlns:a16="http://schemas.microsoft.com/office/drawing/2014/main" id="{9406441C-9C57-7B6C-BBED-FF4663C07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470" y="1101540"/>
            <a:ext cx="5931434" cy="533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00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C464E-83F2-D42A-1919-044C3D88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EB7BE84D-1673-A961-0953-E98A726824F4}"/>
              </a:ext>
            </a:extLst>
          </p:cNvPr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Resilience </a:t>
            </a:r>
            <a:r>
              <a:rPr lang="en-GB" sz="2400" b="1" dirty="0">
                <a:solidFill>
                  <a:prstClr val="black"/>
                </a:solidFill>
                <a:latin typeface="Arial"/>
                <a:cs typeface="Arial"/>
              </a:rPr>
              <a:t>to trauma and major life events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088855F-C3B2-F0B9-9D27-2A257E6C4F4B}"/>
              </a:ext>
            </a:extLst>
          </p:cNvPr>
          <p:cNvSpPr/>
          <p:nvPr/>
        </p:nvSpPr>
        <p:spPr>
          <a:xfrm>
            <a:off x="6513413" y="6362265"/>
            <a:ext cx="235229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prstClr val="black"/>
                </a:solidFill>
                <a:latin typeface="Arial"/>
                <a:cs typeface="Arial"/>
              </a:rPr>
              <a:t>Ahrens et al., </a:t>
            </a:r>
            <a:r>
              <a:rPr lang="de-DE" sz="1200" i="1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lang="de-DE" sz="1200" i="1" dirty="0" err="1">
                <a:solidFill>
                  <a:prstClr val="black"/>
                </a:solidFill>
                <a:latin typeface="Arial"/>
                <a:cs typeface="Arial"/>
              </a:rPr>
              <a:t>Psychol</a:t>
            </a:r>
            <a:r>
              <a:rPr lang="de-DE" sz="12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lang="de-DE" sz="1200" dirty="0">
                <a:solidFill>
                  <a:prstClr val="black"/>
                </a:solidFill>
                <a:latin typeface="Arial"/>
                <a:cs typeface="Arial"/>
              </a:rPr>
              <a:t>2024</a:t>
            </a:r>
            <a:endParaRPr lang="en-GB" sz="16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2B6192C-E4CD-2545-0C90-E218979CC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144" y="1420492"/>
            <a:ext cx="6017229" cy="230859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69DAC99-1B67-9A93-55C7-0F6788ACA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492" y="4861450"/>
            <a:ext cx="1144966" cy="135090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522EA810-44CE-3B5B-3908-E5E0CE85AAD5}"/>
              </a:ext>
            </a:extLst>
          </p:cNvPr>
          <p:cNvSpPr txBox="1"/>
          <p:nvPr/>
        </p:nvSpPr>
        <p:spPr>
          <a:xfrm>
            <a:off x="7552021" y="5903173"/>
            <a:ext cx="1081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1400" b="1" dirty="0">
                <a:solidFill>
                  <a:srgbClr val="FFFFFF"/>
                </a:solidFill>
                <a:latin typeface="Tw Cen MT"/>
              </a:rPr>
              <a:t>Kira Ahrens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DFC8C21-2330-1CE8-3D6B-69EEFFB0B901}"/>
              </a:ext>
            </a:extLst>
          </p:cNvPr>
          <p:cNvSpPr/>
          <p:nvPr/>
        </p:nvSpPr>
        <p:spPr>
          <a:xfrm>
            <a:off x="1118331" y="1315683"/>
            <a:ext cx="427597" cy="236823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endParaRPr lang="de-DE" u="sng" dirty="0" err="1">
              <a:latin typeface="Arial"/>
              <a:cs typeface="Arial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29C4EA8C-1FBD-B2FF-52FF-7D2B75EBBEE2}"/>
              </a:ext>
            </a:extLst>
          </p:cNvPr>
          <p:cNvGrpSpPr/>
          <p:nvPr/>
        </p:nvGrpSpPr>
        <p:grpSpPr>
          <a:xfrm>
            <a:off x="1066566" y="3842011"/>
            <a:ext cx="6395496" cy="2397176"/>
            <a:chOff x="1066566" y="3842011"/>
            <a:chExt cx="6395496" cy="2397176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B1EE467C-BC4C-9E20-EBA4-B80B774DC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70324" y="3930598"/>
              <a:ext cx="6091738" cy="2308589"/>
            </a:xfrm>
            <a:prstGeom prst="rect">
              <a:avLst/>
            </a:prstGeom>
          </p:spPr>
        </p:pic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479AC12-E292-C72D-D3E6-AB0F5C4F11F0}"/>
                </a:ext>
              </a:extLst>
            </p:cNvPr>
            <p:cNvSpPr/>
            <p:nvPr/>
          </p:nvSpPr>
          <p:spPr>
            <a:xfrm>
              <a:off x="1066566" y="3842011"/>
              <a:ext cx="427597" cy="2368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endParaRPr lang="de-DE" u="sng" dirty="0" err="1">
                <a:latin typeface="Arial"/>
                <a:cs typeface="Arial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2A8C8E64-EFFF-172C-7F17-79336595CA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470" y="1101540"/>
            <a:ext cx="5931434" cy="533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6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049CEC4-9C46-4F62-A4CA-6D2D012230C5}"/>
              </a:ext>
            </a:extLst>
          </p:cNvPr>
          <p:cNvSpPr/>
          <p:nvPr/>
        </p:nvSpPr>
        <p:spPr>
          <a:xfrm>
            <a:off x="970260" y="1883096"/>
            <a:ext cx="7408498" cy="18774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1: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unpredictability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2: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heterogeneity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3: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individuality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Problem 4: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subjectivity</a:t>
            </a:r>
            <a:r>
              <a:rPr lang="de-DE" b="1" dirty="0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FF0000"/>
                </a:solidFill>
                <a:latin typeface="Arial"/>
                <a:cs typeface="Arial"/>
                <a:sym typeface="Wingdings"/>
              </a:rPr>
              <a:t>stressors</a:t>
            </a:r>
            <a:endParaRPr lang="de-DE" b="1" dirty="0">
              <a:solidFill>
                <a:srgbClr val="FF0000"/>
              </a:solidFill>
              <a:latin typeface="Arial"/>
              <a:cs typeface="Arial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5255100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049CEC4-9C46-4F62-A4CA-6D2D012230C5}"/>
              </a:ext>
            </a:extLst>
          </p:cNvPr>
          <p:cNvSpPr/>
          <p:nvPr/>
        </p:nvSpPr>
        <p:spPr>
          <a:xfrm>
            <a:off x="970259" y="1883096"/>
            <a:ext cx="7791119" cy="13747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Solution 1: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take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an at-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risk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population</a:t>
            </a:r>
            <a:endParaRPr lang="de-DE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Solution 2: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frequently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monitor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stressors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and mental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health</a:t>
            </a:r>
            <a:endParaRPr lang="de-DE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Solution 3: express mental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health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as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a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function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of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stressor</a:t>
            </a:r>
            <a:r>
              <a:rPr lang="de-DE" b="1" dirty="0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B050"/>
                </a:solidFill>
                <a:latin typeface="Arial"/>
                <a:cs typeface="Arial"/>
                <a:sym typeface="Wingdings"/>
              </a:rPr>
              <a:t>exposure</a:t>
            </a:r>
            <a:endParaRPr lang="de-DE" b="1" dirty="0">
              <a:solidFill>
                <a:srgbClr val="00B050"/>
              </a:solidFill>
              <a:latin typeface="Arial"/>
              <a:cs typeface="Arial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7731917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30124" y="357235"/>
            <a:ext cx="883751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049CEC4-9C46-4F62-A4CA-6D2D012230C5}"/>
              </a:ext>
            </a:extLst>
          </p:cNvPr>
          <p:cNvSpPr/>
          <p:nvPr/>
        </p:nvSpPr>
        <p:spPr>
          <a:xfrm>
            <a:off x="970259" y="1883096"/>
            <a:ext cx="7791119" cy="18774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Possibility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1: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identify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factors</a:t>
            </a:r>
            <a:endParaRPr lang="de-DE" b="1" dirty="0">
              <a:solidFill>
                <a:srgbClr val="0070C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sz="800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  </a:t>
            </a:r>
          </a:p>
          <a:p>
            <a:pPr>
              <a:spcAft>
                <a:spcPts val="400"/>
              </a:spcAft>
            </a:pP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Possibility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2: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identify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processes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(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short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- and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long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-term)</a:t>
            </a:r>
          </a:p>
          <a:p>
            <a:pPr>
              <a:spcAft>
                <a:spcPts val="400"/>
              </a:spcAft>
            </a:pPr>
            <a:r>
              <a:rPr lang="de-DE" sz="800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</a:p>
          <a:p>
            <a:pPr>
              <a:spcAft>
                <a:spcPts val="400"/>
              </a:spcAft>
            </a:pP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Possibility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3: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quantify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intervention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effects</a:t>
            </a:r>
            <a:endParaRPr lang="de-DE" b="1" dirty="0">
              <a:solidFill>
                <a:srgbClr val="0070C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endParaRPr lang="de-DE" sz="800" b="1" dirty="0">
              <a:solidFill>
                <a:srgbClr val="0070C0"/>
              </a:solidFill>
              <a:latin typeface="Arial"/>
              <a:cs typeface="Arial"/>
              <a:sym typeface="Wingdings"/>
            </a:endParaRPr>
          </a:p>
          <a:p>
            <a:pPr>
              <a:spcAft>
                <a:spcPts val="400"/>
              </a:spcAft>
            </a:pP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Possibility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4: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quantify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resilience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to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trauma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or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life</a:t>
            </a:r>
            <a:r>
              <a:rPr lang="de-DE" b="1" dirty="0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de-DE" b="1" dirty="0" err="1">
                <a:solidFill>
                  <a:srgbClr val="0070C0"/>
                </a:solidFill>
                <a:latin typeface="Arial"/>
                <a:cs typeface="Arial"/>
                <a:sym typeface="Wingdings"/>
              </a:rPr>
              <a:t>events</a:t>
            </a:r>
            <a:endParaRPr lang="de-DE" b="1" dirty="0">
              <a:solidFill>
                <a:srgbClr val="0070C0"/>
              </a:solidFill>
              <a:latin typeface="Arial"/>
              <a:cs typeface="Arial"/>
              <a:sym typeface="Wingdings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94008D7-AA32-9027-5889-076F81B9181C}"/>
              </a:ext>
            </a:extLst>
          </p:cNvPr>
          <p:cNvSpPr txBox="1"/>
          <p:nvPr/>
        </p:nvSpPr>
        <p:spPr>
          <a:xfrm>
            <a:off x="1453998" y="4547730"/>
            <a:ext cx="6236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and </a:t>
            </a:r>
            <a:r>
              <a:rPr lang="de-DE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DE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extensively</a:t>
            </a:r>
            <a:r>
              <a:rPr lang="de-DE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DE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possible … </a:t>
            </a:r>
          </a:p>
          <a:p>
            <a:r>
              <a:rPr lang="de-DE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monitor the </a:t>
            </a:r>
            <a:r>
              <a:rPr lang="de-DE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stressors</a:t>
            </a:r>
            <a:r>
              <a:rPr lang="de-DE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!!!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5E17AE8-B0E5-12DE-BCA2-D49F3BEB2684}"/>
              </a:ext>
            </a:extLst>
          </p:cNvPr>
          <p:cNvSpPr txBox="1"/>
          <p:nvPr/>
        </p:nvSpPr>
        <p:spPr>
          <a:xfrm>
            <a:off x="6034708" y="6277464"/>
            <a:ext cx="290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Front </a:t>
            </a:r>
            <a:r>
              <a:rPr lang="de-DE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Psychol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Kalisch et al., </a:t>
            </a:r>
            <a:r>
              <a:rPr lang="de-DE" sz="1200" i="1" dirty="0">
                <a:latin typeface="Arial" panose="020B0604020202020204" pitchFamily="34" charset="0"/>
                <a:cs typeface="Arial" panose="020B0604020202020204" pitchFamily="34" charset="0"/>
              </a:rPr>
              <a:t>Nat Ment Health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331923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>
            <a:extLst>
              <a:ext uri="{FF2B5EF4-FFF2-40B4-BE49-F238E27FC236}">
                <a16:creationId xmlns:a16="http://schemas.microsoft.com/office/drawing/2014/main" id="{FA82037A-0D46-62BC-5159-4F680F3CD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54" y="1649897"/>
            <a:ext cx="5332695" cy="50757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63538" indent="-363538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820738" indent="-363538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indent="0">
              <a:spcAft>
                <a:spcPts val="450"/>
              </a:spcAft>
              <a:buClr>
                <a:srgbClr val="009CCA"/>
              </a:buClr>
              <a:buNone/>
            </a:pPr>
            <a:r>
              <a:rPr lang="en-US" altLang="en-US" sz="1350" kern="0" dirty="0">
                <a:solidFill>
                  <a:srgbClr val="009DCC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Non-exhaustive list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Notebaert et al., 2026;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10.1016/j.brat.2026.105150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Riske et al., 2026;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10.1007/s00702-026-03218-9 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Petri-Romão et al., 2025;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10.1038/s41467-025-65147-7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Ruf et al., 2025;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10.1037/amp0001423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Ahrens et al., 2024; doi:10.1037/amp0001315.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van der Heide et al., 2024;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10(1):81.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10.1038/s41531-024-00692-4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Cornwell et al., 2024;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0.1093/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scan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/nsae006 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Zerban et al., 2023;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10.3389/fpsyg.2023.1272199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Bögemann et al., 2023;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10:e46518.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10.2196/46518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González-García et al., 2023;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10.1017/S0954579423000901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Cahill et al., 2023;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10.1017/S0954579423001165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Cornwell et al., 2022;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10.1017/S0954579423000718 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Cahill et al., 2022;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10.1186/s13034-022-00449-y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Neumann et al., 2022;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10.1007/s00406-021-01338-9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Veer et al., 2021;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10.1038/s41398-020-01150-4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Van Harmelen et al., 2021;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0.1007/s42844-020-00027-1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Sawyers et al., 2020;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10.1002/da.23005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Van Harmelen et al., 2017;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10.1017/S0033291717000836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Amstadter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 et al., 2016;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10.1007/s00127-015-1163-6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Amstadter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 et al., 2014;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10.1192/bjp.bp.113.130906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Sapouna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 and Wolke, 2013;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0.1016/j.chiabu.2013.05.009 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Miller-Lewis et al., 2013;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 10.1186/1753-2000-7-6 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Bowes et al., 2010;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10.1111/j.1469-7610.2010.02216.x 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Boardman et al., 2008;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10.1375/twin.11.1.12</a:t>
            </a:r>
          </a:p>
          <a:p>
            <a:pPr>
              <a:spcBef>
                <a:spcPts val="0"/>
              </a:spcBef>
              <a:spcAft>
                <a:spcPts val="75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Kim-Cohen et al., 2004; </a:t>
            </a:r>
            <a:r>
              <a:rPr lang="de-DE" sz="900" dirty="0" err="1">
                <a:solidFill>
                  <a:srgbClr val="004662"/>
                </a:solidFill>
                <a:latin typeface="Roboto Light" panose="02000000000000000000"/>
              </a:rPr>
              <a:t>doi</a:t>
            </a:r>
            <a:r>
              <a:rPr lang="de-DE" sz="900" dirty="0">
                <a:solidFill>
                  <a:srgbClr val="004662"/>
                </a:solidFill>
                <a:latin typeface="Roboto Light" panose="02000000000000000000"/>
              </a:rPr>
              <a:t>: 10.1111/j.1467-8624.2004.00699.x</a:t>
            </a:r>
          </a:p>
          <a:p>
            <a:pPr>
              <a:spcAft>
                <a:spcPts val="450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endParaRPr lang="de-DE" sz="825" dirty="0"/>
          </a:p>
          <a:p>
            <a:pPr>
              <a:spcAft>
                <a:spcPts val="450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endParaRPr lang="de-DE" sz="825" dirty="0"/>
          </a:p>
          <a:p>
            <a:pPr>
              <a:spcAft>
                <a:spcPts val="450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endParaRPr lang="de-DE" sz="825" dirty="0"/>
          </a:p>
          <a:p>
            <a:pPr>
              <a:spcAft>
                <a:spcPts val="450"/>
              </a:spcAft>
              <a:buClr>
                <a:srgbClr val="009CCA"/>
              </a:buClr>
              <a:buFont typeface="Wingdings 2" panose="05020102010507070707" pitchFamily="18" charset="2"/>
              <a:buChar char=""/>
            </a:pPr>
            <a:endParaRPr lang="en-US" altLang="en-US" sz="1500" kern="0" dirty="0">
              <a:solidFill>
                <a:srgbClr val="009DCC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5679506-F530-3DF3-D4D8-21DAA4C1C79D}"/>
              </a:ext>
            </a:extLst>
          </p:cNvPr>
          <p:cNvSpPr/>
          <p:nvPr/>
        </p:nvSpPr>
        <p:spPr>
          <a:xfrm>
            <a:off x="130124" y="357235"/>
            <a:ext cx="883751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hangingPunct="0"/>
            <a:r>
              <a:rPr lang="en-GB" sz="2400" b="1" dirty="0">
                <a:latin typeface="Arial"/>
                <a:cs typeface="Arial"/>
              </a:rPr>
              <a:t>Resilience – outcome-based operationalization</a:t>
            </a:r>
          </a:p>
          <a:p>
            <a:pPr hangingPunct="0"/>
            <a:r>
              <a:rPr lang="en-US" sz="1800" kern="0" spc="119" dirty="0">
                <a:latin typeface="Arial" panose="020B0604020202020204" pitchFamily="34" charset="0"/>
                <a:ea typeface="Roboto Slab Medium" pitchFamily="2" charset="0"/>
                <a:cs typeface="Arial" panose="020B0604020202020204" pitchFamily="34" charset="0"/>
              </a:rPr>
              <a:t>Studies using a residual-based operationalization of outcom</a:t>
            </a:r>
            <a:r>
              <a:rPr lang="en-US" sz="1800" kern="0" dirty="0">
                <a:latin typeface="Arial" panose="020B0604020202020204" pitchFamily="34" charset="0"/>
                <a:ea typeface="Roboto Slab Medium" pitchFamily="2" charset="0"/>
                <a:cs typeface="Arial" panose="020B0604020202020204" pitchFamily="34" charset="0"/>
              </a:rPr>
              <a:t>e resilience</a:t>
            </a:r>
            <a:endParaRPr lang="en-US" sz="1800" kern="0" spc="119" dirty="0">
              <a:latin typeface="Arial" panose="020B0604020202020204" pitchFamily="34" charset="0"/>
              <a:ea typeface="Roboto Slab Medium" pitchFamily="2" charset="0"/>
              <a:cs typeface="Arial" panose="020B0604020202020204" pitchFamily="34" charset="0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  <a:p>
            <a:pPr hangingPunct="0"/>
            <a:endParaRPr lang="en-GB" dirty="0">
              <a:latin typeface="Arial"/>
              <a:cs typeface="Arial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3EDB42C-9227-09BE-E5FC-ED5253782ADB}"/>
              </a:ext>
            </a:extLst>
          </p:cNvPr>
          <p:cNvSpPr txBox="1"/>
          <p:nvPr/>
        </p:nvSpPr>
        <p:spPr>
          <a:xfrm>
            <a:off x="6255117" y="2409185"/>
            <a:ext cx="2038641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1200" u="sng" dirty="0">
                <a:solidFill>
                  <a:srgbClr val="004662"/>
                </a:solidFill>
                <a:latin typeface="Roboto Slab Medium"/>
              </a:rPr>
              <a:t>Alternative </a:t>
            </a:r>
            <a:r>
              <a:rPr lang="de-DE" sz="1200" u="sng" dirty="0" err="1">
                <a:solidFill>
                  <a:srgbClr val="004662"/>
                </a:solidFill>
                <a:latin typeface="Roboto Slab Medium"/>
              </a:rPr>
              <a:t>terms</a:t>
            </a:r>
            <a:r>
              <a:rPr lang="de-DE" sz="1200" u="sng" dirty="0">
                <a:solidFill>
                  <a:srgbClr val="004662"/>
                </a:solidFill>
                <a:latin typeface="Roboto Slab Medium"/>
              </a:rPr>
              <a:t> (inverse residual):</a:t>
            </a:r>
          </a:p>
          <a:p>
            <a:r>
              <a:rPr lang="de-DE" sz="1200" b="1" dirty="0">
                <a:solidFill>
                  <a:srgbClr val="004662"/>
                </a:solidFill>
                <a:latin typeface="Roboto Slab Medium"/>
              </a:rPr>
              <a:t>‘resilient </a:t>
            </a:r>
            <a:r>
              <a:rPr lang="de-DE" sz="1200" b="1" dirty="0" err="1">
                <a:solidFill>
                  <a:srgbClr val="004662"/>
                </a:solidFill>
                <a:latin typeface="Roboto Slab Medium"/>
              </a:rPr>
              <a:t>functioning</a:t>
            </a:r>
            <a:r>
              <a:rPr lang="de-DE" sz="1200" b="1" dirty="0">
                <a:solidFill>
                  <a:srgbClr val="004662"/>
                </a:solidFill>
                <a:latin typeface="Roboto Slab Medium"/>
              </a:rPr>
              <a:t>‘</a:t>
            </a:r>
          </a:p>
          <a:p>
            <a:r>
              <a:rPr lang="de-DE" sz="1000" dirty="0">
                <a:solidFill>
                  <a:srgbClr val="004662"/>
                </a:solidFill>
                <a:latin typeface="Roboto Slab Medium"/>
              </a:rPr>
              <a:t>(van Harmelen et al., </a:t>
            </a:r>
            <a:r>
              <a:rPr lang="de-DE" sz="1000" dirty="0" err="1">
                <a:solidFill>
                  <a:srgbClr val="004662"/>
                </a:solidFill>
                <a:latin typeface="Roboto Slab Medium"/>
              </a:rPr>
              <a:t>Psychol</a:t>
            </a:r>
            <a:r>
              <a:rPr lang="de-DE" sz="1000" dirty="0">
                <a:solidFill>
                  <a:srgbClr val="004662"/>
                </a:solidFill>
                <a:latin typeface="Roboto Slab Medium"/>
              </a:rPr>
              <a:t> Med 2017)</a:t>
            </a:r>
          </a:p>
          <a:p>
            <a:r>
              <a:rPr lang="de-DE" sz="1200" b="1" dirty="0">
                <a:solidFill>
                  <a:srgbClr val="004662"/>
                </a:solidFill>
                <a:latin typeface="Roboto Slab Medium"/>
              </a:rPr>
              <a:t>‘</a:t>
            </a:r>
            <a:r>
              <a:rPr lang="de-DE" sz="1200" b="1" dirty="0" err="1">
                <a:solidFill>
                  <a:srgbClr val="004662"/>
                </a:solidFill>
                <a:latin typeface="Roboto Slab Medium"/>
              </a:rPr>
              <a:t>discrepancy-based</a:t>
            </a:r>
            <a:r>
              <a:rPr lang="de-DE" sz="1200" b="1" dirty="0">
                <a:solidFill>
                  <a:srgbClr val="004662"/>
                </a:solidFill>
                <a:latin typeface="Roboto Slab Medium"/>
              </a:rPr>
              <a:t> </a:t>
            </a:r>
            <a:r>
              <a:rPr lang="de-DE" sz="1200" b="1" dirty="0" err="1">
                <a:solidFill>
                  <a:srgbClr val="004662"/>
                </a:solidFill>
                <a:latin typeface="Roboto Slab Medium"/>
              </a:rPr>
              <a:t>psychiatric</a:t>
            </a:r>
            <a:r>
              <a:rPr lang="de-DE" sz="1200" b="1" dirty="0">
                <a:solidFill>
                  <a:srgbClr val="004662"/>
                </a:solidFill>
                <a:latin typeface="Roboto Slab Medium"/>
              </a:rPr>
              <a:t> </a:t>
            </a:r>
            <a:r>
              <a:rPr lang="de-DE" sz="1200" b="1" dirty="0" err="1">
                <a:solidFill>
                  <a:srgbClr val="004662"/>
                </a:solidFill>
                <a:latin typeface="Roboto Slab Medium"/>
              </a:rPr>
              <a:t>resilience</a:t>
            </a:r>
            <a:r>
              <a:rPr lang="de-DE" sz="1200" b="1" dirty="0">
                <a:solidFill>
                  <a:srgbClr val="004662"/>
                </a:solidFill>
                <a:latin typeface="Roboto Slab Medium"/>
              </a:rPr>
              <a:t>‘</a:t>
            </a:r>
          </a:p>
          <a:p>
            <a:r>
              <a:rPr lang="de-DE" sz="1000" dirty="0">
                <a:solidFill>
                  <a:srgbClr val="004662"/>
                </a:solidFill>
                <a:latin typeface="Roboto Slab Medium"/>
              </a:rPr>
              <a:t>(Sawyers et al., </a:t>
            </a:r>
            <a:r>
              <a:rPr lang="de-DE" sz="1000" dirty="0" err="1">
                <a:solidFill>
                  <a:srgbClr val="004662"/>
                </a:solidFill>
                <a:latin typeface="Roboto Slab Medium"/>
              </a:rPr>
              <a:t>Depr</a:t>
            </a:r>
            <a:r>
              <a:rPr lang="de-DE" sz="1000" dirty="0">
                <a:solidFill>
                  <a:srgbClr val="004662"/>
                </a:solidFill>
                <a:latin typeface="Roboto Slab Medium"/>
              </a:rPr>
              <a:t> </a:t>
            </a:r>
            <a:r>
              <a:rPr lang="de-DE" sz="1000" dirty="0" err="1">
                <a:solidFill>
                  <a:srgbClr val="004662"/>
                </a:solidFill>
                <a:latin typeface="Roboto Slab Medium"/>
              </a:rPr>
              <a:t>Anx</a:t>
            </a:r>
            <a:r>
              <a:rPr lang="de-DE" sz="1000" dirty="0">
                <a:solidFill>
                  <a:srgbClr val="004662"/>
                </a:solidFill>
                <a:latin typeface="Roboto Slab Medium"/>
              </a:rPr>
              <a:t> 2020)</a:t>
            </a:r>
          </a:p>
        </p:txBody>
      </p:sp>
    </p:spTree>
    <p:extLst>
      <p:ext uri="{BB962C8B-B14F-4D97-AF65-F5344CB8AC3E}">
        <p14:creationId xmlns:p14="http://schemas.microsoft.com/office/powerpoint/2010/main" val="380671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>
        <a:spAutoFit/>
      </a:bodyPr>
      <a:lstStyle>
        <a:defPPr>
          <a:spcAft>
            <a:spcPts val="600"/>
          </a:spcAft>
          <a:defRPr u="sng" dirty="0" err="1" smtClean="0">
            <a:latin typeface="Arial"/>
            <a:cs typeface="Arial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0180307_DynaMORE_PowerPoint-Master">
  <a:themeElements>
    <a:clrScheme name="DynaMORE 1">
      <a:dk1>
        <a:srgbClr val="1B2867"/>
      </a:dk1>
      <a:lt1>
        <a:srgbClr val="FFFFFF"/>
      </a:lt1>
      <a:dk2>
        <a:srgbClr val="00B6DF"/>
      </a:dk2>
      <a:lt2>
        <a:srgbClr val="FFFFFF"/>
      </a:lt2>
      <a:accent1>
        <a:srgbClr val="00B7E0"/>
      </a:accent1>
      <a:accent2>
        <a:srgbClr val="FFDB00"/>
      </a:accent2>
      <a:accent3>
        <a:srgbClr val="1B2867"/>
      </a:accent3>
      <a:accent4>
        <a:srgbClr val="00B7E0"/>
      </a:accent4>
      <a:accent5>
        <a:srgbClr val="77B328"/>
      </a:accent5>
      <a:accent6>
        <a:srgbClr val="FF2828"/>
      </a:accent6>
      <a:hlink>
        <a:srgbClr val="1B2867"/>
      </a:hlink>
      <a:folHlink>
        <a:srgbClr val="00B7E0"/>
      </a:folHlink>
    </a:clrScheme>
    <a:fontScheme name="Galathea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Galathea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̈sentation3" id="{8E7E47BB-B438-EF4A-9DAC-CEAE8E32B514}" vid="{10D8A732-3189-A245-A262-5E2F2A99FE82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4657</Words>
  <Application>Microsoft Office PowerPoint</Application>
  <PresentationFormat>Bildschirmpräsentation (4:3)</PresentationFormat>
  <Paragraphs>849</Paragraphs>
  <Slides>58</Slides>
  <Notes>36</Notes>
  <HiddenSlides>1</HiddenSlides>
  <MMClips>0</MMClips>
  <ScaleCrop>false</ScaleCrop>
  <HeadingPairs>
    <vt:vector size="8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58</vt:i4>
      </vt:variant>
    </vt:vector>
  </HeadingPairs>
  <TitlesOfParts>
    <vt:vector size="72" baseType="lpstr">
      <vt:lpstr>Arial</vt:lpstr>
      <vt:lpstr>Calibri</vt:lpstr>
      <vt:lpstr>Courier New</vt:lpstr>
      <vt:lpstr>Lucida Grande</vt:lpstr>
      <vt:lpstr>Roboto Light</vt:lpstr>
      <vt:lpstr>Roboto Medium</vt:lpstr>
      <vt:lpstr>Roboto Slab Medium</vt:lpstr>
      <vt:lpstr>Symbol</vt:lpstr>
      <vt:lpstr>Tw Cen MT</vt:lpstr>
      <vt:lpstr>Wingdings</vt:lpstr>
      <vt:lpstr>Wingdings 2</vt:lpstr>
      <vt:lpstr>Office-Design</vt:lpstr>
      <vt:lpstr>20180307_DynaMORE_PowerPoint-Master</vt:lpstr>
      <vt:lpstr>Document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University Medical Center Hamburg-Eppendorf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Raffael Kalisch</dc:creator>
  <cp:lastModifiedBy>Raffael Kalisch</cp:lastModifiedBy>
  <cp:revision>586</cp:revision>
  <dcterms:created xsi:type="dcterms:W3CDTF">2014-02-24T08:11:37Z</dcterms:created>
  <dcterms:modified xsi:type="dcterms:W3CDTF">2026-09-22T15:19:10Z</dcterms:modified>
</cp:coreProperties>
</file>